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4"/>
    <p:sldMasterId id="2147483862" r:id="rId5"/>
  </p:sldMasterIdLst>
  <p:notesMasterIdLst>
    <p:notesMasterId r:id="rId32"/>
  </p:notesMasterIdLst>
  <p:handoutMasterIdLst>
    <p:handoutMasterId r:id="rId33"/>
  </p:handoutMasterIdLst>
  <p:sldIdLst>
    <p:sldId id="351" r:id="rId6"/>
    <p:sldId id="452" r:id="rId7"/>
    <p:sldId id="453" r:id="rId8"/>
    <p:sldId id="454" r:id="rId9"/>
    <p:sldId id="455" r:id="rId10"/>
    <p:sldId id="456" r:id="rId11"/>
    <p:sldId id="445" r:id="rId12"/>
    <p:sldId id="444" r:id="rId13"/>
    <p:sldId id="446" r:id="rId14"/>
    <p:sldId id="447" r:id="rId15"/>
    <p:sldId id="448" r:id="rId16"/>
    <p:sldId id="449" r:id="rId17"/>
    <p:sldId id="437" r:id="rId18"/>
    <p:sldId id="438" r:id="rId19"/>
    <p:sldId id="432" r:id="rId20"/>
    <p:sldId id="433" r:id="rId21"/>
    <p:sldId id="450" r:id="rId22"/>
    <p:sldId id="434" r:id="rId23"/>
    <p:sldId id="435" r:id="rId24"/>
    <p:sldId id="436" r:id="rId25"/>
    <p:sldId id="451" r:id="rId26"/>
    <p:sldId id="273" r:id="rId27"/>
    <p:sldId id="275" r:id="rId28"/>
    <p:sldId id="458" r:id="rId29"/>
    <p:sldId id="459" r:id="rId30"/>
    <p:sldId id="2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A3F611-8651-4B97-A4CA-C836794DBDAF}">
          <p14:sldIdLst>
            <p14:sldId id="351"/>
            <p14:sldId id="452"/>
            <p14:sldId id="453"/>
            <p14:sldId id="454"/>
            <p14:sldId id="455"/>
            <p14:sldId id="456"/>
            <p14:sldId id="445"/>
            <p14:sldId id="444"/>
            <p14:sldId id="446"/>
            <p14:sldId id="447"/>
            <p14:sldId id="448"/>
            <p14:sldId id="449"/>
            <p14:sldId id="437"/>
            <p14:sldId id="438"/>
            <p14:sldId id="432"/>
            <p14:sldId id="433"/>
            <p14:sldId id="450"/>
            <p14:sldId id="434"/>
            <p14:sldId id="435"/>
            <p14:sldId id="436"/>
            <p14:sldId id="451"/>
          </p14:sldIdLst>
        </p14:section>
        <p14:section name="Recap, OTJ, next week" id="{F1DFB630-43D7-47A1-9140-377E7F4BD2ED}">
          <p14:sldIdLst>
            <p14:sldId id="273"/>
            <p14:sldId id="275"/>
            <p14:sldId id="458"/>
            <p14:sldId id="459"/>
            <p14:sldId id="28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E165C8-0511-C2A3-707E-3BB6D8759BCE}" name="Sally Sam" initials="SS" userId="S::s.sam@learn-tech.com::9967b577-c1cf-4fdf-8c77-46a50f97a2f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FFFF00"/>
    <a:srgbClr val="7F7F7F"/>
    <a:srgbClr val="FCCA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09D744-E66D-45C8-9F27-218F647DC38A}" v="9" dt="2026-01-29T10:39:01.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396" autoAdjust="0"/>
  </p:normalViewPr>
  <p:slideViewPr>
    <p:cSldViewPr snapToGrid="0">
      <p:cViewPr varScale="1">
        <p:scale>
          <a:sx n="47" d="100"/>
          <a:sy n="47" d="100"/>
        </p:scale>
        <p:origin x="1008" y="4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na Thomas" userId="d204b9c7-e8b5-4a67-887f-b8d0b5ea9480" providerId="ADAL" clId="{1D9F5611-84BA-4C42-94F5-CA489C817A3A}"/>
    <pc:docChg chg="undo custSel addSld delSld modSld modSection">
      <pc:chgData name="Georgina Thomas" userId="d204b9c7-e8b5-4a67-887f-b8d0b5ea9480" providerId="ADAL" clId="{1D9F5611-84BA-4C42-94F5-CA489C817A3A}" dt="2026-01-29T13:42:28.924" v="250" actId="368"/>
      <pc:docMkLst>
        <pc:docMk/>
      </pc:docMkLst>
      <pc:sldChg chg="modSp mod">
        <pc:chgData name="Georgina Thomas" userId="d204b9c7-e8b5-4a67-887f-b8d0b5ea9480" providerId="ADAL" clId="{1D9F5611-84BA-4C42-94F5-CA489C817A3A}" dt="2026-01-22T11:43:47.650" v="35" actId="20577"/>
        <pc:sldMkLst>
          <pc:docMk/>
          <pc:sldMk cId="1759904695" sldId="351"/>
        </pc:sldMkLst>
        <pc:spChg chg="mod">
          <ac:chgData name="Georgina Thomas" userId="d204b9c7-e8b5-4a67-887f-b8d0b5ea9480" providerId="ADAL" clId="{1D9F5611-84BA-4C42-94F5-CA489C817A3A}" dt="2026-01-22T11:43:38.219" v="14" actId="20577"/>
          <ac:spMkLst>
            <pc:docMk/>
            <pc:sldMk cId="1759904695" sldId="351"/>
            <ac:spMk id="9" creationId="{266A776D-AF90-C5F9-7AB0-3EF3F9B3B19A}"/>
          </ac:spMkLst>
        </pc:spChg>
        <pc:spChg chg="mod">
          <ac:chgData name="Georgina Thomas" userId="d204b9c7-e8b5-4a67-887f-b8d0b5ea9480" providerId="ADAL" clId="{1D9F5611-84BA-4C42-94F5-CA489C817A3A}" dt="2026-01-22T11:43:47.650" v="35" actId="20577"/>
          <ac:spMkLst>
            <pc:docMk/>
            <pc:sldMk cId="1759904695" sldId="351"/>
            <ac:spMk id="10" creationId="{F00027BC-17BE-C7AA-3EF1-DD88E6017A37}"/>
          </ac:spMkLst>
        </pc:spChg>
      </pc:sldChg>
      <pc:sldChg chg="modNotes">
        <pc:chgData name="Georgina Thomas" userId="d204b9c7-e8b5-4a67-887f-b8d0b5ea9480" providerId="ADAL" clId="{1D9F5611-84BA-4C42-94F5-CA489C817A3A}" dt="2026-01-29T13:42:28.882" v="242" actId="368"/>
        <pc:sldMkLst>
          <pc:docMk/>
          <pc:sldMk cId="306306814" sldId="433"/>
        </pc:sldMkLst>
      </pc:sldChg>
      <pc:sldChg chg="modNotes">
        <pc:chgData name="Georgina Thomas" userId="d204b9c7-e8b5-4a67-887f-b8d0b5ea9480" providerId="ADAL" clId="{1D9F5611-84BA-4C42-94F5-CA489C817A3A}" dt="2026-01-29T13:42:28.901" v="246" actId="368"/>
        <pc:sldMkLst>
          <pc:docMk/>
          <pc:sldMk cId="827278209" sldId="435"/>
        </pc:sldMkLst>
      </pc:sldChg>
      <pc:sldChg chg="modNotes">
        <pc:chgData name="Georgina Thomas" userId="d204b9c7-e8b5-4a67-887f-b8d0b5ea9480" providerId="ADAL" clId="{1D9F5611-84BA-4C42-94F5-CA489C817A3A}" dt="2026-01-29T13:42:28.912" v="248" actId="368"/>
        <pc:sldMkLst>
          <pc:docMk/>
          <pc:sldMk cId="920859382" sldId="436"/>
        </pc:sldMkLst>
      </pc:sldChg>
      <pc:sldChg chg="modSp mod">
        <pc:chgData name="Georgina Thomas" userId="d204b9c7-e8b5-4a67-887f-b8d0b5ea9480" providerId="ADAL" clId="{1D9F5611-84BA-4C42-94F5-CA489C817A3A}" dt="2026-01-29T10:29:24.853" v="51" actId="20577"/>
        <pc:sldMkLst>
          <pc:docMk/>
          <pc:sldMk cId="2441080013" sldId="437"/>
        </pc:sldMkLst>
        <pc:spChg chg="mod">
          <ac:chgData name="Georgina Thomas" userId="d204b9c7-e8b5-4a67-887f-b8d0b5ea9480" providerId="ADAL" clId="{1D9F5611-84BA-4C42-94F5-CA489C817A3A}" dt="2026-01-29T10:29:24.853" v="51" actId="20577"/>
          <ac:spMkLst>
            <pc:docMk/>
            <pc:sldMk cId="2441080013" sldId="437"/>
            <ac:spMk id="2" creationId="{03D54494-56E5-0320-ECC3-875839DC750A}"/>
          </ac:spMkLst>
        </pc:spChg>
      </pc:sldChg>
      <pc:sldChg chg="modNotes">
        <pc:chgData name="Georgina Thomas" userId="d204b9c7-e8b5-4a67-887f-b8d0b5ea9480" providerId="ADAL" clId="{1D9F5611-84BA-4C42-94F5-CA489C817A3A}" dt="2026-01-29T13:42:28.872" v="240" actId="368"/>
        <pc:sldMkLst>
          <pc:docMk/>
          <pc:sldMk cId="3951490343" sldId="438"/>
        </pc:sldMkLst>
      </pc:sldChg>
      <pc:sldChg chg="add del">
        <pc:chgData name="Georgina Thomas" userId="d204b9c7-e8b5-4a67-887f-b8d0b5ea9480" providerId="ADAL" clId="{1D9F5611-84BA-4C42-94F5-CA489C817A3A}" dt="2026-01-29T10:38:55.774" v="62" actId="47"/>
        <pc:sldMkLst>
          <pc:docMk/>
          <pc:sldMk cId="3610383240" sldId="439"/>
        </pc:sldMkLst>
      </pc:sldChg>
      <pc:sldChg chg="add del">
        <pc:chgData name="Georgina Thomas" userId="d204b9c7-e8b5-4a67-887f-b8d0b5ea9480" providerId="ADAL" clId="{1D9F5611-84BA-4C42-94F5-CA489C817A3A}" dt="2026-01-29T10:38:56.720" v="63" actId="47"/>
        <pc:sldMkLst>
          <pc:docMk/>
          <pc:sldMk cId="2698006984" sldId="440"/>
        </pc:sldMkLst>
      </pc:sldChg>
      <pc:sldChg chg="add del">
        <pc:chgData name="Georgina Thomas" userId="d204b9c7-e8b5-4a67-887f-b8d0b5ea9480" providerId="ADAL" clId="{1D9F5611-84BA-4C42-94F5-CA489C817A3A}" dt="2026-01-29T10:38:57.217" v="64" actId="47"/>
        <pc:sldMkLst>
          <pc:docMk/>
          <pc:sldMk cId="4293840121" sldId="441"/>
        </pc:sldMkLst>
      </pc:sldChg>
      <pc:sldChg chg="add del">
        <pc:chgData name="Georgina Thomas" userId="d204b9c7-e8b5-4a67-887f-b8d0b5ea9480" providerId="ADAL" clId="{1D9F5611-84BA-4C42-94F5-CA489C817A3A}" dt="2026-01-29T10:38:57.557" v="65" actId="47"/>
        <pc:sldMkLst>
          <pc:docMk/>
          <pc:sldMk cId="2610657220" sldId="442"/>
        </pc:sldMkLst>
      </pc:sldChg>
      <pc:sldChg chg="add del">
        <pc:chgData name="Georgina Thomas" userId="d204b9c7-e8b5-4a67-887f-b8d0b5ea9480" providerId="ADAL" clId="{1D9F5611-84BA-4C42-94F5-CA489C817A3A}" dt="2026-01-29T10:38:58.301" v="66" actId="47"/>
        <pc:sldMkLst>
          <pc:docMk/>
          <pc:sldMk cId="1163390186" sldId="443"/>
        </pc:sldMkLst>
      </pc:sldChg>
      <pc:sldChg chg="modNotes">
        <pc:chgData name="Georgina Thomas" userId="d204b9c7-e8b5-4a67-887f-b8d0b5ea9480" providerId="ADAL" clId="{1D9F5611-84BA-4C42-94F5-CA489C817A3A}" dt="2026-01-29T13:42:28.892" v="244" actId="368"/>
        <pc:sldMkLst>
          <pc:docMk/>
          <pc:sldMk cId="2482312763" sldId="450"/>
        </pc:sldMkLst>
      </pc:sldChg>
      <pc:sldChg chg="modNotes">
        <pc:chgData name="Georgina Thomas" userId="d204b9c7-e8b5-4a67-887f-b8d0b5ea9480" providerId="ADAL" clId="{1D9F5611-84BA-4C42-94F5-CA489C817A3A}" dt="2026-01-29T13:42:28.924" v="250" actId="368"/>
        <pc:sldMkLst>
          <pc:docMk/>
          <pc:sldMk cId="2866485442" sldId="451"/>
        </pc:sldMkLst>
      </pc:sldChg>
      <pc:sldChg chg="del">
        <pc:chgData name="Georgina Thomas" userId="d204b9c7-e8b5-4a67-887f-b8d0b5ea9480" providerId="ADAL" clId="{1D9F5611-84BA-4C42-94F5-CA489C817A3A}" dt="2026-01-29T09:43:24.898" v="36" actId="2696"/>
        <pc:sldMkLst>
          <pc:docMk/>
          <pc:sldMk cId="3267371716" sldId="457"/>
        </pc:sldMkLst>
      </pc:sldChg>
      <pc:sldChg chg="modSp mod">
        <pc:chgData name="Georgina Thomas" userId="d204b9c7-e8b5-4a67-887f-b8d0b5ea9480" providerId="ADAL" clId="{1D9F5611-84BA-4C42-94F5-CA489C817A3A}" dt="2026-01-29T13:30:49.019" v="238" actId="20577"/>
        <pc:sldMkLst>
          <pc:docMk/>
          <pc:sldMk cId="721836418" sldId="458"/>
        </pc:sldMkLst>
        <pc:spChg chg="mod">
          <ac:chgData name="Georgina Thomas" userId="d204b9c7-e8b5-4a67-887f-b8d0b5ea9480" providerId="ADAL" clId="{1D9F5611-84BA-4C42-94F5-CA489C817A3A}" dt="2026-01-29T13:30:49.019" v="238" actId="20577"/>
          <ac:spMkLst>
            <pc:docMk/>
            <pc:sldMk cId="721836418" sldId="458"/>
            <ac:spMk id="11" creationId="{2C015F95-A982-F0CF-4F36-3909E1F2F3A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CF136E-D657-81B7-D057-7C440D1DE2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ED79F7B-67B1-F9AC-71DA-010B949AEF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FA1E70-0AA0-4879-A8CC-123590B5651D}" type="datetimeFigureOut">
              <a:rPr lang="en-US" smtClean="0"/>
              <a:t>1/29/2026</a:t>
            </a:fld>
            <a:endParaRPr lang="en-US"/>
          </a:p>
        </p:txBody>
      </p:sp>
      <p:sp>
        <p:nvSpPr>
          <p:cNvPr id="4" name="Footer Placeholder 3">
            <a:extLst>
              <a:ext uri="{FF2B5EF4-FFF2-40B4-BE49-F238E27FC236}">
                <a16:creationId xmlns:a16="http://schemas.microsoft.com/office/drawing/2014/main" id="{4E3D9D27-22CE-E312-F1FB-31EAF6D013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1401653-4F6C-89DA-4F86-BA714F4CA5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565495-6718-4404-A396-AB1E65EC6AF8}" type="slidenum">
              <a:rPr lang="en-US" smtClean="0"/>
              <a:t>‹#›</a:t>
            </a:fld>
            <a:endParaRPr lang="en-US"/>
          </a:p>
        </p:txBody>
      </p:sp>
    </p:spTree>
    <p:extLst>
      <p:ext uri="{BB962C8B-B14F-4D97-AF65-F5344CB8AC3E}">
        <p14:creationId xmlns:p14="http://schemas.microsoft.com/office/powerpoint/2010/main" val="14741687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594A43-B6C5-44A6-9B31-870D4312C583}" type="datetimeFigureOut">
              <a:rPr lang="en-GB" smtClean="0"/>
              <a:t>29/01/2026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42C82-B38F-4633-ABD3-369A44C1CA8B}" type="slidenum">
              <a:rPr lang="en-GB" smtClean="0"/>
              <a:t>‹#›</a:t>
            </a:fld>
            <a:endParaRPr lang="en-GB"/>
          </a:p>
        </p:txBody>
      </p:sp>
    </p:spTree>
    <p:extLst>
      <p:ext uri="{BB962C8B-B14F-4D97-AF65-F5344CB8AC3E}">
        <p14:creationId xmlns:p14="http://schemas.microsoft.com/office/powerpoint/2010/main" val="36703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14</a:t>
            </a:fld>
            <a:endParaRPr lang="en-GB"/>
          </a:p>
        </p:txBody>
      </p:sp>
    </p:spTree>
    <p:extLst>
      <p:ext uri="{BB962C8B-B14F-4D97-AF65-F5344CB8AC3E}">
        <p14:creationId xmlns:p14="http://schemas.microsoft.com/office/powerpoint/2010/main" val="1550258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16</a:t>
            </a:fld>
            <a:endParaRPr lang="en-GB"/>
          </a:p>
        </p:txBody>
      </p:sp>
    </p:spTree>
    <p:extLst>
      <p:ext uri="{BB962C8B-B14F-4D97-AF65-F5344CB8AC3E}">
        <p14:creationId xmlns:p14="http://schemas.microsoft.com/office/powerpoint/2010/main" val="3406491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17</a:t>
            </a:fld>
            <a:endParaRPr lang="en-GB"/>
          </a:p>
        </p:txBody>
      </p:sp>
    </p:spTree>
    <p:extLst>
      <p:ext uri="{BB962C8B-B14F-4D97-AF65-F5344CB8AC3E}">
        <p14:creationId xmlns:p14="http://schemas.microsoft.com/office/powerpoint/2010/main" val="228324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19</a:t>
            </a:fld>
            <a:endParaRPr lang="en-GB"/>
          </a:p>
        </p:txBody>
      </p:sp>
    </p:spTree>
    <p:extLst>
      <p:ext uri="{BB962C8B-B14F-4D97-AF65-F5344CB8AC3E}">
        <p14:creationId xmlns:p14="http://schemas.microsoft.com/office/powerpoint/2010/main" val="4207279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20</a:t>
            </a:fld>
            <a:endParaRPr lang="en-GB"/>
          </a:p>
        </p:txBody>
      </p:sp>
    </p:spTree>
    <p:extLst>
      <p:ext uri="{BB962C8B-B14F-4D97-AF65-F5344CB8AC3E}">
        <p14:creationId xmlns:p14="http://schemas.microsoft.com/office/powerpoint/2010/main" val="2681853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21</a:t>
            </a:fld>
            <a:endParaRPr lang="en-GB"/>
          </a:p>
        </p:txBody>
      </p:sp>
    </p:spTree>
    <p:extLst>
      <p:ext uri="{BB962C8B-B14F-4D97-AF65-F5344CB8AC3E}">
        <p14:creationId xmlns:p14="http://schemas.microsoft.com/office/powerpoint/2010/main" val="26723072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93E0A350-4266-A582-6920-5C96BF5223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38749" y="716003"/>
            <a:ext cx="7653251" cy="6149623"/>
          </a:xfrm>
          <a:prstGeom prst="rect">
            <a:avLst/>
          </a:prstGeom>
        </p:spPr>
      </p:pic>
      <p:sp>
        <p:nvSpPr>
          <p:cNvPr id="2" name="Title 1">
            <a:extLst>
              <a:ext uri="{FF2B5EF4-FFF2-40B4-BE49-F238E27FC236}">
                <a16:creationId xmlns:a16="http://schemas.microsoft.com/office/drawing/2014/main" id="{28032C5A-F51C-CBCF-6548-CB3F56DF1C26}"/>
              </a:ext>
            </a:extLst>
          </p:cNvPr>
          <p:cNvSpPr>
            <a:spLocks noGrp="1"/>
          </p:cNvSpPr>
          <p:nvPr>
            <p:ph type="ctrTitle"/>
          </p:nvPr>
        </p:nvSpPr>
        <p:spPr>
          <a:xfrm>
            <a:off x="242587" y="300942"/>
            <a:ext cx="9144000" cy="1513330"/>
          </a:xfrm>
        </p:spPr>
        <p:txBody>
          <a:bodyPr anchor="b"/>
          <a:lstStyle>
            <a:lvl1pPr algn="l">
              <a:defRPr sz="6000" b="1">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87F1F307-627B-BC4D-CA13-D474A64153C9}"/>
              </a:ext>
            </a:extLst>
          </p:cNvPr>
          <p:cNvSpPr>
            <a:spLocks noGrp="1"/>
          </p:cNvSpPr>
          <p:nvPr>
            <p:ph type="subTitle" idx="1"/>
          </p:nvPr>
        </p:nvSpPr>
        <p:spPr>
          <a:xfrm>
            <a:off x="242587" y="1814272"/>
            <a:ext cx="9144000" cy="662710"/>
          </a:xfrm>
        </p:spPr>
        <p:txBody>
          <a:bodyPr>
            <a:noAutofit/>
          </a:bodyPr>
          <a:lstStyle>
            <a:lvl1pPr marL="0" indent="0" algn="l">
              <a:buNone/>
              <a:defRPr sz="4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6D74298-BC2B-4A63-C754-90CF95F53D5D}"/>
              </a:ext>
            </a:extLst>
          </p:cNvPr>
          <p:cNvSpPr>
            <a:spLocks noGrp="1"/>
          </p:cNvSpPr>
          <p:nvPr>
            <p:ph type="dt" sz="half" idx="10"/>
          </p:nvPr>
        </p:nvSpPr>
        <p:spPr/>
        <p:txBody>
          <a:bodyPr/>
          <a:lstStyle>
            <a:lvl1pPr>
              <a:defRPr>
                <a:solidFill>
                  <a:schemeClr val="tx1"/>
                </a:solidFill>
              </a:defRPr>
            </a:lvl1pPr>
          </a:lstStyle>
          <a:p>
            <a:fld id="{CB29FFA8-3186-4C0E-9F77-F9BCEAB768E7}" type="datetime1">
              <a:rPr lang="en-GB" smtClean="0"/>
              <a:t>29/01/2026</a:t>
            </a:fld>
            <a:endParaRPr lang="en-GB"/>
          </a:p>
        </p:txBody>
      </p:sp>
      <p:sp>
        <p:nvSpPr>
          <p:cNvPr id="5" name="Footer Placeholder 4">
            <a:extLst>
              <a:ext uri="{FF2B5EF4-FFF2-40B4-BE49-F238E27FC236}">
                <a16:creationId xmlns:a16="http://schemas.microsoft.com/office/drawing/2014/main" id="{1EEA0D40-36A9-9796-44E6-FE2E012C399E}"/>
              </a:ext>
            </a:extLst>
          </p:cNvPr>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a:extLst>
              <a:ext uri="{FF2B5EF4-FFF2-40B4-BE49-F238E27FC236}">
                <a16:creationId xmlns:a16="http://schemas.microsoft.com/office/drawing/2014/main" id="{0075C5CF-CD0E-984C-F84E-6DCB75E08BEF}"/>
              </a:ext>
            </a:extLst>
          </p:cNvPr>
          <p:cNvSpPr>
            <a:spLocks noGrp="1"/>
          </p:cNvSpPr>
          <p:nvPr>
            <p:ph type="sldNum" sz="quarter" idx="12"/>
          </p:nvPr>
        </p:nvSpPr>
        <p:spPr/>
        <p:txBody>
          <a:bodyPr/>
          <a:lstStyle>
            <a:lvl1pPr>
              <a:defRPr>
                <a:solidFill>
                  <a:schemeClr val="tx1"/>
                </a:solidFill>
              </a:defRPr>
            </a:lvl1pPr>
          </a:lstStyle>
          <a:p>
            <a:fld id="{F74D7E6C-9B20-4593-B18C-8D2C7BEEFCA2}" type="slidenum">
              <a:rPr lang="en-GB" smtClean="0"/>
              <a:pPr/>
              <a:t>‹#›</a:t>
            </a:fld>
            <a:endParaRPr lang="en-GB"/>
          </a:p>
        </p:txBody>
      </p:sp>
      <p:pic>
        <p:nvPicPr>
          <p:cNvPr id="8" name="Picture 7" descr="A picture containing text, clipart&#10;&#10;Description automatically generated">
            <a:extLst>
              <a:ext uri="{FF2B5EF4-FFF2-40B4-BE49-F238E27FC236}">
                <a16:creationId xmlns:a16="http://schemas.microsoft.com/office/drawing/2014/main" id="{0EFCD07B-960A-26DA-7B21-1F6DB4CA6A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
        <p:nvSpPr>
          <p:cNvPr id="14" name="Text Placeholder 13">
            <a:extLst>
              <a:ext uri="{FF2B5EF4-FFF2-40B4-BE49-F238E27FC236}">
                <a16:creationId xmlns:a16="http://schemas.microsoft.com/office/drawing/2014/main" id="{16A5BC0E-3BB4-7653-DCF5-D67C5983AA0A}"/>
              </a:ext>
            </a:extLst>
          </p:cNvPr>
          <p:cNvSpPr>
            <a:spLocks noGrp="1"/>
          </p:cNvSpPr>
          <p:nvPr>
            <p:ph type="body" sz="quarter" idx="13" hasCustomPrompt="1"/>
          </p:nvPr>
        </p:nvSpPr>
        <p:spPr>
          <a:xfrm>
            <a:off x="1782502" y="3269325"/>
            <a:ext cx="7534878" cy="365125"/>
          </a:xfrm>
        </p:spPr>
        <p:txBody>
          <a:bodyPr wrap="square" anchor="ctr">
            <a:noAutofit/>
          </a:bodyPr>
          <a:lstStyle>
            <a:lvl1pPr marL="0" indent="0">
              <a:buNone/>
              <a:defRPr sz="2000">
                <a:solidFill>
                  <a:schemeClr val="bg1"/>
                </a:solidFill>
              </a:defRPr>
            </a:lvl1pPr>
            <a:lvl2pPr marL="457200" indent="0">
              <a:buNone/>
              <a:defRPr/>
            </a:lvl2pPr>
          </a:lstStyle>
          <a:p>
            <a:pPr lvl="0"/>
            <a:r>
              <a:rPr lang="en-GB"/>
              <a:t>Insert name of program</a:t>
            </a:r>
          </a:p>
        </p:txBody>
      </p:sp>
      <p:sp>
        <p:nvSpPr>
          <p:cNvPr id="17" name="Rectangle 16">
            <a:extLst>
              <a:ext uri="{FF2B5EF4-FFF2-40B4-BE49-F238E27FC236}">
                <a16:creationId xmlns:a16="http://schemas.microsoft.com/office/drawing/2014/main" id="{B7EB51FB-38DD-5F87-252E-078DE3D46908}"/>
              </a:ext>
            </a:extLst>
          </p:cNvPr>
          <p:cNvSpPr/>
          <p:nvPr/>
        </p:nvSpPr>
        <p:spPr>
          <a:xfrm>
            <a:off x="0" y="3270029"/>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Programme:</a:t>
            </a:r>
          </a:p>
        </p:txBody>
      </p:sp>
      <p:sp>
        <p:nvSpPr>
          <p:cNvPr id="21" name="Rectangle 20">
            <a:extLst>
              <a:ext uri="{FF2B5EF4-FFF2-40B4-BE49-F238E27FC236}">
                <a16:creationId xmlns:a16="http://schemas.microsoft.com/office/drawing/2014/main" id="{F04C0CEA-DE58-C6B3-9B2E-8CE71EA304CA}"/>
              </a:ext>
            </a:extLst>
          </p:cNvPr>
          <p:cNvSpPr/>
          <p:nvPr/>
        </p:nvSpPr>
        <p:spPr>
          <a:xfrm>
            <a:off x="0" y="4707775"/>
            <a:ext cx="1782502" cy="248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800" b="1">
                <a:solidFill>
                  <a:schemeClr val="bg1"/>
                </a:solidFill>
              </a:rPr>
              <a:t>Email:</a:t>
            </a:r>
          </a:p>
        </p:txBody>
      </p:sp>
      <p:sp>
        <p:nvSpPr>
          <p:cNvPr id="31" name="Rectangle 30">
            <a:extLst>
              <a:ext uri="{FF2B5EF4-FFF2-40B4-BE49-F238E27FC236}">
                <a16:creationId xmlns:a16="http://schemas.microsoft.com/office/drawing/2014/main" id="{05559DE5-06EE-DB80-A45E-181EFC9DE390}"/>
              </a:ext>
            </a:extLst>
          </p:cNvPr>
          <p:cNvSpPr/>
          <p:nvPr/>
        </p:nvSpPr>
        <p:spPr>
          <a:xfrm>
            <a:off x="0" y="3736505"/>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Unit:</a:t>
            </a:r>
          </a:p>
        </p:txBody>
      </p:sp>
      <p:sp>
        <p:nvSpPr>
          <p:cNvPr id="32" name="Rectangle 31">
            <a:extLst>
              <a:ext uri="{FF2B5EF4-FFF2-40B4-BE49-F238E27FC236}">
                <a16:creationId xmlns:a16="http://schemas.microsoft.com/office/drawing/2014/main" id="{E22F305A-C893-369D-A6CB-7A88300DFD88}"/>
              </a:ext>
            </a:extLst>
          </p:cNvPr>
          <p:cNvSpPr/>
          <p:nvPr/>
        </p:nvSpPr>
        <p:spPr>
          <a:xfrm>
            <a:off x="0" y="4201781"/>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Trainer:</a:t>
            </a:r>
          </a:p>
        </p:txBody>
      </p:sp>
      <p:sp>
        <p:nvSpPr>
          <p:cNvPr id="35" name="Text Placeholder 13">
            <a:extLst>
              <a:ext uri="{FF2B5EF4-FFF2-40B4-BE49-F238E27FC236}">
                <a16:creationId xmlns:a16="http://schemas.microsoft.com/office/drawing/2014/main" id="{9EF9BD93-126A-A9E4-9C66-BD0088ED7126}"/>
              </a:ext>
            </a:extLst>
          </p:cNvPr>
          <p:cNvSpPr>
            <a:spLocks noGrp="1"/>
          </p:cNvSpPr>
          <p:nvPr>
            <p:ph type="body" sz="quarter" idx="14" hasCustomPrompt="1"/>
          </p:nvPr>
        </p:nvSpPr>
        <p:spPr>
          <a:xfrm>
            <a:off x="1782502" y="3715056"/>
            <a:ext cx="7534878" cy="365125"/>
          </a:xfrm>
        </p:spPr>
        <p:txBody>
          <a:bodyPr anchor="ctr">
            <a:noAutofit/>
          </a:bodyPr>
          <a:lstStyle>
            <a:lvl1pPr marL="0" indent="0">
              <a:buNone/>
              <a:defRPr sz="2000">
                <a:solidFill>
                  <a:schemeClr val="bg1"/>
                </a:solidFill>
              </a:defRPr>
            </a:lvl1pPr>
            <a:lvl2pPr marL="457200" indent="0">
              <a:buNone/>
              <a:defRPr/>
            </a:lvl2pPr>
          </a:lstStyle>
          <a:p>
            <a:pPr lvl="0"/>
            <a:r>
              <a:rPr lang="en-GB"/>
              <a:t>Insert name of Unit</a:t>
            </a:r>
          </a:p>
        </p:txBody>
      </p:sp>
      <p:sp>
        <p:nvSpPr>
          <p:cNvPr id="36" name="Text Placeholder 13">
            <a:extLst>
              <a:ext uri="{FF2B5EF4-FFF2-40B4-BE49-F238E27FC236}">
                <a16:creationId xmlns:a16="http://schemas.microsoft.com/office/drawing/2014/main" id="{D9ACFA5F-2C2D-14E8-07FD-6DE9BDDAFF76}"/>
              </a:ext>
            </a:extLst>
          </p:cNvPr>
          <p:cNvSpPr>
            <a:spLocks noGrp="1"/>
          </p:cNvSpPr>
          <p:nvPr>
            <p:ph type="body" sz="quarter" idx="15" hasCustomPrompt="1"/>
          </p:nvPr>
        </p:nvSpPr>
        <p:spPr>
          <a:xfrm>
            <a:off x="1770927" y="4180331"/>
            <a:ext cx="7534878" cy="365125"/>
          </a:xfrm>
        </p:spPr>
        <p:txBody>
          <a:bodyPr anchor="ctr">
            <a:noAutofit/>
          </a:bodyPr>
          <a:lstStyle>
            <a:lvl1pPr marL="0" indent="0">
              <a:buNone/>
              <a:defRPr sz="2000">
                <a:solidFill>
                  <a:schemeClr val="bg1"/>
                </a:solidFill>
              </a:defRPr>
            </a:lvl1pPr>
            <a:lvl2pPr marL="457200" indent="0">
              <a:buNone/>
              <a:defRPr/>
            </a:lvl2pPr>
          </a:lstStyle>
          <a:p>
            <a:pPr lvl="0"/>
            <a:r>
              <a:rPr lang="en-GB"/>
              <a:t>Insert name of trainer</a:t>
            </a:r>
          </a:p>
        </p:txBody>
      </p:sp>
      <p:sp>
        <p:nvSpPr>
          <p:cNvPr id="38" name="Text Placeholder 13">
            <a:extLst>
              <a:ext uri="{FF2B5EF4-FFF2-40B4-BE49-F238E27FC236}">
                <a16:creationId xmlns:a16="http://schemas.microsoft.com/office/drawing/2014/main" id="{4FD5ACC9-C36F-2099-6576-7C1B0F64E717}"/>
              </a:ext>
            </a:extLst>
          </p:cNvPr>
          <p:cNvSpPr>
            <a:spLocks noGrp="1"/>
          </p:cNvSpPr>
          <p:nvPr>
            <p:ph type="body" sz="quarter" idx="17" hasCustomPrompt="1"/>
          </p:nvPr>
        </p:nvSpPr>
        <p:spPr>
          <a:xfrm>
            <a:off x="1782502" y="4637813"/>
            <a:ext cx="7534878" cy="365125"/>
          </a:xfrm>
        </p:spPr>
        <p:txBody>
          <a:bodyPr anchor="ctr">
            <a:noAutofit/>
          </a:bodyPr>
          <a:lstStyle>
            <a:lvl1pPr marL="0" indent="0">
              <a:buNone/>
              <a:defRPr sz="1800">
                <a:solidFill>
                  <a:schemeClr val="bg1"/>
                </a:solidFill>
              </a:defRPr>
            </a:lvl1pPr>
            <a:lvl2pPr marL="457200" indent="0">
              <a:buNone/>
              <a:defRPr/>
            </a:lvl2pPr>
          </a:lstStyle>
          <a:p>
            <a:pPr lvl="0"/>
            <a:r>
              <a:rPr lang="en-GB"/>
              <a:t>Insert name of trainer</a:t>
            </a:r>
          </a:p>
        </p:txBody>
      </p:sp>
      <p:sp>
        <p:nvSpPr>
          <p:cNvPr id="10" name="Rectangle 9">
            <a:extLst>
              <a:ext uri="{FF2B5EF4-FFF2-40B4-BE49-F238E27FC236}">
                <a16:creationId xmlns:a16="http://schemas.microsoft.com/office/drawing/2014/main" id="{B8010667-3CDC-D674-C526-EA69AFF2F818}"/>
              </a:ext>
            </a:extLst>
          </p:cNvPr>
          <p:cNvSpPr/>
          <p:nvPr userDrawn="1"/>
        </p:nvSpPr>
        <p:spPr>
          <a:xfrm>
            <a:off x="242587" y="5496225"/>
            <a:ext cx="6817970" cy="638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GB" sz="2400" b="1">
                <a:solidFill>
                  <a:schemeClr val="bg1"/>
                </a:solidFill>
              </a:rPr>
              <a:t>Safeguarding named lead: Lucy Brighton</a:t>
            </a:r>
          </a:p>
          <a:p>
            <a:pPr>
              <a:lnSpc>
                <a:spcPct val="120000"/>
              </a:lnSpc>
            </a:pPr>
            <a:r>
              <a:rPr lang="en-GB" sz="2400" b="1">
                <a:solidFill>
                  <a:schemeClr val="bg1"/>
                </a:solidFill>
              </a:rPr>
              <a:t>Safeguarding phone number: 0333 014 0270</a:t>
            </a:r>
            <a:endParaRPr lang="en-GB" sz="2400">
              <a:solidFill>
                <a:schemeClr val="bg1"/>
              </a:solidFill>
            </a:endParaRPr>
          </a:p>
        </p:txBody>
      </p:sp>
    </p:spTree>
    <p:extLst>
      <p:ext uri="{BB962C8B-B14F-4D97-AF65-F5344CB8AC3E}">
        <p14:creationId xmlns:p14="http://schemas.microsoft.com/office/powerpoint/2010/main" val="81937798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29/01/2026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3881546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a:xfrm>
            <a:off x="323850" y="1485900"/>
            <a:ext cx="11245849" cy="4870450"/>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29/01/2026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64017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1" y="1493042"/>
            <a:ext cx="558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217332" y="1484416"/>
            <a:ext cx="558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29/01/2026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404280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1" y="1493042"/>
            <a:ext cx="3600000"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4325575" y="1493042"/>
            <a:ext cx="3600000"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29/01/2026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Content Placeholder 3">
            <a:extLst>
              <a:ext uri="{FF2B5EF4-FFF2-40B4-BE49-F238E27FC236}">
                <a16:creationId xmlns:a16="http://schemas.microsoft.com/office/drawing/2014/main" id="{FD68426C-E7FD-DA9F-F756-11A81499FAD6}"/>
              </a:ext>
            </a:extLst>
          </p:cNvPr>
          <p:cNvSpPr>
            <a:spLocks noGrp="1"/>
          </p:cNvSpPr>
          <p:nvPr>
            <p:ph sz="half" idx="13"/>
          </p:nvPr>
        </p:nvSpPr>
        <p:spPr>
          <a:xfrm>
            <a:off x="8270149" y="1493042"/>
            <a:ext cx="3600000"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25335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ingle Question">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9C96DCA-F21B-4262-AF7D-C0A9AA51A343}" type="datetime1">
              <a:rPr lang="en-GB" smtClean="0"/>
              <a:t>29/01/2026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6" name="Graphic 5">
            <a:extLst>
              <a:ext uri="{FF2B5EF4-FFF2-40B4-BE49-F238E27FC236}">
                <a16:creationId xmlns:a16="http://schemas.microsoft.com/office/drawing/2014/main" id="{439BA84F-729C-82EC-2A58-1D3190AD2A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3077" y="1082625"/>
            <a:ext cx="6349721" cy="5775375"/>
          </a:xfrm>
          <a:prstGeom prst="rect">
            <a:avLst/>
          </a:prstGeom>
        </p:spPr>
      </p:pic>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0" y="1280160"/>
            <a:ext cx="10857479" cy="1762298"/>
          </a:xfrm>
        </p:spPr>
        <p:txBody>
          <a:bodyPr>
            <a:normAutofit/>
          </a:bodyPr>
          <a:lstStyle>
            <a:lvl1pPr marL="0" indent="0" algn="l">
              <a:buNone/>
              <a:defRPr sz="6600" b="1"/>
            </a:lvl1pPr>
          </a:lstStyle>
          <a:p>
            <a:pPr lvl="0"/>
            <a:r>
              <a:rPr lang="en-GB"/>
              <a:t>Insert your question here</a:t>
            </a:r>
          </a:p>
        </p:txBody>
      </p:sp>
      <p:sp>
        <p:nvSpPr>
          <p:cNvPr id="10" name="Text Placeholder 9">
            <a:extLst>
              <a:ext uri="{FF2B5EF4-FFF2-40B4-BE49-F238E27FC236}">
                <a16:creationId xmlns:a16="http://schemas.microsoft.com/office/drawing/2014/main" id="{2E40453F-B3F6-3134-F92A-D18CCA53BE29}"/>
              </a:ext>
            </a:extLst>
          </p:cNvPr>
          <p:cNvSpPr>
            <a:spLocks noGrp="1"/>
          </p:cNvSpPr>
          <p:nvPr>
            <p:ph type="body" sz="quarter" idx="14" hasCustomPrompt="1"/>
          </p:nvPr>
        </p:nvSpPr>
        <p:spPr>
          <a:xfrm>
            <a:off x="661988" y="3406775"/>
            <a:ext cx="9388138" cy="1834825"/>
          </a:xfrm>
        </p:spPr>
        <p:txBody>
          <a:bodyPr>
            <a:normAutofit/>
          </a:bodyPr>
          <a:lstStyle>
            <a:lvl1pPr marL="0" indent="0" algn="l">
              <a:buNone/>
              <a:defRPr sz="4000"/>
            </a:lvl1pPr>
          </a:lstStyle>
          <a:p>
            <a:pPr lvl="0"/>
            <a:r>
              <a:rPr lang="en-GB"/>
              <a:t>Insert (optional) answer here</a:t>
            </a:r>
          </a:p>
        </p:txBody>
      </p:sp>
      <p:sp>
        <p:nvSpPr>
          <p:cNvPr id="11" name="Rectangle 10">
            <a:extLst>
              <a:ext uri="{FF2B5EF4-FFF2-40B4-BE49-F238E27FC236}">
                <a16:creationId xmlns:a16="http://schemas.microsoft.com/office/drawing/2014/main" id="{0D109AA8-7BF1-F6F9-1EAD-F1E71B99A970}"/>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Question:</a:t>
            </a:r>
          </a:p>
        </p:txBody>
      </p:sp>
      <p:pic>
        <p:nvPicPr>
          <p:cNvPr id="5" name="Graphic 4">
            <a:extLst>
              <a:ext uri="{FF2B5EF4-FFF2-40B4-BE49-F238E27FC236}">
                <a16:creationId xmlns:a16="http://schemas.microsoft.com/office/drawing/2014/main" id="{7D358821-B7C8-E1A4-CBD0-28E313CEE14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9731" y="6264067"/>
            <a:ext cx="672269" cy="593932"/>
          </a:xfrm>
          <a:prstGeom prst="rect">
            <a:avLst/>
          </a:prstGeom>
        </p:spPr>
      </p:pic>
      <p:pic>
        <p:nvPicPr>
          <p:cNvPr id="7" name="Graphic 6">
            <a:extLst>
              <a:ext uri="{FF2B5EF4-FFF2-40B4-BE49-F238E27FC236}">
                <a16:creationId xmlns:a16="http://schemas.microsoft.com/office/drawing/2014/main" id="{8605F5D3-9E49-AAF0-A083-D9F506548D7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93077" y="1082625"/>
            <a:ext cx="6349721" cy="5775375"/>
          </a:xfrm>
          <a:prstGeom prst="rect">
            <a:avLst/>
          </a:prstGeom>
        </p:spPr>
      </p:pic>
      <p:sp>
        <p:nvSpPr>
          <p:cNvPr id="9" name="Rectangle 8">
            <a:extLst>
              <a:ext uri="{FF2B5EF4-FFF2-40B4-BE49-F238E27FC236}">
                <a16:creationId xmlns:a16="http://schemas.microsoft.com/office/drawing/2014/main" id="{D3E317F5-63E5-EB03-3994-8939746830F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Question:</a:t>
            </a:r>
          </a:p>
        </p:txBody>
      </p:sp>
    </p:spTree>
    <p:extLst>
      <p:ext uri="{BB962C8B-B14F-4D97-AF65-F5344CB8AC3E}">
        <p14:creationId xmlns:p14="http://schemas.microsoft.com/office/powerpoint/2010/main" val="251150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ctivity">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1EFA4326-4895-44AC-9425-C7B5345226E8}" type="datetime1">
              <a:rPr lang="en-GB" smtClean="0"/>
              <a:t>29/01/2026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1" y="1284900"/>
            <a:ext cx="9276979" cy="4849500"/>
          </a:xfrm>
        </p:spPr>
        <p:txBody>
          <a:bodyPr>
            <a:normAutofit/>
          </a:bodyPr>
          <a:lstStyle>
            <a:lvl1pPr marL="0" indent="0" algn="l">
              <a:buNone/>
              <a:defRPr sz="4800" b="0"/>
            </a:lvl1pPr>
          </a:lstStyle>
          <a:p>
            <a:pPr lvl="0"/>
            <a:r>
              <a:rPr lang="en-GB"/>
              <a:t>Insert your activity instructions here</a:t>
            </a:r>
          </a:p>
        </p:txBody>
      </p:sp>
      <p:sp>
        <p:nvSpPr>
          <p:cNvPr id="5" name="Rectangle 4">
            <a:extLst>
              <a:ext uri="{FF2B5EF4-FFF2-40B4-BE49-F238E27FC236}">
                <a16:creationId xmlns:a16="http://schemas.microsoft.com/office/drawing/2014/main" id="{5B5B87D8-E650-A843-E391-E5770D5B560C}"/>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Activity:</a:t>
            </a:r>
          </a:p>
        </p:txBody>
      </p:sp>
      <p:pic>
        <p:nvPicPr>
          <p:cNvPr id="9" name="Graphic 8">
            <a:extLst>
              <a:ext uri="{FF2B5EF4-FFF2-40B4-BE49-F238E27FC236}">
                <a16:creationId xmlns:a16="http://schemas.microsoft.com/office/drawing/2014/main" id="{68CD7ADB-FB1F-D5B1-69C5-9EC9CFD6FA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2156" y="488475"/>
            <a:ext cx="5711780" cy="6369525"/>
          </a:xfrm>
          <a:prstGeom prst="rect">
            <a:avLst/>
          </a:prstGeom>
        </p:spPr>
      </p:pic>
      <p:pic>
        <p:nvPicPr>
          <p:cNvPr id="6" name="Graphic 5">
            <a:extLst>
              <a:ext uri="{FF2B5EF4-FFF2-40B4-BE49-F238E27FC236}">
                <a16:creationId xmlns:a16="http://schemas.microsoft.com/office/drawing/2014/main" id="{1DC9C921-7D55-5C0A-2C89-26878770481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9731" y="6264067"/>
            <a:ext cx="672269" cy="593932"/>
          </a:xfrm>
          <a:prstGeom prst="rect">
            <a:avLst/>
          </a:prstGeom>
        </p:spPr>
      </p:pic>
      <p:sp>
        <p:nvSpPr>
          <p:cNvPr id="7" name="Rectangle 6">
            <a:extLst>
              <a:ext uri="{FF2B5EF4-FFF2-40B4-BE49-F238E27FC236}">
                <a16:creationId xmlns:a16="http://schemas.microsoft.com/office/drawing/2014/main" id="{4CB56C7A-4924-1DBB-823A-82476D2C954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Activity:</a:t>
            </a:r>
          </a:p>
        </p:txBody>
      </p:sp>
      <p:pic>
        <p:nvPicPr>
          <p:cNvPr id="10" name="Graphic 9">
            <a:extLst>
              <a:ext uri="{FF2B5EF4-FFF2-40B4-BE49-F238E27FC236}">
                <a16:creationId xmlns:a16="http://schemas.microsoft.com/office/drawing/2014/main" id="{4B565EA6-97CE-6D11-AFD0-B7F4B9BDD67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72156" y="488475"/>
            <a:ext cx="5711780" cy="6369525"/>
          </a:xfrm>
          <a:prstGeom prst="rect">
            <a:avLst/>
          </a:prstGeom>
        </p:spPr>
      </p:pic>
    </p:spTree>
    <p:extLst>
      <p:ext uri="{BB962C8B-B14F-4D97-AF65-F5344CB8AC3E}">
        <p14:creationId xmlns:p14="http://schemas.microsoft.com/office/powerpoint/2010/main" val="1732640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B4C25-5530-ED44-E2F8-57CE545C3E7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0E5722-1DA3-6763-C076-255D4B78BB8E}"/>
              </a:ext>
            </a:extLst>
          </p:cNvPr>
          <p:cNvSpPr>
            <a:spLocks noGrp="1"/>
          </p:cNvSpPr>
          <p:nvPr>
            <p:ph type="dt" sz="half" idx="10"/>
          </p:nvPr>
        </p:nvSpPr>
        <p:spPr/>
        <p:txBody>
          <a:bodyPr/>
          <a:lstStyle/>
          <a:p>
            <a:fld id="{9313FAF7-3174-4F0E-A596-9B9474D3F723}" type="datetime1">
              <a:rPr lang="en-GB" smtClean="0"/>
              <a:t>29/01/2026</a:t>
            </a:fld>
            <a:endParaRPr lang="en-GB"/>
          </a:p>
        </p:txBody>
      </p:sp>
      <p:sp>
        <p:nvSpPr>
          <p:cNvPr id="4" name="Footer Placeholder 3">
            <a:extLst>
              <a:ext uri="{FF2B5EF4-FFF2-40B4-BE49-F238E27FC236}">
                <a16:creationId xmlns:a16="http://schemas.microsoft.com/office/drawing/2014/main" id="{6E4630BB-9338-5B3C-4554-C11FC9ED3B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BFC6DC6-CE32-5480-1402-1C7237D1475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312490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24F3CBB-A976-4321-AB25-FE2E1A6F9EA4}" type="datetime1">
              <a:rPr lang="en-GB" smtClean="0"/>
              <a:t>29/01/2026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5" name="Graphic 4">
            <a:extLst>
              <a:ext uri="{FF2B5EF4-FFF2-40B4-BE49-F238E27FC236}">
                <a16:creationId xmlns:a16="http://schemas.microsoft.com/office/drawing/2014/main" id="{EDF2AD44-6ABF-8E9F-04B4-9365644ACF4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9731" y="6264067"/>
            <a:ext cx="672269" cy="593932"/>
          </a:xfrm>
          <a:prstGeom prst="rect">
            <a:avLst/>
          </a:prstGeom>
        </p:spPr>
      </p:pic>
    </p:spTree>
    <p:extLst>
      <p:ext uri="{BB962C8B-B14F-4D97-AF65-F5344CB8AC3E}">
        <p14:creationId xmlns:p14="http://schemas.microsoft.com/office/powerpoint/2010/main" val="423647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0" y="1493042"/>
            <a:ext cx="5553075"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315076" y="1493042"/>
            <a:ext cx="5553074"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29/01/2026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4042800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29/01/2026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640177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29/01/2026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3881546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12.xml"/><Relationship Id="rId7" Type="http://schemas.openxmlformats.org/officeDocument/2006/relationships/image" Target="../media/image3.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2.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1" y="1485900"/>
            <a:ext cx="11195880" cy="487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29/01/2026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2255860780"/>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61" r:id="rId5"/>
    <p:sldLayoutId id="2147483857" r:id="rId6"/>
    <p:sldLayoutId id="2147483858" r:id="rId7"/>
    <p:sldLayoutId id="2147483859" r:id="rId8"/>
    <p:sldLayoutId id="2147483860" r:id="rId9"/>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0" y="1485900"/>
            <a:ext cx="11563350" cy="48704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29/01/2026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dirty="0"/>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9">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2255860780"/>
      </p:ext>
    </p:extLst>
  </p:cSld>
  <p:clrMap bg1="lt1" tx1="dk1" bg2="lt2" tx2="dk2" accent1="accent1" accent2="accent2" accent3="accent3" accent4="accent4" accent5="accent5" accent6="accent6" hlink="hlink" folHlink="folHlink"/>
  <p:sldLayoutIdLst>
    <p:sldLayoutId id="2147483865" r:id="rId1"/>
    <p:sldLayoutId id="2147483864" r:id="rId2"/>
    <p:sldLayoutId id="2147483863" r:id="rId3"/>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tylervigen.com/spurious-correlations" TargetMode="Externa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hyperlink" Target="https://www.theanalysisfactor.com/multicollinearity-explained-visually/"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hyperlink" Target="https://towardsdatascience.com/statistics-in-python-collinearity-and-multicollinearity-4cc4dcd82b3f"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www.statology.org/how-to-calculate-vif-in-pytho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hyperlink" Target="https://www.geeksforgeeks.org/machine-learning/heteroscedasticity-in-regression-analysi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3F5C23-0802-A4D7-F60A-4E94EF132E29}"/>
              </a:ext>
            </a:extLst>
          </p:cNvPr>
          <p:cNvSpPr>
            <a:spLocks noGrp="1"/>
          </p:cNvSpPr>
          <p:nvPr>
            <p:ph type="ctrTitle"/>
          </p:nvPr>
        </p:nvSpPr>
        <p:spPr/>
        <p:txBody>
          <a:bodyPr/>
          <a:lstStyle/>
          <a:p>
            <a:r>
              <a:rPr lang="en-GB" noProof="0" dirty="0"/>
              <a:t>03.02</a:t>
            </a:r>
          </a:p>
        </p:txBody>
      </p:sp>
      <p:sp>
        <p:nvSpPr>
          <p:cNvPr id="6" name="Subtitle 5">
            <a:extLst>
              <a:ext uri="{FF2B5EF4-FFF2-40B4-BE49-F238E27FC236}">
                <a16:creationId xmlns:a16="http://schemas.microsoft.com/office/drawing/2014/main" id="{963C011E-EF7A-33EE-4DEB-142310BC5566}"/>
              </a:ext>
            </a:extLst>
          </p:cNvPr>
          <p:cNvSpPr>
            <a:spLocks noGrp="1"/>
          </p:cNvSpPr>
          <p:nvPr>
            <p:ph type="subTitle" idx="1"/>
          </p:nvPr>
        </p:nvSpPr>
        <p:spPr/>
        <p:txBody>
          <a:bodyPr/>
          <a:lstStyle/>
          <a:p>
            <a:pPr>
              <a:lnSpc>
                <a:spcPct val="100000"/>
              </a:lnSpc>
              <a:spcBef>
                <a:spcPts val="0"/>
              </a:spcBef>
            </a:pPr>
            <a:r>
              <a:rPr lang="en-GB" sz="4000" noProof="0" dirty="0">
                <a:ea typeface="Calibri"/>
                <a:cs typeface="Calibri"/>
              </a:rPr>
              <a:t>Linear Regression Assumptions</a:t>
            </a:r>
          </a:p>
        </p:txBody>
      </p:sp>
      <p:sp>
        <p:nvSpPr>
          <p:cNvPr id="4" name="Slide Number Placeholder 3">
            <a:extLst>
              <a:ext uri="{FF2B5EF4-FFF2-40B4-BE49-F238E27FC236}">
                <a16:creationId xmlns:a16="http://schemas.microsoft.com/office/drawing/2014/main" id="{A830FFAD-ABF8-CAB2-A6D8-4A5513452E75}"/>
              </a:ext>
            </a:extLst>
          </p:cNvPr>
          <p:cNvSpPr>
            <a:spLocks noGrp="1"/>
          </p:cNvSpPr>
          <p:nvPr>
            <p:ph type="sldNum" sz="quarter" idx="12"/>
          </p:nvPr>
        </p:nvSpPr>
        <p:spPr/>
        <p:txBody>
          <a:bodyPr/>
          <a:lstStyle/>
          <a:p>
            <a:fld id="{F74D7E6C-9B20-4593-B18C-8D2C7BEEFCA2}" type="slidenum">
              <a:rPr lang="en-GB" noProof="0" smtClean="0"/>
              <a:t>1</a:t>
            </a:fld>
            <a:endParaRPr lang="en-GB" noProof="0"/>
          </a:p>
        </p:txBody>
      </p:sp>
      <p:sp>
        <p:nvSpPr>
          <p:cNvPr id="7" name="Text Placeholder 6">
            <a:extLst>
              <a:ext uri="{FF2B5EF4-FFF2-40B4-BE49-F238E27FC236}">
                <a16:creationId xmlns:a16="http://schemas.microsoft.com/office/drawing/2014/main" id="{8D969894-7E4F-1E02-1B28-1A8395FCD155}"/>
              </a:ext>
            </a:extLst>
          </p:cNvPr>
          <p:cNvSpPr>
            <a:spLocks noGrp="1"/>
          </p:cNvSpPr>
          <p:nvPr>
            <p:ph type="body" sz="quarter" idx="13"/>
          </p:nvPr>
        </p:nvSpPr>
        <p:spPr>
          <a:xfrm>
            <a:off x="1782502" y="3278656"/>
            <a:ext cx="7534878" cy="365125"/>
          </a:xfrm>
        </p:spPr>
        <p:txBody>
          <a:bodyPr/>
          <a:lstStyle/>
          <a:p>
            <a:r>
              <a:rPr lang="en-GB" noProof="0"/>
              <a:t>Level 7 Artificial Intelligence (AI) Data Specialist</a:t>
            </a:r>
          </a:p>
        </p:txBody>
      </p:sp>
      <p:sp>
        <p:nvSpPr>
          <p:cNvPr id="8" name="Text Placeholder 7">
            <a:extLst>
              <a:ext uri="{FF2B5EF4-FFF2-40B4-BE49-F238E27FC236}">
                <a16:creationId xmlns:a16="http://schemas.microsoft.com/office/drawing/2014/main" id="{F0F0DD37-8557-A45F-9A01-678A88E07C61}"/>
              </a:ext>
            </a:extLst>
          </p:cNvPr>
          <p:cNvSpPr>
            <a:spLocks noGrp="1"/>
          </p:cNvSpPr>
          <p:nvPr>
            <p:ph type="body" sz="quarter" idx="14"/>
          </p:nvPr>
        </p:nvSpPr>
        <p:spPr>
          <a:xfrm>
            <a:off x="1782502" y="3724387"/>
            <a:ext cx="7534878" cy="365125"/>
          </a:xfrm>
        </p:spPr>
        <p:txBody>
          <a:bodyPr/>
          <a:lstStyle/>
          <a:p>
            <a:r>
              <a:rPr lang="en-GB" sz="2000" noProof="0"/>
              <a:t>Python, Tools and Steps to Build AI Models</a:t>
            </a:r>
            <a:endParaRPr lang="en-GB" noProof="0"/>
          </a:p>
        </p:txBody>
      </p:sp>
      <p:sp>
        <p:nvSpPr>
          <p:cNvPr id="9" name="Text Placeholder 8">
            <a:extLst>
              <a:ext uri="{FF2B5EF4-FFF2-40B4-BE49-F238E27FC236}">
                <a16:creationId xmlns:a16="http://schemas.microsoft.com/office/drawing/2014/main" id="{266A776D-AF90-C5F9-7AB0-3EF3F9B3B19A}"/>
              </a:ext>
            </a:extLst>
          </p:cNvPr>
          <p:cNvSpPr>
            <a:spLocks noGrp="1"/>
          </p:cNvSpPr>
          <p:nvPr>
            <p:ph type="body" sz="quarter" idx="15"/>
          </p:nvPr>
        </p:nvSpPr>
        <p:spPr>
          <a:xfrm>
            <a:off x="1770927" y="4189662"/>
            <a:ext cx="7534878" cy="365125"/>
          </a:xfrm>
        </p:spPr>
        <p:txBody>
          <a:bodyPr/>
          <a:lstStyle/>
          <a:p>
            <a:r>
              <a:rPr lang="en-GB" dirty="0"/>
              <a:t>Georgina Thomas</a:t>
            </a:r>
            <a:endParaRPr lang="en-GB" noProof="0" dirty="0"/>
          </a:p>
        </p:txBody>
      </p:sp>
      <p:sp>
        <p:nvSpPr>
          <p:cNvPr id="10" name="Text Placeholder 9">
            <a:extLst>
              <a:ext uri="{FF2B5EF4-FFF2-40B4-BE49-F238E27FC236}">
                <a16:creationId xmlns:a16="http://schemas.microsoft.com/office/drawing/2014/main" id="{F00027BC-17BE-C7AA-3EF1-DD88E6017A37}"/>
              </a:ext>
            </a:extLst>
          </p:cNvPr>
          <p:cNvSpPr>
            <a:spLocks noGrp="1"/>
          </p:cNvSpPr>
          <p:nvPr>
            <p:ph type="body" sz="quarter" idx="17"/>
          </p:nvPr>
        </p:nvSpPr>
        <p:spPr>
          <a:xfrm>
            <a:off x="1782502" y="4647144"/>
            <a:ext cx="7534878" cy="365125"/>
          </a:xfrm>
        </p:spPr>
        <p:txBody>
          <a:bodyPr/>
          <a:lstStyle/>
          <a:p>
            <a:r>
              <a:rPr lang="en-GB" dirty="0" err="1"/>
              <a:t>g.thomas@learn-tech</a:t>
            </a:r>
            <a:r>
              <a:rPr lang="en-GB" noProof="0" dirty="0"/>
              <a:t>.com</a:t>
            </a:r>
          </a:p>
        </p:txBody>
      </p:sp>
    </p:spTree>
    <p:extLst>
      <p:ext uri="{BB962C8B-B14F-4D97-AF65-F5344CB8AC3E}">
        <p14:creationId xmlns:p14="http://schemas.microsoft.com/office/powerpoint/2010/main" val="1759904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721E-ED50-2466-CE6F-5AE585ECBC7E}"/>
              </a:ext>
            </a:extLst>
          </p:cNvPr>
          <p:cNvSpPr>
            <a:spLocks noGrp="1"/>
          </p:cNvSpPr>
          <p:nvPr>
            <p:ph type="title"/>
          </p:nvPr>
        </p:nvSpPr>
        <p:spPr/>
        <p:txBody>
          <a:bodyPr/>
          <a:lstStyle/>
          <a:p>
            <a:r>
              <a:rPr lang="en-GB" dirty="0"/>
              <a:t>KSBs</a:t>
            </a:r>
          </a:p>
        </p:txBody>
      </p:sp>
      <p:sp>
        <p:nvSpPr>
          <p:cNvPr id="3" name="Content Placeholder 2">
            <a:extLst>
              <a:ext uri="{FF2B5EF4-FFF2-40B4-BE49-F238E27FC236}">
                <a16:creationId xmlns:a16="http://schemas.microsoft.com/office/drawing/2014/main" id="{1849E1F3-09C1-5C77-3C26-3A0BE6E7E340}"/>
              </a:ext>
            </a:extLst>
          </p:cNvPr>
          <p:cNvSpPr>
            <a:spLocks noGrp="1"/>
          </p:cNvSpPr>
          <p:nvPr>
            <p:ph idx="1"/>
          </p:nvPr>
        </p:nvSpPr>
        <p:spPr/>
        <p:txBody>
          <a:bodyPr numCol="2">
            <a:normAutofit lnSpcReduction="10000"/>
          </a:bodyPr>
          <a:lstStyle/>
          <a:p>
            <a:r>
              <a:rPr lang="en-GB" dirty="0"/>
              <a:t>K1: How to use AI and machine learning methodologies such as data-mining, supervised/unsupervised machine learning, natural language processing, machine vision to meet business objectives</a:t>
            </a:r>
          </a:p>
          <a:p>
            <a:r>
              <a:rPr lang="en-GB" dirty="0"/>
              <a:t>K19:  The principles and properties behind statistical and machine learning methods</a:t>
            </a:r>
          </a:p>
          <a:p>
            <a:r>
              <a:rPr lang="en-GB" dirty="0"/>
              <a:t>K23: The use of different performance and accuracy metrics for model validation in AI projects</a:t>
            </a:r>
          </a:p>
          <a:p>
            <a:r>
              <a:rPr lang="en-GB" dirty="0"/>
              <a:t>S2:  Independently analyse test data, interpret results and evaluate the suitability of proposed solutions, considering current and future business requirements</a:t>
            </a:r>
          </a:p>
          <a:p>
            <a:endParaRPr lang="en-GB" dirty="0"/>
          </a:p>
          <a:p>
            <a:pPr marL="0" indent="0">
              <a:buNone/>
            </a:pPr>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0ABB0592-7D6B-8E2E-A034-174FADA72910}"/>
              </a:ext>
            </a:extLst>
          </p:cNvPr>
          <p:cNvSpPr>
            <a:spLocks noGrp="1"/>
          </p:cNvSpPr>
          <p:nvPr>
            <p:ph type="sldNum" sz="quarter" idx="12"/>
          </p:nvPr>
        </p:nvSpPr>
        <p:spPr/>
        <p:txBody>
          <a:bodyPr/>
          <a:lstStyle/>
          <a:p>
            <a:fld id="{F74D7E6C-9B20-4593-B18C-8D2C7BEEFCA2}" type="slidenum">
              <a:rPr lang="en-GB" smtClean="0"/>
              <a:t>2</a:t>
            </a:fld>
            <a:endParaRPr lang="en-GB"/>
          </a:p>
        </p:txBody>
      </p:sp>
    </p:spTree>
    <p:extLst>
      <p:ext uri="{BB962C8B-B14F-4D97-AF65-F5344CB8AC3E}">
        <p14:creationId xmlns:p14="http://schemas.microsoft.com/office/powerpoint/2010/main" val="213964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DABB-D7D7-E27B-A2DE-A0E838001292}"/>
              </a:ext>
            </a:extLst>
          </p:cNvPr>
          <p:cNvSpPr>
            <a:spLocks noGrp="1"/>
          </p:cNvSpPr>
          <p:nvPr>
            <p:ph type="title"/>
          </p:nvPr>
        </p:nvSpPr>
        <p:spPr/>
        <p:txBody>
          <a:bodyPr/>
          <a:lstStyle/>
          <a:p>
            <a:r>
              <a:rPr lang="en-GB" dirty="0"/>
              <a:t>P17</a:t>
            </a:r>
          </a:p>
        </p:txBody>
      </p:sp>
      <p:sp>
        <p:nvSpPr>
          <p:cNvPr id="3" name="Content Placeholder 2">
            <a:extLst>
              <a:ext uri="{FF2B5EF4-FFF2-40B4-BE49-F238E27FC236}">
                <a16:creationId xmlns:a16="http://schemas.microsoft.com/office/drawing/2014/main" id="{6680301A-0D1E-D056-5266-5072D6FD8BEE}"/>
              </a:ext>
            </a:extLst>
          </p:cNvPr>
          <p:cNvSpPr>
            <a:spLocks noGrp="1"/>
          </p:cNvSpPr>
          <p:nvPr>
            <p:ph idx="1"/>
          </p:nvPr>
        </p:nvSpPr>
        <p:spPr/>
        <p:txBody>
          <a:bodyPr numCol="2">
            <a:normAutofit fontScale="40000" lnSpcReduction="20000"/>
          </a:bodyPr>
          <a:lstStyle/>
          <a:p>
            <a:r>
              <a:rPr lang="en-GB" dirty="0"/>
              <a:t>P17: Pass criterion: Describes how to use statistical, AI and machine learning methodologies such as data- mining, supervised/unsupervised machine learning, natural language processing and machine vision to meet business objectives.</a:t>
            </a:r>
          </a:p>
          <a:p>
            <a:r>
              <a:rPr lang="en-GB" dirty="0"/>
              <a:t>This assessment criterion requires the apprentice to demonstrate their understanding and application of various statistical, AI, and machine learning methodologies to achieve business objectives, examples may include:</a:t>
            </a:r>
          </a:p>
          <a:p>
            <a:r>
              <a:rPr lang="en-GB" dirty="0"/>
              <a:t>Key Methodologies</a:t>
            </a:r>
          </a:p>
          <a:p>
            <a:r>
              <a:rPr lang="en-GB" dirty="0"/>
              <a:t>1. Statistical Methods:</a:t>
            </a:r>
          </a:p>
          <a:p>
            <a:pPr lvl="0"/>
            <a:r>
              <a:rPr lang="en-GB" dirty="0"/>
              <a:t>Descriptive Statistics</a:t>
            </a:r>
          </a:p>
          <a:p>
            <a:pPr lvl="0"/>
            <a:r>
              <a:rPr lang="en-GB" dirty="0"/>
              <a:t>Inferential Statistics</a:t>
            </a:r>
          </a:p>
          <a:p>
            <a:r>
              <a:rPr lang="en-GB" dirty="0"/>
              <a:t>2. Data Mining:</a:t>
            </a:r>
          </a:p>
          <a:p>
            <a:pPr lvl="0"/>
            <a:r>
              <a:rPr lang="en-GB" dirty="0"/>
              <a:t>Purpose: Discover patterns and relationships in large datasets.</a:t>
            </a:r>
          </a:p>
          <a:p>
            <a:pPr lvl="0"/>
            <a:r>
              <a:rPr lang="en-GB" dirty="0"/>
              <a:t>Techniques: Clustering, association rule mining, and anomaly detection.</a:t>
            </a:r>
          </a:p>
          <a:p>
            <a:pPr lvl="0"/>
            <a:r>
              <a:rPr lang="en-GB" dirty="0"/>
              <a:t>Application.</a:t>
            </a:r>
          </a:p>
          <a:p>
            <a:r>
              <a:rPr lang="en-GB" dirty="0"/>
              <a:t>3. Supervised Machine Learning:</a:t>
            </a:r>
          </a:p>
          <a:p>
            <a:pPr lvl="0"/>
            <a:r>
              <a:rPr lang="en-GB" dirty="0"/>
              <a:t>Purpose: Train models on labelled data to make predictions or classifications.</a:t>
            </a:r>
          </a:p>
          <a:p>
            <a:pPr lvl="0"/>
            <a:r>
              <a:rPr lang="en-GB" dirty="0"/>
              <a:t>Techniques: Linear regression, logistic regression, decision trees, random forests,</a:t>
            </a:r>
          </a:p>
          <a:p>
            <a:pPr lvl="0"/>
            <a:r>
              <a:rPr lang="en-GB" dirty="0"/>
              <a:t>and support vector machines.</a:t>
            </a:r>
          </a:p>
          <a:p>
            <a:pPr lvl="0"/>
            <a:r>
              <a:rPr lang="en-GB" dirty="0"/>
              <a:t>Application.</a:t>
            </a:r>
          </a:p>
          <a:p>
            <a:r>
              <a:rPr lang="en-GB" dirty="0"/>
              <a:t>4. Unsupervised Machine Learning:</a:t>
            </a:r>
          </a:p>
          <a:p>
            <a:pPr lvl="0"/>
            <a:r>
              <a:rPr lang="en-GB" dirty="0"/>
              <a:t>Purpose: Find hidden patterns or intrinsic structures in unlabelled data.</a:t>
            </a:r>
          </a:p>
          <a:p>
            <a:pPr lvl="0"/>
            <a:r>
              <a:rPr lang="en-GB" dirty="0"/>
              <a:t>Techniques: K-means clustering, hierarchical clustering, and principal component</a:t>
            </a:r>
          </a:p>
          <a:p>
            <a:pPr lvl="0"/>
            <a:r>
              <a:rPr lang="en-GB" dirty="0"/>
              <a:t>analysis (PCA).</a:t>
            </a:r>
          </a:p>
          <a:p>
            <a:pPr lvl="0"/>
            <a:r>
              <a:rPr lang="en-GB" dirty="0"/>
              <a:t>Application</a:t>
            </a:r>
          </a:p>
          <a:p>
            <a:r>
              <a:rPr lang="en-GB" dirty="0"/>
              <a:t>5. Natural Language Processing (NLP):</a:t>
            </a:r>
          </a:p>
          <a:p>
            <a:pPr lvl="0"/>
            <a:r>
              <a:rPr lang="en-GB" dirty="0"/>
              <a:t>Purpose: Enable machines to understand and interpret human language.</a:t>
            </a:r>
          </a:p>
          <a:p>
            <a:pPr lvl="0"/>
            <a:r>
              <a:rPr lang="en-GB" dirty="0"/>
              <a:t>Techniques: Tokenisation, sentiment analysis, named entity recognition (NER), and</a:t>
            </a:r>
          </a:p>
          <a:p>
            <a:pPr lvl="0"/>
            <a:r>
              <a:rPr lang="en-GB" dirty="0"/>
              <a:t>topic modelling.</a:t>
            </a:r>
          </a:p>
          <a:p>
            <a:pPr lvl="0"/>
            <a:r>
              <a:rPr lang="en-GB" dirty="0"/>
              <a:t>Application.</a:t>
            </a:r>
          </a:p>
          <a:p>
            <a:r>
              <a:rPr lang="en-GB" dirty="0"/>
              <a:t>6. Machine Vision:</a:t>
            </a:r>
          </a:p>
          <a:p>
            <a:pPr lvl="0"/>
            <a:r>
              <a:rPr lang="en-GB" dirty="0"/>
              <a:t>Purpose: Enable machines to interpret and understand visual information.</a:t>
            </a:r>
          </a:p>
          <a:p>
            <a:pPr lvl="0"/>
            <a:r>
              <a:rPr lang="en-GB" dirty="0"/>
              <a:t>Techniques: Image classification, object detection, and image segmentation.</a:t>
            </a:r>
          </a:p>
          <a:p>
            <a:pPr lvl="0"/>
            <a:r>
              <a:rPr lang="en-GB" dirty="0"/>
              <a:t>Application.</a:t>
            </a:r>
          </a:p>
          <a:p>
            <a:r>
              <a:rPr lang="en-GB" dirty="0"/>
              <a:t>Meeting Business Objectives, such as:</a:t>
            </a:r>
          </a:p>
          <a:p>
            <a:r>
              <a:rPr lang="en-GB" dirty="0"/>
              <a:t>1. Improving Customer Retention</a:t>
            </a:r>
          </a:p>
          <a:p>
            <a:r>
              <a:rPr lang="en-GB" dirty="0"/>
              <a:t>2. Enhancing Customer Experience</a:t>
            </a:r>
          </a:p>
          <a:p>
            <a:r>
              <a:rPr lang="en-GB" dirty="0"/>
              <a:t>3. Optimising Operations</a:t>
            </a:r>
          </a:p>
          <a:p>
            <a:r>
              <a:rPr lang="en-GB" dirty="0"/>
              <a:t>4. Increasing Sales and Marketing Effectiveness</a:t>
            </a:r>
          </a:p>
          <a:p>
            <a:r>
              <a:rPr lang="en-GB" dirty="0"/>
              <a:t>5. Fraud Detection</a:t>
            </a:r>
          </a:p>
          <a:p>
            <a:endParaRPr lang="en-GB" dirty="0"/>
          </a:p>
        </p:txBody>
      </p:sp>
      <p:sp>
        <p:nvSpPr>
          <p:cNvPr id="4" name="Slide Number Placeholder 3">
            <a:extLst>
              <a:ext uri="{FF2B5EF4-FFF2-40B4-BE49-F238E27FC236}">
                <a16:creationId xmlns:a16="http://schemas.microsoft.com/office/drawing/2014/main" id="{1C7D0F76-61E2-66CD-F990-7D5CC726E74F}"/>
              </a:ext>
            </a:extLst>
          </p:cNvPr>
          <p:cNvSpPr>
            <a:spLocks noGrp="1"/>
          </p:cNvSpPr>
          <p:nvPr>
            <p:ph type="sldNum" sz="quarter" idx="12"/>
          </p:nvPr>
        </p:nvSpPr>
        <p:spPr/>
        <p:txBody>
          <a:bodyPr/>
          <a:lstStyle/>
          <a:p>
            <a:fld id="{F74D7E6C-9B20-4593-B18C-8D2C7BEEFCA2}" type="slidenum">
              <a:rPr lang="en-GB" smtClean="0"/>
              <a:t>3</a:t>
            </a:fld>
            <a:endParaRPr lang="en-GB"/>
          </a:p>
        </p:txBody>
      </p:sp>
    </p:spTree>
    <p:extLst>
      <p:ext uri="{BB962C8B-B14F-4D97-AF65-F5344CB8AC3E}">
        <p14:creationId xmlns:p14="http://schemas.microsoft.com/office/powerpoint/2010/main" val="74116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488C-060B-C6F7-5A5E-0B9644CFD9E8}"/>
              </a:ext>
            </a:extLst>
          </p:cNvPr>
          <p:cNvSpPr>
            <a:spLocks noGrp="1"/>
          </p:cNvSpPr>
          <p:nvPr>
            <p:ph type="title"/>
          </p:nvPr>
        </p:nvSpPr>
        <p:spPr/>
        <p:txBody>
          <a:bodyPr/>
          <a:lstStyle/>
          <a:p>
            <a:r>
              <a:rPr lang="en-GB" dirty="0"/>
              <a:t>P19</a:t>
            </a:r>
          </a:p>
        </p:txBody>
      </p:sp>
      <p:sp>
        <p:nvSpPr>
          <p:cNvPr id="3" name="Content Placeholder 2">
            <a:extLst>
              <a:ext uri="{FF2B5EF4-FFF2-40B4-BE49-F238E27FC236}">
                <a16:creationId xmlns:a16="http://schemas.microsoft.com/office/drawing/2014/main" id="{015C8B66-F969-2BA9-E6A1-BA4F36A13609}"/>
              </a:ext>
            </a:extLst>
          </p:cNvPr>
          <p:cNvSpPr>
            <a:spLocks noGrp="1"/>
          </p:cNvSpPr>
          <p:nvPr>
            <p:ph idx="1"/>
          </p:nvPr>
        </p:nvSpPr>
        <p:spPr/>
        <p:txBody>
          <a:bodyPr numCol="2">
            <a:normAutofit fontScale="25000" lnSpcReduction="20000"/>
          </a:bodyPr>
          <a:lstStyle/>
          <a:p>
            <a:r>
              <a:rPr lang="en-GB" dirty="0"/>
              <a:t>P19: Pass criterion: Describes the relationship between mathematical principles and core techniques in AI and data science within the organisational context.</a:t>
            </a:r>
          </a:p>
          <a:p>
            <a:r>
              <a:rPr lang="en-GB" dirty="0"/>
              <a:t>Clarification: This assessment criterion requires the apprentice to explain how they use mathematical principles to underpin and explain the core techniques, their use of AI and data science, and how these techniques are relevant to the context of their organisation.</a:t>
            </a:r>
          </a:p>
          <a:p>
            <a:r>
              <a:rPr lang="en-GB" dirty="0"/>
              <a:t>This could include:</a:t>
            </a:r>
          </a:p>
          <a:p>
            <a:r>
              <a:rPr lang="en-GB" dirty="0"/>
              <a:t>Mathematical Principles</a:t>
            </a:r>
          </a:p>
          <a:p>
            <a:pPr lvl="0"/>
            <a:r>
              <a:rPr lang="en-GB" dirty="0"/>
              <a:t>Linear Algebra:</a:t>
            </a:r>
          </a:p>
          <a:p>
            <a:pPr lvl="1"/>
            <a:r>
              <a:rPr lang="en-GB" sz="2800" dirty="0"/>
              <a:t>Vectors and Matrices: Fundamental for representing data and operations in machine learning algorithms. Used in techniques like Principal Component Analysis (PCA) for dimensionality reduction. </a:t>
            </a:r>
          </a:p>
          <a:p>
            <a:pPr lvl="1"/>
            <a:r>
              <a:rPr lang="en-GB" sz="2800" dirty="0"/>
              <a:t>Matrix Decompositions: Techniques such as Singular Value Decomposition (SVD) are used in recommendation systems and image compression.</a:t>
            </a:r>
          </a:p>
          <a:p>
            <a:pPr lvl="0"/>
            <a:r>
              <a:rPr lang="en-GB" dirty="0"/>
              <a:t>Calculus:</a:t>
            </a:r>
          </a:p>
          <a:p>
            <a:pPr lvl="1"/>
            <a:r>
              <a:rPr lang="en-GB" sz="2800" dirty="0"/>
              <a:t>Differentiation and Integration: Essential for understanding and optimising machine learning models. Gradient descent, a key optimisation algorithm, relies on calculus to minimise the loss function.</a:t>
            </a:r>
          </a:p>
          <a:p>
            <a:pPr lvl="1"/>
            <a:r>
              <a:rPr lang="en-GB" sz="2800" dirty="0"/>
              <a:t>Partial Derivatives: Used in back propagation for training neural networks.</a:t>
            </a:r>
          </a:p>
          <a:p>
            <a:pPr lvl="0"/>
            <a:r>
              <a:rPr lang="en-GB" dirty="0"/>
              <a:t>Probability and Statistics:		</a:t>
            </a:r>
          </a:p>
          <a:p>
            <a:pPr lvl="1"/>
            <a:r>
              <a:rPr lang="en-GB" sz="2800" dirty="0"/>
              <a:t>Probability Distributions: Used to model uncertainties and make predictions.</a:t>
            </a:r>
          </a:p>
          <a:p>
            <a:pPr lvl="1"/>
            <a:r>
              <a:rPr lang="en-GB" sz="2800" dirty="0"/>
              <a:t>Techniques like Bayesian inference rely on probability theory.</a:t>
            </a:r>
          </a:p>
          <a:p>
            <a:pPr lvl="1"/>
            <a:r>
              <a:rPr lang="en-GB" sz="2800" dirty="0"/>
              <a:t>Statistical Methods: Hypothesis testing, confidence intervals, and regression analysis are used to infer patterns and relationships in data.</a:t>
            </a:r>
          </a:p>
          <a:p>
            <a:pPr lvl="0"/>
            <a:r>
              <a:rPr lang="en-GB" dirty="0"/>
              <a:t>Optimisation:</a:t>
            </a:r>
          </a:p>
          <a:p>
            <a:pPr lvl="1"/>
            <a:r>
              <a:rPr lang="en-GB" sz="2800" dirty="0"/>
              <a:t>Convex Optimisation: Many machine learning algorithms, such as support vector machines (SVMs), rely on convex optimisation techniques to find the best parameters.</a:t>
            </a:r>
          </a:p>
          <a:p>
            <a:pPr lvl="1"/>
            <a:r>
              <a:rPr lang="en-GB" sz="2800" dirty="0"/>
              <a:t>Stochastic Optimisation: Methods like stochastic gradient descent (SGD) are used to handle large datasets efficiently.</a:t>
            </a:r>
          </a:p>
          <a:p>
            <a:r>
              <a:rPr lang="en-GB" dirty="0"/>
              <a:t> </a:t>
            </a:r>
          </a:p>
          <a:p>
            <a:r>
              <a:rPr lang="en-GB" dirty="0"/>
              <a:t>Core Techniques in AI and Data Science</a:t>
            </a:r>
          </a:p>
          <a:p>
            <a:pPr lvl="0"/>
            <a:r>
              <a:rPr lang="en-GB" dirty="0"/>
              <a:t>Supervised Learning:</a:t>
            </a:r>
          </a:p>
          <a:p>
            <a:pPr lvl="1"/>
            <a:r>
              <a:rPr lang="en-GB" sz="2800" dirty="0"/>
              <a:t>Regression and Classification: Techniques like linear regression, logistic regression, decision trees, random forests, and support vector machines are used to predict outcomes based on labelled data.</a:t>
            </a:r>
          </a:p>
          <a:p>
            <a:pPr lvl="1"/>
            <a:r>
              <a:rPr lang="en-GB" sz="2800" dirty="0"/>
              <a:t>Neural Networks: Deep learning models that use multiple layers to learn complex patterns in data.</a:t>
            </a:r>
          </a:p>
          <a:p>
            <a:pPr lvl="0"/>
            <a:r>
              <a:rPr lang="en-GB" dirty="0"/>
              <a:t>Unsupervised Learning:</a:t>
            </a:r>
          </a:p>
          <a:p>
            <a:pPr lvl="1"/>
            <a:r>
              <a:rPr lang="en-GB" sz="2800" dirty="0"/>
              <a:t>Clustering: Techniques like K-means and hierarchical clustering are used to group similar data points.</a:t>
            </a:r>
          </a:p>
          <a:p>
            <a:pPr lvl="1"/>
            <a:r>
              <a:rPr lang="en-GB" sz="2800" dirty="0"/>
              <a:t>Dimensionality Reduction: Methods like PCA and t-SNE reduce the number of features while preserving important information.</a:t>
            </a:r>
          </a:p>
          <a:p>
            <a:pPr lvl="0"/>
            <a:r>
              <a:rPr lang="en-GB" dirty="0"/>
              <a:t>Natural Language Processing (NLP):</a:t>
            </a:r>
          </a:p>
          <a:p>
            <a:pPr lvl="1"/>
            <a:r>
              <a:rPr lang="en-GB" sz="2800" dirty="0"/>
              <a:t>Text Analysis: Techniques like tokenisation, sentiment analysis, and named entity recognition (NER) are used to process and analyse textual data.</a:t>
            </a:r>
          </a:p>
          <a:p>
            <a:pPr lvl="1"/>
            <a:r>
              <a:rPr lang="en-GB" sz="2800" dirty="0"/>
              <a:t>Language Models: Models like BERT and GPT are used for tasks such as text generation and translation.</a:t>
            </a:r>
          </a:p>
          <a:p>
            <a:pPr lvl="0"/>
            <a:r>
              <a:rPr lang="en-GB" dirty="0"/>
              <a:t>Machine Vision:</a:t>
            </a:r>
          </a:p>
          <a:p>
            <a:pPr lvl="1"/>
            <a:r>
              <a:rPr lang="en-GB" sz="2800" dirty="0"/>
              <a:t>Image Processing: Techniques like convolutional neural networks (CNNs) are used for image classification, object detection, and segmentation.</a:t>
            </a:r>
          </a:p>
          <a:p>
            <a:r>
              <a:rPr lang="en-GB" dirty="0"/>
              <a:t>Application in Organisational Context</a:t>
            </a:r>
          </a:p>
          <a:p>
            <a:pPr lvl="0"/>
            <a:r>
              <a:rPr lang="en-GB" dirty="0"/>
              <a:t>Business Decision-Making:				</a:t>
            </a:r>
          </a:p>
          <a:p>
            <a:pPr lvl="1"/>
            <a:r>
              <a:rPr lang="en-GB" sz="2800" dirty="0"/>
              <a:t>Predictive Analytics: Using regression models and neural networks to forecast sales, customer behaviour, and market trends.</a:t>
            </a:r>
          </a:p>
          <a:p>
            <a:pPr lvl="1"/>
            <a:r>
              <a:rPr lang="en-GB" sz="2800" dirty="0"/>
              <a:t>Risk Management: Applying statistical methods and machine learning to identify and mitigate risks.</a:t>
            </a:r>
          </a:p>
          <a:p>
            <a:pPr lvl="0"/>
            <a:r>
              <a:rPr lang="en-GB" dirty="0"/>
              <a:t>Operational Efficiency:</a:t>
            </a:r>
          </a:p>
          <a:p>
            <a:pPr lvl="1"/>
            <a:r>
              <a:rPr lang="en-GB" sz="2800" dirty="0"/>
              <a:t>Process Automation: Implementing AI-driven automation for repetitive tasks, such as data entry and customer service.</a:t>
            </a:r>
          </a:p>
          <a:p>
            <a:pPr lvl="1"/>
            <a:r>
              <a:rPr lang="en-GB" sz="2800" dirty="0"/>
              <a:t>Quality Control: Using machine vision to detect defects in manufacturing processes.</a:t>
            </a:r>
          </a:p>
          <a:p>
            <a:pPr lvl="0"/>
            <a:r>
              <a:rPr lang="en-GB" dirty="0"/>
              <a:t>Customer Insights:</a:t>
            </a:r>
          </a:p>
          <a:p>
            <a:pPr lvl="1"/>
            <a:r>
              <a:rPr lang="en-GB" sz="2800" dirty="0"/>
              <a:t>Segmentation and Targeting: Using clustering techniques to segment customers and tailor marketing strategies.</a:t>
            </a:r>
          </a:p>
          <a:p>
            <a:pPr lvl="1"/>
            <a:r>
              <a:rPr lang="en-GB" sz="2800" dirty="0"/>
              <a:t>Sentiment Analysis: Applying NLP to analyse customer feedback and improve products and services.</a:t>
            </a:r>
          </a:p>
          <a:p>
            <a:pPr lvl="0"/>
            <a:r>
              <a:rPr lang="en-GB" dirty="0"/>
              <a:t>Innovation and Development:</a:t>
            </a:r>
          </a:p>
          <a:p>
            <a:pPr lvl="1"/>
            <a:r>
              <a:rPr lang="en-GB" sz="2800" dirty="0"/>
              <a:t>Product Development: Leveraging AI to design and test new products, such as using generative models for design optimisation.</a:t>
            </a:r>
          </a:p>
          <a:p>
            <a:pPr lvl="1"/>
            <a:r>
              <a:rPr lang="en-GB" sz="2800" dirty="0"/>
              <a:t>Research and Development: Using data mining and machine learning to discover new insights and drive innovation.</a:t>
            </a:r>
          </a:p>
          <a:p>
            <a:endParaRPr lang="en-GB" dirty="0"/>
          </a:p>
        </p:txBody>
      </p:sp>
      <p:sp>
        <p:nvSpPr>
          <p:cNvPr id="4" name="Slide Number Placeholder 3">
            <a:extLst>
              <a:ext uri="{FF2B5EF4-FFF2-40B4-BE49-F238E27FC236}">
                <a16:creationId xmlns:a16="http://schemas.microsoft.com/office/drawing/2014/main" id="{AB72A96E-2643-86BF-23F2-3B7A0ABB443B}"/>
              </a:ext>
            </a:extLst>
          </p:cNvPr>
          <p:cNvSpPr>
            <a:spLocks noGrp="1"/>
          </p:cNvSpPr>
          <p:nvPr>
            <p:ph type="sldNum" sz="quarter" idx="12"/>
          </p:nvPr>
        </p:nvSpPr>
        <p:spPr/>
        <p:txBody>
          <a:bodyPr/>
          <a:lstStyle/>
          <a:p>
            <a:fld id="{F74D7E6C-9B20-4593-B18C-8D2C7BEEFCA2}" type="slidenum">
              <a:rPr lang="en-GB" smtClean="0"/>
              <a:t>4</a:t>
            </a:fld>
            <a:endParaRPr lang="en-GB"/>
          </a:p>
        </p:txBody>
      </p:sp>
    </p:spTree>
    <p:extLst>
      <p:ext uri="{BB962C8B-B14F-4D97-AF65-F5344CB8AC3E}">
        <p14:creationId xmlns:p14="http://schemas.microsoft.com/office/powerpoint/2010/main" val="1366968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40BB-27D1-CA2A-C6D0-D23DA24F96D8}"/>
              </a:ext>
            </a:extLst>
          </p:cNvPr>
          <p:cNvSpPr>
            <a:spLocks noGrp="1"/>
          </p:cNvSpPr>
          <p:nvPr>
            <p:ph type="title"/>
          </p:nvPr>
        </p:nvSpPr>
        <p:spPr/>
        <p:txBody>
          <a:bodyPr/>
          <a:lstStyle/>
          <a:p>
            <a:r>
              <a:rPr lang="en-GB" dirty="0"/>
              <a:t>D09</a:t>
            </a:r>
          </a:p>
        </p:txBody>
      </p:sp>
      <p:sp>
        <p:nvSpPr>
          <p:cNvPr id="3" name="Content Placeholder 2">
            <a:extLst>
              <a:ext uri="{FF2B5EF4-FFF2-40B4-BE49-F238E27FC236}">
                <a16:creationId xmlns:a16="http://schemas.microsoft.com/office/drawing/2014/main" id="{BDC04191-FC95-D521-9692-B4C842FC91DA}"/>
              </a:ext>
            </a:extLst>
          </p:cNvPr>
          <p:cNvSpPr>
            <a:spLocks noGrp="1"/>
          </p:cNvSpPr>
          <p:nvPr>
            <p:ph idx="1"/>
          </p:nvPr>
        </p:nvSpPr>
        <p:spPr/>
        <p:txBody>
          <a:bodyPr>
            <a:normAutofit fontScale="77500" lnSpcReduction="20000"/>
          </a:bodyPr>
          <a:lstStyle/>
          <a:p>
            <a:r>
              <a:rPr lang="en-GB" dirty="0"/>
              <a:t>D9: Distinction criterion: Explains when they have challenged the norm through investigating and proposing a solution and the impact this had.</a:t>
            </a:r>
          </a:p>
          <a:p>
            <a:pPr marL="0" indent="0">
              <a:buNone/>
            </a:pPr>
            <a:r>
              <a:rPr lang="en-GB" dirty="0"/>
              <a:t>Clarification: This distinction level assessment criterion is asking the apprentice to demonstrate their ability to think critically and innovate by challenging established practices or norms.</a:t>
            </a:r>
          </a:p>
          <a:p>
            <a:pPr marL="0" lvl="0" indent="0">
              <a:buNone/>
            </a:pPr>
            <a:r>
              <a:rPr lang="en-GB" dirty="0"/>
              <a:t>Challenging the Norm: Describe a situation where they identified an existing practice, process, or belief that they felt needed improvement or change. This could be in any context, such as a business process, a technical approach, or a team dynamic.</a:t>
            </a:r>
          </a:p>
          <a:p>
            <a:pPr marL="0" lvl="0" indent="0">
              <a:buNone/>
            </a:pPr>
            <a:r>
              <a:rPr lang="en-GB" dirty="0"/>
              <a:t>Investigating: Explain how they conducted research or gathered data to understand the issue better. This might involve analysing data, consulting with experts, or reviewing relevant literature. The goal is to show that their challenge was based on informed insights rather than assumptions.</a:t>
            </a:r>
          </a:p>
          <a:p>
            <a:pPr marL="0" lvl="0" indent="0">
              <a:buNone/>
            </a:pPr>
            <a:r>
              <a:rPr lang="en-GB" dirty="0"/>
              <a:t>Proposing a Solution: Detail the solution they proposed to address the issue. Highlight the innovative aspects of their solution and how it differed from the existing norm. This could include new methodologies, technologies, or strategies.</a:t>
            </a:r>
          </a:p>
          <a:p>
            <a:pPr marL="0" lvl="0" indent="0">
              <a:buNone/>
            </a:pPr>
            <a:r>
              <a:rPr lang="en-GB" dirty="0"/>
              <a:t>Impact: Discuss the impact of their proposed solution. This could involve improvements in efficiency, cost savings, enhanced performance, or other measurable benefits. Be specific about the positive outcomes and how they validated their approach.</a:t>
            </a:r>
          </a:p>
          <a:p>
            <a:endParaRPr lang="en-GB" dirty="0"/>
          </a:p>
        </p:txBody>
      </p:sp>
      <p:sp>
        <p:nvSpPr>
          <p:cNvPr id="4" name="Slide Number Placeholder 3">
            <a:extLst>
              <a:ext uri="{FF2B5EF4-FFF2-40B4-BE49-F238E27FC236}">
                <a16:creationId xmlns:a16="http://schemas.microsoft.com/office/drawing/2014/main" id="{CADABFF6-70DD-1FD6-5F2E-C35278159098}"/>
              </a:ext>
            </a:extLst>
          </p:cNvPr>
          <p:cNvSpPr>
            <a:spLocks noGrp="1"/>
          </p:cNvSpPr>
          <p:nvPr>
            <p:ph type="sldNum" sz="quarter" idx="12"/>
          </p:nvPr>
        </p:nvSpPr>
        <p:spPr/>
        <p:txBody>
          <a:bodyPr/>
          <a:lstStyle/>
          <a:p>
            <a:fld id="{F74D7E6C-9B20-4593-B18C-8D2C7BEEFCA2}" type="slidenum">
              <a:rPr lang="en-GB" smtClean="0"/>
              <a:t>5</a:t>
            </a:fld>
            <a:endParaRPr lang="en-GB"/>
          </a:p>
        </p:txBody>
      </p:sp>
    </p:spTree>
    <p:extLst>
      <p:ext uri="{BB962C8B-B14F-4D97-AF65-F5344CB8AC3E}">
        <p14:creationId xmlns:p14="http://schemas.microsoft.com/office/powerpoint/2010/main" val="350547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376D-B6DC-112D-FD18-C9A0D6902837}"/>
              </a:ext>
            </a:extLst>
          </p:cNvPr>
          <p:cNvSpPr>
            <a:spLocks noGrp="1"/>
          </p:cNvSpPr>
          <p:nvPr>
            <p:ph type="title"/>
          </p:nvPr>
        </p:nvSpPr>
        <p:spPr/>
        <p:txBody>
          <a:bodyPr/>
          <a:lstStyle/>
          <a:p>
            <a:r>
              <a:rPr lang="en-GB" dirty="0"/>
              <a:t>Today’s Objectives</a:t>
            </a:r>
          </a:p>
        </p:txBody>
      </p:sp>
      <p:sp>
        <p:nvSpPr>
          <p:cNvPr id="3" name="Content Placeholder 2">
            <a:extLst>
              <a:ext uri="{FF2B5EF4-FFF2-40B4-BE49-F238E27FC236}">
                <a16:creationId xmlns:a16="http://schemas.microsoft.com/office/drawing/2014/main" id="{FE326B8B-F3DD-9A69-43C7-AC47F9B159E8}"/>
              </a:ext>
            </a:extLst>
          </p:cNvPr>
          <p:cNvSpPr>
            <a:spLocks noGrp="1"/>
          </p:cNvSpPr>
          <p:nvPr>
            <p:ph idx="1"/>
          </p:nvPr>
        </p:nvSpPr>
        <p:spPr>
          <a:xfrm>
            <a:off x="400050" y="1846926"/>
            <a:ext cx="11563350" cy="4020474"/>
          </a:xfrm>
        </p:spPr>
        <p:txBody>
          <a:bodyPr>
            <a:normAutofit fontScale="92500" lnSpcReduction="10000"/>
          </a:bodyPr>
          <a:lstStyle/>
          <a:p>
            <a:r>
              <a:rPr lang="en-GB" sz="3600" dirty="0"/>
              <a:t>Understand :</a:t>
            </a:r>
          </a:p>
          <a:p>
            <a:pPr lvl="1"/>
            <a:r>
              <a:rPr lang="en-GB" sz="3600" dirty="0"/>
              <a:t>variance and covariance and correlation</a:t>
            </a:r>
          </a:p>
          <a:p>
            <a:r>
              <a:rPr lang="en-GB" sz="3600" dirty="0"/>
              <a:t>Validate the Linear Regression assumptions:</a:t>
            </a:r>
          </a:p>
          <a:p>
            <a:pPr lvl="1"/>
            <a:r>
              <a:rPr lang="en-GB" sz="3400" dirty="0"/>
              <a:t>Multicollinearity(use different methods to reduce it)</a:t>
            </a:r>
          </a:p>
          <a:p>
            <a:pPr lvl="1"/>
            <a:r>
              <a:rPr lang="en-GB" sz="3400" dirty="0"/>
              <a:t>Linearity</a:t>
            </a:r>
          </a:p>
          <a:p>
            <a:pPr lvl="1"/>
            <a:r>
              <a:rPr lang="en-GB" sz="3400" dirty="0"/>
              <a:t>Mean of Residuals</a:t>
            </a:r>
          </a:p>
          <a:p>
            <a:pPr lvl="1"/>
            <a:r>
              <a:rPr lang="en-GB" sz="3600" dirty="0"/>
              <a:t>Homoscedasticity</a:t>
            </a:r>
          </a:p>
          <a:p>
            <a:pPr lvl="1"/>
            <a:r>
              <a:rPr lang="en-GB" sz="3600" dirty="0"/>
              <a:t>Normality of Errors</a:t>
            </a:r>
            <a:endParaRPr lang="en-GB" sz="3400" dirty="0"/>
          </a:p>
          <a:p>
            <a:pPr lvl="1"/>
            <a:endParaRPr lang="en-GB" sz="3400" dirty="0"/>
          </a:p>
          <a:p>
            <a:pPr lvl="1"/>
            <a:endParaRPr lang="en-GB" sz="3400" dirty="0"/>
          </a:p>
          <a:p>
            <a:pPr algn="r"/>
            <a:endParaRPr lang="en-GB" sz="3600" dirty="0"/>
          </a:p>
          <a:p>
            <a:pPr algn="r"/>
            <a:endParaRPr lang="en-GB" sz="3600" dirty="0"/>
          </a:p>
          <a:p>
            <a:pPr algn="r"/>
            <a:endParaRPr lang="en-GB" sz="3600" dirty="0"/>
          </a:p>
        </p:txBody>
      </p:sp>
      <p:sp>
        <p:nvSpPr>
          <p:cNvPr id="4" name="Slide Number Placeholder 3">
            <a:extLst>
              <a:ext uri="{FF2B5EF4-FFF2-40B4-BE49-F238E27FC236}">
                <a16:creationId xmlns:a16="http://schemas.microsoft.com/office/drawing/2014/main" id="{FE12ABB5-903B-640E-C3CB-C7A28E6D2624}"/>
              </a:ext>
            </a:extLst>
          </p:cNvPr>
          <p:cNvSpPr>
            <a:spLocks noGrp="1"/>
          </p:cNvSpPr>
          <p:nvPr>
            <p:ph type="sldNum" sz="quarter" idx="12"/>
          </p:nvPr>
        </p:nvSpPr>
        <p:spPr/>
        <p:txBody>
          <a:bodyPr/>
          <a:lstStyle/>
          <a:p>
            <a:fld id="{F74D7E6C-9B20-4593-B18C-8D2C7BEEFCA2}" type="slidenum">
              <a:rPr lang="en-GB" smtClean="0"/>
              <a:t>6</a:t>
            </a:fld>
            <a:endParaRPr lang="en-GB"/>
          </a:p>
        </p:txBody>
      </p:sp>
    </p:spTree>
    <p:extLst>
      <p:ext uri="{BB962C8B-B14F-4D97-AF65-F5344CB8AC3E}">
        <p14:creationId xmlns:p14="http://schemas.microsoft.com/office/powerpoint/2010/main" val="422774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D00D2-3F16-9049-1C7D-25DC2EB6906B}"/>
              </a:ext>
            </a:extLst>
          </p:cNvPr>
          <p:cNvSpPr>
            <a:spLocks noGrp="1"/>
          </p:cNvSpPr>
          <p:nvPr>
            <p:ph type="title"/>
          </p:nvPr>
        </p:nvSpPr>
        <p:spPr/>
        <p:txBody>
          <a:bodyPr>
            <a:normAutofit/>
          </a:bodyPr>
          <a:lstStyle/>
          <a:p>
            <a:r>
              <a:rPr lang="en-GB" dirty="0"/>
              <a:t>Covariance and Correlation(recap)</a:t>
            </a:r>
          </a:p>
        </p:txBody>
      </p:sp>
      <p:sp>
        <p:nvSpPr>
          <p:cNvPr id="3" name="Text Placeholder 2">
            <a:extLst>
              <a:ext uri="{FF2B5EF4-FFF2-40B4-BE49-F238E27FC236}">
                <a16:creationId xmlns:a16="http://schemas.microsoft.com/office/drawing/2014/main" id="{A7E5C249-CC2E-CD99-BDD4-EAB8E71EB48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ED4D42B-19E5-DCAD-486D-C2D3B8223F86}"/>
              </a:ext>
            </a:extLst>
          </p:cNvPr>
          <p:cNvSpPr>
            <a:spLocks noGrp="1"/>
          </p:cNvSpPr>
          <p:nvPr>
            <p:ph type="sldNum" sz="quarter" idx="12"/>
          </p:nvPr>
        </p:nvSpPr>
        <p:spPr/>
        <p:txBody>
          <a:bodyPr/>
          <a:lstStyle/>
          <a:p>
            <a:fld id="{F74D7E6C-9B20-4593-B18C-8D2C7BEEFCA2}" type="slidenum">
              <a:rPr lang="en-GB" smtClean="0"/>
              <a:t>7</a:t>
            </a:fld>
            <a:endParaRPr lang="en-GB"/>
          </a:p>
        </p:txBody>
      </p:sp>
    </p:spTree>
    <p:extLst>
      <p:ext uri="{BB962C8B-B14F-4D97-AF65-F5344CB8AC3E}">
        <p14:creationId xmlns:p14="http://schemas.microsoft.com/office/powerpoint/2010/main" val="1844134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8</a:t>
            </a:fld>
            <a:endParaRPr lang="en-GB"/>
          </a:p>
        </p:txBody>
      </p:sp>
      <p:pic>
        <p:nvPicPr>
          <p:cNvPr id="3" name="Picture 2" descr="A picture containing table&#10;&#10;Description automatically generated">
            <a:extLst>
              <a:ext uri="{FF2B5EF4-FFF2-40B4-BE49-F238E27FC236}">
                <a16:creationId xmlns:a16="http://schemas.microsoft.com/office/drawing/2014/main" id="{04C6FAEA-DF5A-6B55-0DBD-9E73A5DE8950}"/>
              </a:ext>
            </a:extLst>
          </p:cNvPr>
          <p:cNvPicPr>
            <a:picLocks noChangeAspect="1"/>
          </p:cNvPicPr>
          <p:nvPr/>
        </p:nvPicPr>
        <p:blipFill>
          <a:blip r:embed="rId2"/>
          <a:stretch>
            <a:fillRect/>
          </a:stretch>
        </p:blipFill>
        <p:spPr>
          <a:xfrm>
            <a:off x="88829" y="2290620"/>
            <a:ext cx="12023054" cy="2971517"/>
          </a:xfrm>
          <a:prstGeom prst="rect">
            <a:avLst/>
          </a:prstGeom>
        </p:spPr>
      </p:pic>
    </p:spTree>
    <p:extLst>
      <p:ext uri="{BB962C8B-B14F-4D97-AF65-F5344CB8AC3E}">
        <p14:creationId xmlns:p14="http://schemas.microsoft.com/office/powerpoint/2010/main" val="216408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9</a:t>
            </a:fld>
            <a:endParaRPr lang="en-GB"/>
          </a:p>
        </p:txBody>
      </p:sp>
      <p:sp>
        <p:nvSpPr>
          <p:cNvPr id="5" name="TextBox 4">
            <a:extLst>
              <a:ext uri="{FF2B5EF4-FFF2-40B4-BE49-F238E27FC236}">
                <a16:creationId xmlns:a16="http://schemas.microsoft.com/office/drawing/2014/main" id="{D99B9B1F-8611-B98D-7A1A-7327BED4C84B}"/>
              </a:ext>
            </a:extLst>
          </p:cNvPr>
          <p:cNvSpPr txBox="1"/>
          <p:nvPr/>
        </p:nvSpPr>
        <p:spPr>
          <a:xfrm>
            <a:off x="146927" y="1488094"/>
            <a:ext cx="11884652" cy="2677656"/>
          </a:xfrm>
          <a:prstGeom prst="rect">
            <a:avLst/>
          </a:prstGeom>
          <a:noFill/>
        </p:spPr>
        <p:txBody>
          <a:bodyPr wrap="square" rtlCol="0">
            <a:spAutoFit/>
          </a:bodyPr>
          <a:lstStyle/>
          <a:p>
            <a:r>
              <a:rPr lang="en-GB" sz="2400" dirty="0">
                <a:solidFill>
                  <a:schemeClr val="accent1"/>
                </a:solidFill>
              </a:rPr>
              <a:t>Covariance</a:t>
            </a:r>
            <a:r>
              <a:rPr lang="en-GB" sz="2400" dirty="0">
                <a:solidFill>
                  <a:schemeClr val="bg1">
                    <a:lumMod val="95000"/>
                  </a:schemeClr>
                </a:solidFill>
              </a:rPr>
              <a:t> is a measure of the joint variability of two variables. </a:t>
            </a:r>
          </a:p>
          <a:p>
            <a:endParaRPr lang="en-GB" sz="2400" dirty="0">
              <a:solidFill>
                <a:schemeClr val="bg1">
                  <a:lumMod val="95000"/>
                </a:schemeClr>
              </a:solidFill>
            </a:endParaRPr>
          </a:p>
          <a:p>
            <a:r>
              <a:rPr lang="en-GB" sz="2400" dirty="0">
                <a:solidFill>
                  <a:schemeClr val="bg1">
                    <a:lumMod val="95000"/>
                  </a:schemeClr>
                </a:solidFill>
              </a:rPr>
              <a:t>Suppose the greater values of one variable mainly correspond with the greater values of the other variable, and the same is for the lesser values. </a:t>
            </a:r>
          </a:p>
          <a:p>
            <a:endParaRPr lang="en-GB" sz="2400" dirty="0">
              <a:solidFill>
                <a:schemeClr val="bg1">
                  <a:lumMod val="95000"/>
                </a:schemeClr>
              </a:solidFill>
            </a:endParaRPr>
          </a:p>
          <a:p>
            <a:r>
              <a:rPr lang="en-GB" sz="2400" dirty="0">
                <a:solidFill>
                  <a:schemeClr val="bg1">
                    <a:lumMod val="95000"/>
                  </a:schemeClr>
                </a:solidFill>
              </a:rPr>
              <a:t>In that case, these variables tend to show similar behaviour. Thus, we will say that our covariance is positive.</a:t>
            </a:r>
          </a:p>
        </p:txBody>
      </p:sp>
      <p:pic>
        <p:nvPicPr>
          <p:cNvPr id="6" name="Picture 5">
            <a:extLst>
              <a:ext uri="{FF2B5EF4-FFF2-40B4-BE49-F238E27FC236}">
                <a16:creationId xmlns:a16="http://schemas.microsoft.com/office/drawing/2014/main" id="{C7995737-FA0B-066D-687F-9B3D359D6C06}"/>
              </a:ext>
            </a:extLst>
          </p:cNvPr>
          <p:cNvPicPr>
            <a:picLocks noChangeAspect="1"/>
          </p:cNvPicPr>
          <p:nvPr/>
        </p:nvPicPr>
        <p:blipFill>
          <a:blip r:embed="rId2"/>
          <a:stretch>
            <a:fillRect/>
          </a:stretch>
        </p:blipFill>
        <p:spPr>
          <a:xfrm>
            <a:off x="264364" y="4377991"/>
            <a:ext cx="11663271" cy="1367122"/>
          </a:xfrm>
          <a:prstGeom prst="rect">
            <a:avLst/>
          </a:prstGeom>
        </p:spPr>
      </p:pic>
    </p:spTree>
    <p:extLst>
      <p:ext uri="{BB962C8B-B14F-4D97-AF65-F5344CB8AC3E}">
        <p14:creationId xmlns:p14="http://schemas.microsoft.com/office/powerpoint/2010/main" val="748029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10</a:t>
            </a:fld>
            <a:endParaRPr lang="en-GB"/>
          </a:p>
        </p:txBody>
      </p:sp>
      <p:sp>
        <p:nvSpPr>
          <p:cNvPr id="3" name="TextBox 2">
            <a:extLst>
              <a:ext uri="{FF2B5EF4-FFF2-40B4-BE49-F238E27FC236}">
                <a16:creationId xmlns:a16="http://schemas.microsoft.com/office/drawing/2014/main" id="{93763323-9248-8830-440D-1933887431B6}"/>
              </a:ext>
            </a:extLst>
          </p:cNvPr>
          <p:cNvSpPr txBox="1"/>
          <p:nvPr/>
        </p:nvSpPr>
        <p:spPr>
          <a:xfrm>
            <a:off x="177569" y="1413486"/>
            <a:ext cx="11934314" cy="3416320"/>
          </a:xfrm>
          <a:prstGeom prst="rect">
            <a:avLst/>
          </a:prstGeom>
          <a:noFill/>
        </p:spPr>
        <p:txBody>
          <a:bodyPr wrap="square" rtlCol="0">
            <a:spAutoFit/>
          </a:bodyPr>
          <a:lstStyle/>
          <a:p>
            <a:r>
              <a:rPr lang="en-GB" sz="2400" dirty="0">
                <a:solidFill>
                  <a:schemeClr val="accent1"/>
                </a:solidFill>
              </a:rPr>
              <a:t>Covariance</a:t>
            </a:r>
            <a:r>
              <a:rPr lang="en-GB" sz="2400" dirty="0">
                <a:solidFill>
                  <a:schemeClr val="bg1">
                    <a:lumMod val="95000"/>
                  </a:schemeClr>
                </a:solidFill>
              </a:rPr>
              <a:t> ranges between negative and positive infinity, and it only indicates whether two variables are inversely or positively related. </a:t>
            </a:r>
          </a:p>
          <a:p>
            <a:r>
              <a:rPr lang="en-GB" sz="2400" dirty="0">
                <a:solidFill>
                  <a:schemeClr val="bg1">
                    <a:lumMod val="95000"/>
                  </a:schemeClr>
                </a:solidFill>
              </a:rPr>
              <a:t>But it isn't easy to know if a relationship between two variables is stronger than the relationship between other pairs of variables. </a:t>
            </a:r>
          </a:p>
          <a:p>
            <a:r>
              <a:rPr lang="en-GB" sz="2400" dirty="0">
                <a:solidFill>
                  <a:schemeClr val="bg1">
                    <a:lumMod val="95000"/>
                  </a:schemeClr>
                </a:solidFill>
              </a:rPr>
              <a:t>This is where the concept of correlation comes in.</a:t>
            </a:r>
          </a:p>
          <a:p>
            <a:r>
              <a:rPr lang="en-GB" sz="2400" dirty="0">
                <a:solidFill>
                  <a:schemeClr val="accent1"/>
                </a:solidFill>
              </a:rPr>
              <a:t>Correlation</a:t>
            </a:r>
            <a:r>
              <a:rPr lang="en-GB" sz="2400" dirty="0">
                <a:solidFill>
                  <a:schemeClr val="bg1">
                    <a:lumMod val="95000"/>
                  </a:schemeClr>
                </a:solidFill>
              </a:rPr>
              <a:t> is calculated by standardising the covariance by some measure of variability in the data. It produces a quantity that has intuitive interpretations and a consistent unit of measurement.</a:t>
            </a:r>
          </a:p>
          <a:p>
            <a:r>
              <a:rPr lang="en-GB" sz="2400" dirty="0">
                <a:solidFill>
                  <a:schemeClr val="bg1">
                    <a:lumMod val="95000"/>
                  </a:schemeClr>
                </a:solidFill>
              </a:rPr>
              <a:t>There are many correlation coefficients, but for now, we will focus on the Pearson correlation.</a:t>
            </a:r>
          </a:p>
        </p:txBody>
      </p:sp>
      <p:pic>
        <p:nvPicPr>
          <p:cNvPr id="7" name="Picture 6" descr="Text&#10;&#10;Description automatically generated with medium confidence">
            <a:extLst>
              <a:ext uri="{FF2B5EF4-FFF2-40B4-BE49-F238E27FC236}">
                <a16:creationId xmlns:a16="http://schemas.microsoft.com/office/drawing/2014/main" id="{0BF6C6BA-44FB-40D0-306B-FC123EA36EEC}"/>
              </a:ext>
            </a:extLst>
          </p:cNvPr>
          <p:cNvPicPr>
            <a:picLocks noChangeAspect="1"/>
          </p:cNvPicPr>
          <p:nvPr/>
        </p:nvPicPr>
        <p:blipFill>
          <a:blip r:embed="rId2"/>
          <a:stretch>
            <a:fillRect/>
          </a:stretch>
        </p:blipFill>
        <p:spPr>
          <a:xfrm>
            <a:off x="2783694" y="4981172"/>
            <a:ext cx="6168154" cy="1740302"/>
          </a:xfrm>
          <a:prstGeom prst="rect">
            <a:avLst/>
          </a:prstGeom>
        </p:spPr>
      </p:pic>
    </p:spTree>
    <p:extLst>
      <p:ext uri="{BB962C8B-B14F-4D97-AF65-F5344CB8AC3E}">
        <p14:creationId xmlns:p14="http://schemas.microsoft.com/office/powerpoint/2010/main" val="748904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11</a:t>
            </a:fld>
            <a:endParaRPr lang="en-GB"/>
          </a:p>
        </p:txBody>
      </p:sp>
      <p:pic>
        <p:nvPicPr>
          <p:cNvPr id="5" name="Picture 4" descr="Diagram, scatter chart&#10;&#10;Description automatically generated">
            <a:extLst>
              <a:ext uri="{FF2B5EF4-FFF2-40B4-BE49-F238E27FC236}">
                <a16:creationId xmlns:a16="http://schemas.microsoft.com/office/drawing/2014/main" id="{48551C1F-B595-D6A7-415F-3D7E5D7120BC}"/>
              </a:ext>
            </a:extLst>
          </p:cNvPr>
          <p:cNvPicPr>
            <a:picLocks noChangeAspect="1"/>
          </p:cNvPicPr>
          <p:nvPr/>
        </p:nvPicPr>
        <p:blipFill>
          <a:blip r:embed="rId2"/>
          <a:stretch>
            <a:fillRect/>
          </a:stretch>
        </p:blipFill>
        <p:spPr>
          <a:xfrm>
            <a:off x="1179713" y="2070824"/>
            <a:ext cx="9832573" cy="4490208"/>
          </a:xfrm>
          <a:prstGeom prst="rect">
            <a:avLst/>
          </a:prstGeom>
        </p:spPr>
      </p:pic>
      <p:sp>
        <p:nvSpPr>
          <p:cNvPr id="6" name="TextBox 5">
            <a:extLst>
              <a:ext uri="{FF2B5EF4-FFF2-40B4-BE49-F238E27FC236}">
                <a16:creationId xmlns:a16="http://schemas.microsoft.com/office/drawing/2014/main" id="{7D8D3CD4-F320-D2D0-4B1B-EB6450326AC5}"/>
              </a:ext>
            </a:extLst>
          </p:cNvPr>
          <p:cNvSpPr txBox="1"/>
          <p:nvPr/>
        </p:nvSpPr>
        <p:spPr>
          <a:xfrm>
            <a:off x="852854" y="1468315"/>
            <a:ext cx="5380892" cy="523220"/>
          </a:xfrm>
          <a:prstGeom prst="rect">
            <a:avLst/>
          </a:prstGeom>
          <a:noFill/>
        </p:spPr>
        <p:txBody>
          <a:bodyPr wrap="square" rtlCol="0">
            <a:spAutoFit/>
          </a:bodyPr>
          <a:lstStyle/>
          <a:p>
            <a:r>
              <a:rPr lang="en-GB" sz="2800" dirty="0">
                <a:solidFill>
                  <a:schemeClr val="accent1"/>
                </a:solidFill>
              </a:rPr>
              <a:t>Linear and non-linear relationships</a:t>
            </a:r>
          </a:p>
        </p:txBody>
      </p:sp>
    </p:spTree>
    <p:extLst>
      <p:ext uri="{BB962C8B-B14F-4D97-AF65-F5344CB8AC3E}">
        <p14:creationId xmlns:p14="http://schemas.microsoft.com/office/powerpoint/2010/main" val="391864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12</a:t>
            </a:fld>
            <a:endParaRPr lang="en-GB"/>
          </a:p>
        </p:txBody>
      </p:sp>
      <p:sp>
        <p:nvSpPr>
          <p:cNvPr id="6" name="TextBox 5">
            <a:extLst>
              <a:ext uri="{FF2B5EF4-FFF2-40B4-BE49-F238E27FC236}">
                <a16:creationId xmlns:a16="http://schemas.microsoft.com/office/drawing/2014/main" id="{7D8D3CD4-F320-D2D0-4B1B-EB6450326AC5}"/>
              </a:ext>
            </a:extLst>
          </p:cNvPr>
          <p:cNvSpPr txBox="1"/>
          <p:nvPr/>
        </p:nvSpPr>
        <p:spPr>
          <a:xfrm>
            <a:off x="852854" y="1468315"/>
            <a:ext cx="5380892" cy="523220"/>
          </a:xfrm>
          <a:prstGeom prst="rect">
            <a:avLst/>
          </a:prstGeom>
          <a:noFill/>
        </p:spPr>
        <p:txBody>
          <a:bodyPr wrap="square" rtlCol="0">
            <a:spAutoFit/>
          </a:bodyPr>
          <a:lstStyle/>
          <a:p>
            <a:r>
              <a:rPr lang="en-GB" sz="2800" dirty="0">
                <a:solidFill>
                  <a:schemeClr val="accent1"/>
                </a:solidFill>
              </a:rPr>
              <a:t>Correlation is not causation</a:t>
            </a:r>
          </a:p>
        </p:txBody>
      </p:sp>
      <p:sp>
        <p:nvSpPr>
          <p:cNvPr id="3" name="TextBox 2">
            <a:extLst>
              <a:ext uri="{FF2B5EF4-FFF2-40B4-BE49-F238E27FC236}">
                <a16:creationId xmlns:a16="http://schemas.microsoft.com/office/drawing/2014/main" id="{0A4BB4E5-CD6B-3C7C-CFF1-8107621DF0A1}"/>
              </a:ext>
            </a:extLst>
          </p:cNvPr>
          <p:cNvSpPr txBox="1"/>
          <p:nvPr/>
        </p:nvSpPr>
        <p:spPr>
          <a:xfrm>
            <a:off x="395654" y="1942865"/>
            <a:ext cx="11473962" cy="3785652"/>
          </a:xfrm>
          <a:prstGeom prst="rect">
            <a:avLst/>
          </a:prstGeom>
          <a:noFill/>
        </p:spPr>
        <p:txBody>
          <a:bodyPr wrap="square" rtlCol="0">
            <a:spAutoFit/>
          </a:bodyPr>
          <a:lstStyle/>
          <a:p>
            <a:r>
              <a:rPr lang="en-GB" sz="2400" dirty="0">
                <a:solidFill>
                  <a:schemeClr val="accent1"/>
                </a:solidFill>
              </a:rPr>
              <a:t>Causation</a:t>
            </a:r>
            <a:r>
              <a:rPr lang="en-GB" sz="2400" dirty="0">
                <a:solidFill>
                  <a:schemeClr val="bg1">
                    <a:lumMod val="95000"/>
                  </a:schemeClr>
                </a:solidFill>
              </a:rPr>
              <a:t> occurs when a change in the value of one variable leads to a change in the value of another variable, indicating that one variable causes the change in the other. In other words, they have a cause-and-effect relationship.</a:t>
            </a:r>
          </a:p>
          <a:p>
            <a:endParaRPr lang="en-GB" sz="2400" dirty="0">
              <a:solidFill>
                <a:schemeClr val="bg1">
                  <a:lumMod val="95000"/>
                </a:schemeClr>
              </a:solidFill>
            </a:endParaRPr>
          </a:p>
          <a:p>
            <a:r>
              <a:rPr lang="en-GB" sz="2400" dirty="0">
                <a:solidFill>
                  <a:schemeClr val="bg1">
                    <a:lumMod val="95000"/>
                  </a:schemeClr>
                </a:solidFill>
              </a:rPr>
              <a:t>Check this website for some insane correlations: </a:t>
            </a:r>
            <a:r>
              <a:rPr lang="en-GB" sz="2400" dirty="0">
                <a:solidFill>
                  <a:schemeClr val="bg1">
                    <a:lumMod val="95000"/>
                  </a:schemeClr>
                </a:solidFill>
                <a:hlinkClick r:id="rId2">
                  <a:extLst>
                    <a:ext uri="{A12FA001-AC4F-418D-AE19-62706E023703}">
                      <ahyp:hlinkClr xmlns:ahyp="http://schemas.microsoft.com/office/drawing/2018/hyperlinkcolor" val="tx"/>
                    </a:ext>
                  </a:extLst>
                </a:hlinkClick>
              </a:rPr>
              <a:t>https://www.tylervigen.com/spurious-correlations</a:t>
            </a:r>
            <a:endParaRPr lang="en-GB" sz="2400" dirty="0">
              <a:solidFill>
                <a:schemeClr val="bg1">
                  <a:lumMod val="95000"/>
                </a:schemeClr>
              </a:solidFill>
            </a:endParaRPr>
          </a:p>
          <a:p>
            <a:endParaRPr lang="en-GB" sz="2400" dirty="0">
              <a:solidFill>
                <a:schemeClr val="bg1">
                  <a:lumMod val="95000"/>
                </a:schemeClr>
              </a:solidFill>
            </a:endParaRPr>
          </a:p>
          <a:p>
            <a:r>
              <a:rPr lang="en-GB" sz="2400" dirty="0">
                <a:solidFill>
                  <a:schemeClr val="bg1">
                    <a:lumMod val="95000"/>
                  </a:schemeClr>
                </a:solidFill>
              </a:rPr>
              <a:t>Therefore, we cannot draw a conclusion based solely on correlation. This should be just the first step. We should take the time to identify other underlying factors, verify their accuracy, and then draw a conclusion.</a:t>
            </a:r>
          </a:p>
        </p:txBody>
      </p:sp>
    </p:spTree>
    <p:extLst>
      <p:ext uri="{BB962C8B-B14F-4D97-AF65-F5344CB8AC3E}">
        <p14:creationId xmlns:p14="http://schemas.microsoft.com/office/powerpoint/2010/main" val="3658722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54494-56E5-0320-ECC3-875839DC750A}"/>
              </a:ext>
            </a:extLst>
          </p:cNvPr>
          <p:cNvSpPr>
            <a:spLocks noGrp="1"/>
          </p:cNvSpPr>
          <p:nvPr>
            <p:ph type="title"/>
          </p:nvPr>
        </p:nvSpPr>
        <p:spPr/>
        <p:txBody>
          <a:bodyPr/>
          <a:lstStyle/>
          <a:p>
            <a:r>
              <a:rPr lang="en-GB" dirty="0"/>
              <a:t>Linear Regression Assumptions</a:t>
            </a:r>
          </a:p>
        </p:txBody>
      </p:sp>
      <p:sp>
        <p:nvSpPr>
          <p:cNvPr id="3" name="Text Placeholder 2">
            <a:extLst>
              <a:ext uri="{FF2B5EF4-FFF2-40B4-BE49-F238E27FC236}">
                <a16:creationId xmlns:a16="http://schemas.microsoft.com/office/drawing/2014/main" id="{1FABA76F-D426-43FB-FA2B-2881155962C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0ABD61C-0F40-9228-8A46-51BF85403340}"/>
              </a:ext>
            </a:extLst>
          </p:cNvPr>
          <p:cNvSpPr>
            <a:spLocks noGrp="1"/>
          </p:cNvSpPr>
          <p:nvPr>
            <p:ph type="sldNum" sz="quarter" idx="12"/>
          </p:nvPr>
        </p:nvSpPr>
        <p:spPr/>
        <p:txBody>
          <a:bodyPr/>
          <a:lstStyle/>
          <a:p>
            <a:fld id="{F74D7E6C-9B20-4593-B18C-8D2C7BEEFCA2}" type="slidenum">
              <a:rPr lang="en-GB" smtClean="0"/>
              <a:t>13</a:t>
            </a:fld>
            <a:endParaRPr lang="en-GB"/>
          </a:p>
        </p:txBody>
      </p:sp>
    </p:spTree>
    <p:extLst>
      <p:ext uri="{BB962C8B-B14F-4D97-AF65-F5344CB8AC3E}">
        <p14:creationId xmlns:p14="http://schemas.microsoft.com/office/powerpoint/2010/main" val="2441080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EF3BE-633F-1840-6E13-BC6C37308846}"/>
              </a:ext>
            </a:extLst>
          </p:cNvPr>
          <p:cNvSpPr>
            <a:spLocks noGrp="1"/>
          </p:cNvSpPr>
          <p:nvPr>
            <p:ph type="title"/>
          </p:nvPr>
        </p:nvSpPr>
        <p:spPr/>
        <p:txBody>
          <a:bodyPr/>
          <a:lstStyle/>
          <a:p>
            <a:r>
              <a:rPr lang="en-GB" dirty="0"/>
              <a:t>Assumptions</a:t>
            </a:r>
          </a:p>
        </p:txBody>
      </p:sp>
      <p:sp>
        <p:nvSpPr>
          <p:cNvPr id="3" name="Content Placeholder 2">
            <a:extLst>
              <a:ext uri="{FF2B5EF4-FFF2-40B4-BE49-F238E27FC236}">
                <a16:creationId xmlns:a16="http://schemas.microsoft.com/office/drawing/2014/main" id="{FE36A08E-8136-38F3-C320-E7BADC2AF4DD}"/>
              </a:ext>
            </a:extLst>
          </p:cNvPr>
          <p:cNvSpPr>
            <a:spLocks noGrp="1"/>
          </p:cNvSpPr>
          <p:nvPr>
            <p:ph idx="1"/>
          </p:nvPr>
        </p:nvSpPr>
        <p:spPr/>
        <p:txBody>
          <a:bodyPr>
            <a:normAutofit lnSpcReduction="10000"/>
          </a:bodyPr>
          <a:lstStyle/>
          <a:p>
            <a:pPr marL="457200" indent="-457200" algn="l">
              <a:buFont typeface="Arial" panose="020B0604020202020204" pitchFamily="34" charset="0"/>
              <a:buChar char="•"/>
            </a:pPr>
            <a:r>
              <a:rPr lang="en-GB" sz="2800" b="0" i="0" dirty="0">
                <a:solidFill>
                  <a:schemeClr val="accent1"/>
                </a:solidFill>
                <a:effectLst/>
                <a:latin typeface="Helvetica Neue"/>
              </a:rPr>
              <a:t>Linearity</a:t>
            </a:r>
            <a:r>
              <a:rPr lang="en-GB" sz="2800" b="0" i="0" dirty="0">
                <a:effectLst/>
                <a:latin typeface="Helvetica Neue"/>
              </a:rPr>
              <a:t> – the relationship between X and the mean of Y is linear.</a:t>
            </a:r>
          </a:p>
          <a:p>
            <a:pPr marL="457200" indent="-457200" algn="l">
              <a:buFont typeface="Arial" panose="020B0604020202020204" pitchFamily="34" charset="0"/>
              <a:buChar char="•"/>
            </a:pPr>
            <a:endParaRPr lang="en-GB" sz="2800" b="0" i="0" dirty="0">
              <a:effectLst/>
              <a:latin typeface="Helvetica Neue"/>
            </a:endParaRPr>
          </a:p>
          <a:p>
            <a:pPr marL="457200" indent="-457200" algn="l">
              <a:buFont typeface="Arial" panose="020B0604020202020204" pitchFamily="34" charset="0"/>
              <a:buChar char="•"/>
            </a:pPr>
            <a:r>
              <a:rPr lang="en-GB" sz="2800" dirty="0">
                <a:solidFill>
                  <a:schemeClr val="accent1"/>
                </a:solidFill>
                <a:latin typeface="Helvetica Neue"/>
              </a:rPr>
              <a:t>Mean of Residuals </a:t>
            </a:r>
            <a:r>
              <a:rPr lang="en-GB" sz="2800" dirty="0">
                <a:latin typeface="Helvetica Neue"/>
              </a:rPr>
              <a:t>- </a:t>
            </a:r>
            <a:r>
              <a:rPr lang="en-GB" sz="2800" b="0" i="0" dirty="0">
                <a:effectLst/>
                <a:latin typeface="Helvetica Neue"/>
              </a:rPr>
              <a:t>The mean of residuals should be zero.</a:t>
            </a:r>
          </a:p>
          <a:p>
            <a:pPr marL="457200" indent="-457200" algn="l">
              <a:buFont typeface="Arial" panose="020B0604020202020204" pitchFamily="34" charset="0"/>
              <a:buChar char="•"/>
            </a:pPr>
            <a:endParaRPr lang="en-GB" sz="2800" dirty="0">
              <a:latin typeface="Helvetica Neue"/>
            </a:endParaRPr>
          </a:p>
          <a:p>
            <a:pPr marL="457200" indent="-457200" algn="l">
              <a:buFont typeface="Arial" panose="020B0604020202020204" pitchFamily="34" charset="0"/>
              <a:buChar char="•"/>
            </a:pPr>
            <a:r>
              <a:rPr lang="en-GB" sz="2800" b="0" i="0" dirty="0">
                <a:solidFill>
                  <a:schemeClr val="accent1"/>
                </a:solidFill>
                <a:effectLst/>
                <a:latin typeface="Helvetica Neue"/>
              </a:rPr>
              <a:t>Homoscedasticity</a:t>
            </a:r>
            <a:r>
              <a:rPr lang="en-GB" sz="2800" b="0" i="0" dirty="0">
                <a:effectLst/>
                <a:latin typeface="Helvetica Neue"/>
              </a:rPr>
              <a:t> - Homoscedasticity means that the residuals have equal or almost equal variance across the regression line.</a:t>
            </a:r>
          </a:p>
          <a:p>
            <a:pPr marL="457200" indent="-457200" algn="l">
              <a:buFont typeface="Arial" panose="020B0604020202020204" pitchFamily="34" charset="0"/>
              <a:buChar char="•"/>
            </a:pPr>
            <a:endParaRPr lang="en-GB" sz="2800" b="0" i="0" dirty="0">
              <a:effectLst/>
              <a:latin typeface="Helvetica Neue"/>
            </a:endParaRPr>
          </a:p>
          <a:p>
            <a:pPr marL="457200" indent="-457200" algn="l">
              <a:buFont typeface="Arial" panose="020B0604020202020204" pitchFamily="34" charset="0"/>
              <a:buChar char="•"/>
            </a:pPr>
            <a:r>
              <a:rPr lang="en-GB" sz="2800" dirty="0">
                <a:solidFill>
                  <a:schemeClr val="accent1"/>
                </a:solidFill>
                <a:latin typeface="Helvetica Neue"/>
              </a:rPr>
              <a:t>Normality of errors </a:t>
            </a:r>
            <a:r>
              <a:rPr lang="en-GB" sz="2800" dirty="0">
                <a:latin typeface="Helvetica Neue"/>
              </a:rPr>
              <a:t>– the errors should be normally distributed.</a:t>
            </a:r>
          </a:p>
          <a:p>
            <a:pPr marL="457200" indent="-457200" algn="l">
              <a:buFont typeface="Arial" panose="020B0604020202020204" pitchFamily="34" charset="0"/>
              <a:buChar char="•"/>
            </a:pPr>
            <a:endParaRPr lang="en-GB" sz="2800" dirty="0">
              <a:latin typeface="Helvetica Neue"/>
            </a:endParaRPr>
          </a:p>
          <a:p>
            <a:pPr marL="457200" indent="-457200" algn="l">
              <a:buFont typeface="Arial" panose="020B0604020202020204" pitchFamily="34" charset="0"/>
              <a:buChar char="•"/>
            </a:pPr>
            <a:r>
              <a:rPr lang="en-GB" sz="2800" dirty="0">
                <a:solidFill>
                  <a:schemeClr val="accent1"/>
                </a:solidFill>
                <a:latin typeface="Helvetica Neue"/>
              </a:rPr>
              <a:t>Independence</a:t>
            </a:r>
            <a:r>
              <a:rPr lang="en-GB" sz="2800" dirty="0">
                <a:latin typeface="Helvetica Neue"/>
              </a:rPr>
              <a:t> – no perfect correlation. The predictors are independent of each others.</a:t>
            </a:r>
            <a:endParaRPr lang="en-GB" sz="2000" dirty="0">
              <a:latin typeface="Helvetica Neue"/>
            </a:endParaRPr>
          </a:p>
          <a:p>
            <a:endParaRPr lang="en-GB" dirty="0"/>
          </a:p>
        </p:txBody>
      </p:sp>
      <p:sp>
        <p:nvSpPr>
          <p:cNvPr id="4" name="Slide Number Placeholder 3">
            <a:extLst>
              <a:ext uri="{FF2B5EF4-FFF2-40B4-BE49-F238E27FC236}">
                <a16:creationId xmlns:a16="http://schemas.microsoft.com/office/drawing/2014/main" id="{27ED6B48-B438-8C1D-9761-16CB140CE739}"/>
              </a:ext>
            </a:extLst>
          </p:cNvPr>
          <p:cNvSpPr>
            <a:spLocks noGrp="1"/>
          </p:cNvSpPr>
          <p:nvPr>
            <p:ph type="sldNum" sz="quarter" idx="12"/>
          </p:nvPr>
        </p:nvSpPr>
        <p:spPr/>
        <p:txBody>
          <a:bodyPr/>
          <a:lstStyle/>
          <a:p>
            <a:fld id="{F74D7E6C-9B20-4593-B18C-8D2C7BEEFCA2}" type="slidenum">
              <a:rPr lang="en-GB" smtClean="0"/>
              <a:t>14</a:t>
            </a:fld>
            <a:endParaRPr lang="en-GB"/>
          </a:p>
        </p:txBody>
      </p:sp>
    </p:spTree>
    <p:extLst>
      <p:ext uri="{BB962C8B-B14F-4D97-AF65-F5344CB8AC3E}">
        <p14:creationId xmlns:p14="http://schemas.microsoft.com/office/powerpoint/2010/main" val="3951490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54045-4264-2623-E6C5-3F85AA0F33B9}"/>
              </a:ext>
            </a:extLst>
          </p:cNvPr>
          <p:cNvSpPr>
            <a:spLocks noGrp="1"/>
          </p:cNvSpPr>
          <p:nvPr>
            <p:ph type="title"/>
          </p:nvPr>
        </p:nvSpPr>
        <p:spPr/>
        <p:txBody>
          <a:bodyPr/>
          <a:lstStyle/>
          <a:p>
            <a:r>
              <a:rPr lang="en-GB" dirty="0"/>
              <a:t>The problem of </a:t>
            </a:r>
            <a:r>
              <a:rPr lang="en-GB" dirty="0" err="1"/>
              <a:t>multicoliniarity</a:t>
            </a:r>
            <a:endParaRPr lang="en-GB" dirty="0"/>
          </a:p>
        </p:txBody>
      </p:sp>
      <p:sp>
        <p:nvSpPr>
          <p:cNvPr id="3" name="Text Placeholder 2">
            <a:extLst>
              <a:ext uri="{FF2B5EF4-FFF2-40B4-BE49-F238E27FC236}">
                <a16:creationId xmlns:a16="http://schemas.microsoft.com/office/drawing/2014/main" id="{5DE16E6A-6911-1C57-4216-A2B742ED605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0A9E2B-57D1-9D70-33AC-DD7D2CE05148}"/>
              </a:ext>
            </a:extLst>
          </p:cNvPr>
          <p:cNvSpPr>
            <a:spLocks noGrp="1"/>
          </p:cNvSpPr>
          <p:nvPr>
            <p:ph type="sldNum" sz="quarter" idx="12"/>
          </p:nvPr>
        </p:nvSpPr>
        <p:spPr/>
        <p:txBody>
          <a:bodyPr/>
          <a:lstStyle/>
          <a:p>
            <a:fld id="{F74D7E6C-9B20-4593-B18C-8D2C7BEEFCA2}" type="slidenum">
              <a:rPr lang="en-GB" smtClean="0"/>
              <a:t>15</a:t>
            </a:fld>
            <a:endParaRPr lang="en-GB"/>
          </a:p>
        </p:txBody>
      </p:sp>
    </p:spTree>
    <p:extLst>
      <p:ext uri="{BB962C8B-B14F-4D97-AF65-F5344CB8AC3E}">
        <p14:creationId xmlns:p14="http://schemas.microsoft.com/office/powerpoint/2010/main" val="448601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The problem of multicollinearity</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16</a:t>
            </a:fld>
            <a:endParaRPr lang="en-GB"/>
          </a:p>
        </p:txBody>
      </p:sp>
      <p:sp>
        <p:nvSpPr>
          <p:cNvPr id="5" name="TextBox 4">
            <a:extLst>
              <a:ext uri="{FF2B5EF4-FFF2-40B4-BE49-F238E27FC236}">
                <a16:creationId xmlns:a16="http://schemas.microsoft.com/office/drawing/2014/main" id="{DBC33C8B-BD6D-EDCD-7BC7-0CA3336C3667}"/>
              </a:ext>
            </a:extLst>
          </p:cNvPr>
          <p:cNvSpPr txBox="1"/>
          <p:nvPr/>
        </p:nvSpPr>
        <p:spPr>
          <a:xfrm>
            <a:off x="251380" y="1583974"/>
            <a:ext cx="11599961" cy="4893647"/>
          </a:xfrm>
          <a:prstGeom prst="rect">
            <a:avLst/>
          </a:prstGeom>
          <a:noFill/>
        </p:spPr>
        <p:txBody>
          <a:bodyPr wrap="square" rtlCol="0">
            <a:spAutoFit/>
          </a:bodyPr>
          <a:lstStyle/>
          <a:p>
            <a:r>
              <a:rPr lang="en-GB" sz="2400" dirty="0">
                <a:solidFill>
                  <a:schemeClr val="accent1"/>
                </a:solidFill>
              </a:rPr>
              <a:t>Multicollinearity</a:t>
            </a:r>
            <a:r>
              <a:rPr lang="en-GB" sz="2400" dirty="0">
                <a:solidFill>
                  <a:schemeClr val="bg1">
                    <a:lumMod val="95000"/>
                  </a:schemeClr>
                </a:solidFill>
              </a:rPr>
              <a:t> occurs when independent variables in a regression model are highly correlated with each other. Due to this, a change in one variable would cause a change in another, resulting in significant fluctuations in the model results. </a:t>
            </a:r>
          </a:p>
          <a:p>
            <a:endParaRPr lang="en-GB" sz="2400" dirty="0">
              <a:solidFill>
                <a:schemeClr val="bg1">
                  <a:lumMod val="95000"/>
                </a:schemeClr>
              </a:solidFill>
            </a:endParaRPr>
          </a:p>
          <a:p>
            <a:r>
              <a:rPr lang="en-GB" sz="2400" dirty="0">
                <a:solidFill>
                  <a:schemeClr val="bg1">
                    <a:lumMod val="95000"/>
                  </a:schemeClr>
                </a:solidFill>
              </a:rPr>
              <a:t>Therefore, the model results will be unstable and vary significantly, even with a slight change in the data or model.</a:t>
            </a:r>
          </a:p>
          <a:p>
            <a:endParaRPr lang="en-GB" sz="2400" dirty="0">
              <a:solidFill>
                <a:schemeClr val="bg1">
                  <a:lumMod val="95000"/>
                </a:schemeClr>
              </a:solidFill>
            </a:endParaRPr>
          </a:p>
          <a:p>
            <a:pPr marL="342900" indent="-342900">
              <a:buFont typeface="Arial" panose="020B0604020202020204" pitchFamily="34" charset="0"/>
              <a:buChar char="•"/>
            </a:pPr>
            <a:r>
              <a:rPr lang="en-GB" sz="2400" dirty="0">
                <a:solidFill>
                  <a:schemeClr val="bg1">
                    <a:lumMod val="95000"/>
                  </a:schemeClr>
                </a:solidFill>
              </a:rPr>
              <a:t>We cannot rely on the estimated coefficients</a:t>
            </a:r>
          </a:p>
          <a:p>
            <a:pPr marL="342900" indent="-342900">
              <a:buFont typeface="Arial" panose="020B0604020202020204" pitchFamily="34" charset="0"/>
              <a:buChar char="•"/>
            </a:pPr>
            <a:r>
              <a:rPr lang="en-GB" sz="2400" dirty="0">
                <a:solidFill>
                  <a:schemeClr val="bg1">
                    <a:lumMod val="95000"/>
                  </a:schemeClr>
                </a:solidFill>
              </a:rPr>
              <a:t>The unstable nature of the model can cause over-fitting</a:t>
            </a:r>
          </a:p>
          <a:p>
            <a:pPr marL="342900" indent="-342900">
              <a:buFont typeface="Arial" panose="020B0604020202020204" pitchFamily="34" charset="0"/>
              <a:buChar char="•"/>
            </a:pPr>
            <a:endParaRPr lang="en-GB" sz="2400" dirty="0">
              <a:solidFill>
                <a:schemeClr val="bg1">
                  <a:lumMod val="95000"/>
                </a:schemeClr>
              </a:solidFill>
            </a:endParaRPr>
          </a:p>
          <a:p>
            <a:r>
              <a:rPr lang="en-GB" sz="2400" dirty="0">
                <a:solidFill>
                  <a:schemeClr val="bg1">
                    <a:lumMod val="95000"/>
                  </a:schemeClr>
                </a:solidFill>
              </a:rPr>
              <a:t>Therefore, when selecting features for our model, we must ensure that there is no multicollinearity.</a:t>
            </a:r>
          </a:p>
          <a:p>
            <a:endParaRPr lang="en-GB" sz="2400" dirty="0">
              <a:solidFill>
                <a:schemeClr val="bg1">
                  <a:lumMod val="95000"/>
                </a:schemeClr>
              </a:solidFill>
            </a:endParaRPr>
          </a:p>
        </p:txBody>
      </p:sp>
    </p:spTree>
    <p:extLst>
      <p:ext uri="{BB962C8B-B14F-4D97-AF65-F5344CB8AC3E}">
        <p14:creationId xmlns:p14="http://schemas.microsoft.com/office/powerpoint/2010/main" val="306306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BFCBF-53C2-E486-2ECD-FD54AAF9D7AF}"/>
              </a:ext>
            </a:extLst>
          </p:cNvPr>
          <p:cNvSpPr>
            <a:spLocks noGrp="1"/>
          </p:cNvSpPr>
          <p:nvPr>
            <p:ph type="title"/>
          </p:nvPr>
        </p:nvSpPr>
        <p:spPr/>
        <p:txBody>
          <a:bodyPr>
            <a:normAutofit fontScale="90000"/>
          </a:bodyPr>
          <a:lstStyle/>
          <a:p>
            <a:r>
              <a:rPr lang="en-GB" dirty="0"/>
              <a:t>Multicollinearity explained with diagrams </a:t>
            </a:r>
            <a:r>
              <a:rPr lang="en-GB" sz="1300" dirty="0">
                <a:hlinkClick r:id="rId3"/>
              </a:rPr>
              <a:t>https://www.theanalysisfactor.com/multicollinearity-explained-visually/</a:t>
            </a:r>
            <a:endParaRPr lang="en-GB" sz="1300" dirty="0"/>
          </a:p>
        </p:txBody>
      </p:sp>
      <p:sp>
        <p:nvSpPr>
          <p:cNvPr id="3" name="Content Placeholder 2">
            <a:extLst>
              <a:ext uri="{FF2B5EF4-FFF2-40B4-BE49-F238E27FC236}">
                <a16:creationId xmlns:a16="http://schemas.microsoft.com/office/drawing/2014/main" id="{7D988EEE-B810-654C-23D6-CA14C8359376}"/>
              </a:ext>
            </a:extLst>
          </p:cNvPr>
          <p:cNvSpPr>
            <a:spLocks noGrp="1"/>
          </p:cNvSpPr>
          <p:nvPr>
            <p:ph idx="1"/>
          </p:nvPr>
        </p:nvSpPr>
        <p:spPr/>
        <p:txBody>
          <a:bodyPr/>
          <a:lstStyle/>
          <a:p>
            <a:pPr marL="0" indent="0">
              <a:buNone/>
            </a:pPr>
            <a:endParaRPr lang="en-GB" dirty="0"/>
          </a:p>
        </p:txBody>
      </p:sp>
      <p:sp>
        <p:nvSpPr>
          <p:cNvPr id="4" name="Slide Number Placeholder 3">
            <a:extLst>
              <a:ext uri="{FF2B5EF4-FFF2-40B4-BE49-F238E27FC236}">
                <a16:creationId xmlns:a16="http://schemas.microsoft.com/office/drawing/2014/main" id="{E7A3F500-AC13-1B8F-D284-F38A1FD92B17}"/>
              </a:ext>
            </a:extLst>
          </p:cNvPr>
          <p:cNvSpPr>
            <a:spLocks noGrp="1"/>
          </p:cNvSpPr>
          <p:nvPr>
            <p:ph type="sldNum" sz="quarter" idx="12"/>
          </p:nvPr>
        </p:nvSpPr>
        <p:spPr/>
        <p:txBody>
          <a:bodyPr/>
          <a:lstStyle/>
          <a:p>
            <a:fld id="{F74D7E6C-9B20-4593-B18C-8D2C7BEEFCA2}" type="slidenum">
              <a:rPr lang="en-GB" smtClean="0"/>
              <a:t>17</a:t>
            </a:fld>
            <a:endParaRPr lang="en-GB"/>
          </a:p>
        </p:txBody>
      </p:sp>
      <p:pic>
        <p:nvPicPr>
          <p:cNvPr id="6" name="Picture 5">
            <a:extLst>
              <a:ext uri="{FF2B5EF4-FFF2-40B4-BE49-F238E27FC236}">
                <a16:creationId xmlns:a16="http://schemas.microsoft.com/office/drawing/2014/main" id="{2F44ABBF-2F77-FFFE-1EB4-42EE551EF8B2}"/>
              </a:ext>
            </a:extLst>
          </p:cNvPr>
          <p:cNvPicPr>
            <a:picLocks noChangeAspect="1"/>
          </p:cNvPicPr>
          <p:nvPr/>
        </p:nvPicPr>
        <p:blipFill>
          <a:blip r:embed="rId4"/>
          <a:stretch>
            <a:fillRect/>
          </a:stretch>
        </p:blipFill>
        <p:spPr>
          <a:xfrm>
            <a:off x="410958" y="2714254"/>
            <a:ext cx="3905795" cy="2657846"/>
          </a:xfrm>
          <a:prstGeom prst="rect">
            <a:avLst/>
          </a:prstGeom>
        </p:spPr>
      </p:pic>
      <p:pic>
        <p:nvPicPr>
          <p:cNvPr id="8" name="Picture 7">
            <a:extLst>
              <a:ext uri="{FF2B5EF4-FFF2-40B4-BE49-F238E27FC236}">
                <a16:creationId xmlns:a16="http://schemas.microsoft.com/office/drawing/2014/main" id="{E40A5A93-281C-369B-24C2-550BB1FB68F3}"/>
              </a:ext>
            </a:extLst>
          </p:cNvPr>
          <p:cNvPicPr>
            <a:picLocks noChangeAspect="1"/>
          </p:cNvPicPr>
          <p:nvPr/>
        </p:nvPicPr>
        <p:blipFill>
          <a:blip r:embed="rId5"/>
          <a:stretch>
            <a:fillRect/>
          </a:stretch>
        </p:blipFill>
        <p:spPr>
          <a:xfrm>
            <a:off x="4420473" y="2714254"/>
            <a:ext cx="3732059" cy="2657846"/>
          </a:xfrm>
          <a:prstGeom prst="rect">
            <a:avLst/>
          </a:prstGeom>
        </p:spPr>
      </p:pic>
      <p:pic>
        <p:nvPicPr>
          <p:cNvPr id="10" name="Picture 9">
            <a:extLst>
              <a:ext uri="{FF2B5EF4-FFF2-40B4-BE49-F238E27FC236}">
                <a16:creationId xmlns:a16="http://schemas.microsoft.com/office/drawing/2014/main" id="{CC97D7E4-1F3E-B8C6-6293-BFEA6F1A4216}"/>
              </a:ext>
            </a:extLst>
          </p:cNvPr>
          <p:cNvPicPr>
            <a:picLocks noChangeAspect="1"/>
          </p:cNvPicPr>
          <p:nvPr/>
        </p:nvPicPr>
        <p:blipFill>
          <a:blip r:embed="rId6"/>
          <a:stretch>
            <a:fillRect/>
          </a:stretch>
        </p:blipFill>
        <p:spPr>
          <a:xfrm>
            <a:off x="8256252" y="2714253"/>
            <a:ext cx="3082207" cy="2657845"/>
          </a:xfrm>
          <a:prstGeom prst="rect">
            <a:avLst/>
          </a:prstGeom>
        </p:spPr>
      </p:pic>
      <p:sp>
        <p:nvSpPr>
          <p:cNvPr id="12" name="TextBox 11">
            <a:extLst>
              <a:ext uri="{FF2B5EF4-FFF2-40B4-BE49-F238E27FC236}">
                <a16:creationId xmlns:a16="http://schemas.microsoft.com/office/drawing/2014/main" id="{B08AE52F-C062-C42C-7C8F-FD0DB7009F25}"/>
              </a:ext>
            </a:extLst>
          </p:cNvPr>
          <p:cNvSpPr txBox="1"/>
          <p:nvPr/>
        </p:nvSpPr>
        <p:spPr>
          <a:xfrm>
            <a:off x="410958" y="2385034"/>
            <a:ext cx="3845886" cy="369332"/>
          </a:xfrm>
          <a:prstGeom prst="rect">
            <a:avLst/>
          </a:prstGeom>
          <a:noFill/>
        </p:spPr>
        <p:txBody>
          <a:bodyPr wrap="square">
            <a:spAutoFit/>
          </a:bodyPr>
          <a:lstStyle/>
          <a:p>
            <a:pPr marL="0" indent="0">
              <a:buNone/>
            </a:pPr>
            <a:r>
              <a:rPr lang="en-GB" dirty="0">
                <a:solidFill>
                  <a:schemeClr val="bg1">
                    <a:lumMod val="95000"/>
                  </a:schemeClr>
                </a:solidFill>
              </a:rPr>
              <a:t>No multicollinearity at all</a:t>
            </a:r>
          </a:p>
        </p:txBody>
      </p:sp>
      <p:sp>
        <p:nvSpPr>
          <p:cNvPr id="13" name="TextBox 12">
            <a:extLst>
              <a:ext uri="{FF2B5EF4-FFF2-40B4-BE49-F238E27FC236}">
                <a16:creationId xmlns:a16="http://schemas.microsoft.com/office/drawing/2014/main" id="{CA0135E5-0C01-7575-489E-8D42CBA46FB1}"/>
              </a:ext>
            </a:extLst>
          </p:cNvPr>
          <p:cNvSpPr txBox="1"/>
          <p:nvPr/>
        </p:nvSpPr>
        <p:spPr>
          <a:xfrm>
            <a:off x="4333605" y="2344921"/>
            <a:ext cx="3845886" cy="369332"/>
          </a:xfrm>
          <a:prstGeom prst="rect">
            <a:avLst/>
          </a:prstGeom>
          <a:noFill/>
        </p:spPr>
        <p:txBody>
          <a:bodyPr wrap="square">
            <a:spAutoFit/>
          </a:bodyPr>
          <a:lstStyle/>
          <a:p>
            <a:pPr marL="0" indent="0">
              <a:buNone/>
            </a:pPr>
            <a:r>
              <a:rPr lang="en-GB" dirty="0">
                <a:solidFill>
                  <a:schemeClr val="bg1">
                    <a:lumMod val="95000"/>
                  </a:schemeClr>
                </a:solidFill>
              </a:rPr>
              <a:t>Moderate multicollinearity</a:t>
            </a:r>
          </a:p>
        </p:txBody>
      </p:sp>
      <p:sp>
        <p:nvSpPr>
          <p:cNvPr id="14" name="TextBox 13">
            <a:extLst>
              <a:ext uri="{FF2B5EF4-FFF2-40B4-BE49-F238E27FC236}">
                <a16:creationId xmlns:a16="http://schemas.microsoft.com/office/drawing/2014/main" id="{ECF0CABF-BC3D-236E-B741-F7938C7DBB26}"/>
              </a:ext>
            </a:extLst>
          </p:cNvPr>
          <p:cNvSpPr txBox="1"/>
          <p:nvPr/>
        </p:nvSpPr>
        <p:spPr>
          <a:xfrm>
            <a:off x="8179491" y="2344921"/>
            <a:ext cx="3158968" cy="369332"/>
          </a:xfrm>
          <a:prstGeom prst="rect">
            <a:avLst/>
          </a:prstGeom>
          <a:noFill/>
        </p:spPr>
        <p:txBody>
          <a:bodyPr wrap="square">
            <a:spAutoFit/>
          </a:bodyPr>
          <a:lstStyle/>
          <a:p>
            <a:pPr marL="0" indent="0">
              <a:buNone/>
            </a:pPr>
            <a:r>
              <a:rPr lang="en-GB" dirty="0">
                <a:solidFill>
                  <a:schemeClr val="bg1">
                    <a:lumMod val="95000"/>
                  </a:schemeClr>
                </a:solidFill>
              </a:rPr>
              <a:t>Extreme multicollinearity</a:t>
            </a:r>
          </a:p>
        </p:txBody>
      </p:sp>
    </p:spTree>
    <p:extLst>
      <p:ext uri="{BB962C8B-B14F-4D97-AF65-F5344CB8AC3E}">
        <p14:creationId xmlns:p14="http://schemas.microsoft.com/office/powerpoint/2010/main" val="2482312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The problem of multicollinearity</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18</a:t>
            </a:fld>
            <a:endParaRPr lang="en-GB"/>
          </a:p>
        </p:txBody>
      </p:sp>
      <p:pic>
        <p:nvPicPr>
          <p:cNvPr id="6" name="Picture 5" descr="Table&#10;&#10;Description automatically generated with medium confidence">
            <a:extLst>
              <a:ext uri="{FF2B5EF4-FFF2-40B4-BE49-F238E27FC236}">
                <a16:creationId xmlns:a16="http://schemas.microsoft.com/office/drawing/2014/main" id="{D35AFF3F-CE84-DBFC-768E-6D968F240733}"/>
              </a:ext>
            </a:extLst>
          </p:cNvPr>
          <p:cNvPicPr>
            <a:picLocks noChangeAspect="1"/>
          </p:cNvPicPr>
          <p:nvPr/>
        </p:nvPicPr>
        <p:blipFill>
          <a:blip r:embed="rId2"/>
          <a:stretch>
            <a:fillRect/>
          </a:stretch>
        </p:blipFill>
        <p:spPr>
          <a:xfrm>
            <a:off x="548129" y="1483314"/>
            <a:ext cx="10570396" cy="4350123"/>
          </a:xfrm>
          <a:prstGeom prst="rect">
            <a:avLst/>
          </a:prstGeom>
        </p:spPr>
      </p:pic>
      <p:sp>
        <p:nvSpPr>
          <p:cNvPr id="7" name="Rectangle 6">
            <a:extLst>
              <a:ext uri="{FF2B5EF4-FFF2-40B4-BE49-F238E27FC236}">
                <a16:creationId xmlns:a16="http://schemas.microsoft.com/office/drawing/2014/main" id="{FBE02DD7-897B-4EF6-F76A-53A754903524}"/>
              </a:ext>
            </a:extLst>
          </p:cNvPr>
          <p:cNvSpPr/>
          <p:nvPr/>
        </p:nvSpPr>
        <p:spPr>
          <a:xfrm>
            <a:off x="548129" y="2162390"/>
            <a:ext cx="1203512" cy="4235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A439754-C985-1446-76C6-CD12366AC468}"/>
              </a:ext>
            </a:extLst>
          </p:cNvPr>
          <p:cNvSpPr/>
          <p:nvPr/>
        </p:nvSpPr>
        <p:spPr>
          <a:xfrm>
            <a:off x="7016163" y="2216178"/>
            <a:ext cx="3821131" cy="4235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29296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Variance Inflation Factor</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19</a:t>
            </a:fld>
            <a:endParaRPr lang="en-GB"/>
          </a:p>
        </p:txBody>
      </p:sp>
      <p:pic>
        <p:nvPicPr>
          <p:cNvPr id="3" name="Picture 2">
            <a:extLst>
              <a:ext uri="{FF2B5EF4-FFF2-40B4-BE49-F238E27FC236}">
                <a16:creationId xmlns:a16="http://schemas.microsoft.com/office/drawing/2014/main" id="{071A3C92-02BC-E972-86EB-D45968CC1F64}"/>
              </a:ext>
            </a:extLst>
          </p:cNvPr>
          <p:cNvPicPr>
            <a:picLocks noChangeAspect="1"/>
          </p:cNvPicPr>
          <p:nvPr/>
        </p:nvPicPr>
        <p:blipFill>
          <a:blip r:embed="rId3"/>
          <a:stretch>
            <a:fillRect/>
          </a:stretch>
        </p:blipFill>
        <p:spPr>
          <a:xfrm>
            <a:off x="9316717" y="1749669"/>
            <a:ext cx="2795166" cy="1208909"/>
          </a:xfrm>
          <a:prstGeom prst="rect">
            <a:avLst/>
          </a:prstGeom>
        </p:spPr>
      </p:pic>
      <p:sp>
        <p:nvSpPr>
          <p:cNvPr id="5" name="TextBox 4">
            <a:extLst>
              <a:ext uri="{FF2B5EF4-FFF2-40B4-BE49-F238E27FC236}">
                <a16:creationId xmlns:a16="http://schemas.microsoft.com/office/drawing/2014/main" id="{7B87159D-19F4-550E-8C6D-897B9CECEFDE}"/>
              </a:ext>
            </a:extLst>
          </p:cNvPr>
          <p:cNvSpPr txBox="1"/>
          <p:nvPr/>
        </p:nvSpPr>
        <p:spPr>
          <a:xfrm>
            <a:off x="231423" y="1544932"/>
            <a:ext cx="8745523" cy="4893647"/>
          </a:xfrm>
          <a:prstGeom prst="rect">
            <a:avLst/>
          </a:prstGeom>
          <a:noFill/>
        </p:spPr>
        <p:txBody>
          <a:bodyPr wrap="square" rtlCol="0">
            <a:spAutoFit/>
          </a:bodyPr>
          <a:lstStyle/>
          <a:p>
            <a:r>
              <a:rPr lang="en-GB" dirty="0">
                <a:solidFill>
                  <a:schemeClr val="accent1"/>
                </a:solidFill>
              </a:rPr>
              <a:t>VIF</a:t>
            </a:r>
            <a:r>
              <a:rPr lang="en-GB" dirty="0">
                <a:solidFill>
                  <a:schemeClr val="bg1">
                    <a:lumMod val="95000"/>
                  </a:schemeClr>
                </a:solidFill>
              </a:rPr>
              <a:t> is a number that determines whether a variable has multicollinearity or not. That number also represents the extent to which a variable is inflated due to its linear dependence on other variables.</a:t>
            </a:r>
          </a:p>
          <a:p>
            <a:endParaRPr lang="en-GB" dirty="0">
              <a:solidFill>
                <a:schemeClr val="bg1">
                  <a:lumMod val="95000"/>
                </a:schemeClr>
              </a:solidFill>
            </a:endParaRPr>
          </a:p>
          <a:p>
            <a:r>
              <a:rPr lang="en-GB" dirty="0">
                <a:solidFill>
                  <a:schemeClr val="bg1">
                    <a:lumMod val="95000"/>
                  </a:schemeClr>
                </a:solidFill>
              </a:rPr>
              <a:t>It is calculated by regressing a variable against every other variable.</a:t>
            </a:r>
          </a:p>
          <a:p>
            <a:endParaRPr lang="en-GB" dirty="0">
              <a:solidFill>
                <a:schemeClr val="bg1">
                  <a:lumMod val="95000"/>
                </a:schemeClr>
              </a:solidFill>
            </a:endParaRPr>
          </a:p>
          <a:p>
            <a:r>
              <a:rPr lang="en-GB" dirty="0">
                <a:solidFill>
                  <a:schemeClr val="bg1">
                    <a:lumMod val="95000"/>
                  </a:schemeClr>
                </a:solidFill>
              </a:rPr>
              <a:t>Assuming you have a list of features — x₁, x₂, x₃, and x₄. You first take the first feature, x₁, and regress it against the other features: </a:t>
            </a:r>
          </a:p>
          <a:p>
            <a:endParaRPr lang="en-GB" dirty="0">
              <a:solidFill>
                <a:schemeClr val="bg1">
                  <a:lumMod val="95000"/>
                </a:schemeClr>
              </a:solidFill>
            </a:endParaRPr>
          </a:p>
          <a:p>
            <a:r>
              <a:rPr lang="en-GB" dirty="0">
                <a:solidFill>
                  <a:schemeClr val="bg1">
                    <a:lumMod val="95000"/>
                  </a:schemeClr>
                </a:solidFill>
              </a:rPr>
              <a:t>x₁ ~ x₂ + x₃ + x₄</a:t>
            </a:r>
          </a:p>
          <a:p>
            <a:endParaRPr lang="en-GB" dirty="0">
              <a:solidFill>
                <a:schemeClr val="bg1">
                  <a:lumMod val="95000"/>
                </a:schemeClr>
              </a:solidFill>
            </a:endParaRPr>
          </a:p>
          <a:p>
            <a:r>
              <a:rPr lang="en-GB" dirty="0">
                <a:solidFill>
                  <a:schemeClr val="bg1">
                    <a:lumMod val="95000"/>
                  </a:schemeClr>
                </a:solidFill>
              </a:rPr>
              <a:t>And you find the R-squared for x1 being the target. If R-squared is large --&gt; x1 is highly correlated with the three features - x2, x3, x4. If R-squared is small --&gt; x1 is not correlated with the free features - x2, x3, x4.</a:t>
            </a:r>
          </a:p>
          <a:p>
            <a:endParaRPr lang="en-US" sz="2000" dirty="0">
              <a:solidFill>
                <a:schemeClr val="bg1">
                  <a:lumMod val="95000"/>
                </a:schemeClr>
              </a:solidFill>
            </a:endParaRPr>
          </a:p>
          <a:p>
            <a:r>
              <a:rPr lang="en-US" sz="2000" dirty="0">
                <a:solidFill>
                  <a:schemeClr val="bg1">
                    <a:lumMod val="95000"/>
                  </a:schemeClr>
                </a:solidFill>
              </a:rPr>
              <a:t>Source: </a:t>
            </a:r>
            <a:r>
              <a:rPr lang="en-US" sz="2000" dirty="0">
                <a:solidFill>
                  <a:srgbClr val="92D050"/>
                </a:solidFill>
                <a:hlinkClick r:id="rId4">
                  <a:extLst>
                    <a:ext uri="{A12FA001-AC4F-418D-AE19-62706E023703}">
                      <ahyp:hlinkClr xmlns:ahyp="http://schemas.microsoft.com/office/drawing/2018/hyperlinkcolor" val="tx"/>
                    </a:ext>
                  </a:extLst>
                </a:hlinkClick>
              </a:rPr>
              <a:t>https://towardsdatascience.com/statistics-in-python-collinearity-and-multicollinearity-4cc4dcd82b3f</a:t>
            </a:r>
            <a:r>
              <a:rPr lang="en-US" sz="2000" dirty="0">
                <a:solidFill>
                  <a:srgbClr val="92D050"/>
                </a:solidFill>
              </a:rPr>
              <a:t> </a:t>
            </a:r>
            <a:endParaRPr lang="en-GB" sz="2000" dirty="0">
              <a:solidFill>
                <a:srgbClr val="92D050"/>
              </a:solidFill>
            </a:endParaRPr>
          </a:p>
        </p:txBody>
      </p:sp>
    </p:spTree>
    <p:extLst>
      <p:ext uri="{BB962C8B-B14F-4D97-AF65-F5344CB8AC3E}">
        <p14:creationId xmlns:p14="http://schemas.microsoft.com/office/powerpoint/2010/main" val="827278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The problem of multicollinearity</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20</a:t>
            </a:fld>
            <a:endParaRPr lang="en-GB"/>
          </a:p>
        </p:txBody>
      </p:sp>
      <p:pic>
        <p:nvPicPr>
          <p:cNvPr id="3" name="Picture 2">
            <a:extLst>
              <a:ext uri="{FF2B5EF4-FFF2-40B4-BE49-F238E27FC236}">
                <a16:creationId xmlns:a16="http://schemas.microsoft.com/office/drawing/2014/main" id="{071A3C92-02BC-E972-86EB-D45968CC1F64}"/>
              </a:ext>
            </a:extLst>
          </p:cNvPr>
          <p:cNvPicPr>
            <a:picLocks noChangeAspect="1"/>
          </p:cNvPicPr>
          <p:nvPr/>
        </p:nvPicPr>
        <p:blipFill>
          <a:blip r:embed="rId3"/>
          <a:stretch>
            <a:fillRect/>
          </a:stretch>
        </p:blipFill>
        <p:spPr>
          <a:xfrm>
            <a:off x="9316717" y="1749669"/>
            <a:ext cx="2795166" cy="1208909"/>
          </a:xfrm>
          <a:prstGeom prst="rect">
            <a:avLst/>
          </a:prstGeom>
        </p:spPr>
      </p:pic>
      <p:sp>
        <p:nvSpPr>
          <p:cNvPr id="6" name="TextBox 5">
            <a:extLst>
              <a:ext uri="{FF2B5EF4-FFF2-40B4-BE49-F238E27FC236}">
                <a16:creationId xmlns:a16="http://schemas.microsoft.com/office/drawing/2014/main" id="{0EB90824-215B-929C-B812-101D62D0605E}"/>
              </a:ext>
            </a:extLst>
          </p:cNvPr>
          <p:cNvSpPr txBox="1"/>
          <p:nvPr/>
        </p:nvSpPr>
        <p:spPr>
          <a:xfrm>
            <a:off x="220045" y="1429239"/>
            <a:ext cx="8915163"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lumMod val="95000"/>
                  </a:schemeClr>
                </a:solidFill>
              </a:rPr>
              <a:t>A value of 1 indicates there is no correlation between a given explanatory variable and any other explanatory variables in the model.</a:t>
            </a:r>
          </a:p>
          <a:p>
            <a:pPr marL="342900" indent="-342900">
              <a:buFont typeface="Arial" panose="020B0604020202020204" pitchFamily="34" charset="0"/>
              <a:buChar char="•"/>
            </a:pPr>
            <a:endParaRPr lang="en-US" sz="2000" dirty="0">
              <a:solidFill>
                <a:schemeClr val="bg1">
                  <a:lumMod val="95000"/>
                </a:schemeClr>
              </a:solidFill>
            </a:endParaRPr>
          </a:p>
          <a:p>
            <a:pPr marL="342900" indent="-342900">
              <a:buFont typeface="Arial" panose="020B0604020202020204" pitchFamily="34" charset="0"/>
              <a:buChar char="•"/>
            </a:pPr>
            <a:r>
              <a:rPr lang="en-US" sz="2000" dirty="0">
                <a:solidFill>
                  <a:schemeClr val="bg1">
                    <a:lumMod val="95000"/>
                  </a:schemeClr>
                </a:solidFill>
              </a:rPr>
              <a:t>A value between 1 and 5 indicates moderate correlation between a given explanatory variable and other explanatory variables in the model, but this is often not severe enough to require attention.</a:t>
            </a:r>
          </a:p>
          <a:p>
            <a:pPr marL="342900" indent="-342900">
              <a:buFont typeface="Arial" panose="020B0604020202020204" pitchFamily="34" charset="0"/>
              <a:buChar char="•"/>
            </a:pPr>
            <a:endParaRPr lang="en-US" sz="2000" dirty="0">
              <a:solidFill>
                <a:schemeClr val="bg1">
                  <a:lumMod val="95000"/>
                </a:schemeClr>
              </a:solidFill>
            </a:endParaRPr>
          </a:p>
          <a:p>
            <a:pPr marL="342900" indent="-342900">
              <a:buFont typeface="Arial" panose="020B0604020202020204" pitchFamily="34" charset="0"/>
              <a:buChar char="•"/>
            </a:pPr>
            <a:r>
              <a:rPr lang="en-US" sz="2000" dirty="0">
                <a:solidFill>
                  <a:schemeClr val="bg1">
                    <a:lumMod val="95000"/>
                  </a:schemeClr>
                </a:solidFill>
              </a:rPr>
              <a:t>A value greater than 5 indicates potentially severe correlation between a given explanatory variable and other explanatory variables in the model. In this case, the coefficient estimates and p-values in the regression output are likely unreliable.</a:t>
            </a:r>
          </a:p>
          <a:p>
            <a:endParaRPr lang="en-US" sz="2000" dirty="0">
              <a:solidFill>
                <a:schemeClr val="bg1">
                  <a:lumMod val="95000"/>
                </a:schemeClr>
              </a:solidFill>
            </a:endParaRPr>
          </a:p>
          <a:p>
            <a:endParaRPr lang="en-US" sz="2000" dirty="0">
              <a:solidFill>
                <a:schemeClr val="bg1">
                  <a:lumMod val="95000"/>
                </a:schemeClr>
              </a:solidFill>
            </a:endParaRPr>
          </a:p>
          <a:p>
            <a:r>
              <a:rPr lang="en-US" sz="2000" dirty="0">
                <a:solidFill>
                  <a:schemeClr val="bg1">
                    <a:lumMod val="95000"/>
                  </a:schemeClr>
                </a:solidFill>
              </a:rPr>
              <a:t>source: </a:t>
            </a:r>
            <a:r>
              <a:rPr lang="en-US" sz="2000" dirty="0">
                <a:solidFill>
                  <a:srgbClr val="92D050"/>
                </a:solidFill>
                <a:hlinkClick r:id="rId4">
                  <a:extLst>
                    <a:ext uri="{A12FA001-AC4F-418D-AE19-62706E023703}">
                      <ahyp:hlinkClr xmlns:ahyp="http://schemas.microsoft.com/office/drawing/2018/hyperlinkcolor" val="tx"/>
                    </a:ext>
                  </a:extLst>
                </a:hlinkClick>
              </a:rPr>
              <a:t>https://www.statology.org/how-to-calculate-vif-in-python/</a:t>
            </a:r>
            <a:endParaRPr lang="en-US" sz="2000" dirty="0">
              <a:solidFill>
                <a:srgbClr val="92D050"/>
              </a:solidFill>
            </a:endParaRPr>
          </a:p>
          <a:p>
            <a:endParaRPr lang="en-GB" sz="2000" dirty="0">
              <a:solidFill>
                <a:schemeClr val="bg1">
                  <a:lumMod val="95000"/>
                </a:schemeClr>
              </a:solidFill>
            </a:endParaRPr>
          </a:p>
        </p:txBody>
      </p:sp>
    </p:spTree>
    <p:extLst>
      <p:ext uri="{BB962C8B-B14F-4D97-AF65-F5344CB8AC3E}">
        <p14:creationId xmlns:p14="http://schemas.microsoft.com/office/powerpoint/2010/main" val="920859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5024-A029-2FCE-5F3B-285BB96BE0AA}"/>
              </a:ext>
            </a:extLst>
          </p:cNvPr>
          <p:cNvSpPr>
            <a:spLocks noGrp="1"/>
          </p:cNvSpPr>
          <p:nvPr>
            <p:ph type="title"/>
          </p:nvPr>
        </p:nvSpPr>
        <p:spPr/>
        <p:txBody>
          <a:bodyPr>
            <a:normAutofit/>
          </a:bodyPr>
          <a:lstStyle/>
          <a:p>
            <a:r>
              <a:rPr lang="en-GB" dirty="0"/>
              <a:t>Homoscedasticity</a:t>
            </a:r>
          </a:p>
        </p:txBody>
      </p:sp>
      <p:sp>
        <p:nvSpPr>
          <p:cNvPr id="3" name="Content Placeholder 2">
            <a:extLst>
              <a:ext uri="{FF2B5EF4-FFF2-40B4-BE49-F238E27FC236}">
                <a16:creationId xmlns:a16="http://schemas.microsoft.com/office/drawing/2014/main" id="{90F23711-C3EE-A4C3-4899-55F27CC6FBF2}"/>
              </a:ext>
            </a:extLst>
          </p:cNvPr>
          <p:cNvSpPr>
            <a:spLocks noGrp="1"/>
          </p:cNvSpPr>
          <p:nvPr>
            <p:ph idx="1"/>
          </p:nvPr>
        </p:nvSpPr>
        <p:spPr>
          <a:xfrm>
            <a:off x="323850" y="1485900"/>
            <a:ext cx="5043280" cy="4870450"/>
          </a:xfrm>
        </p:spPr>
        <p:txBody>
          <a:bodyPr/>
          <a:lstStyle/>
          <a:p>
            <a:pPr marL="0" indent="0">
              <a:buNone/>
            </a:pPr>
            <a:r>
              <a:rPr lang="en-GB" dirty="0"/>
              <a:t>Homoscedasticity means that the residuals have equal or almost equal variance across the regression line. By plotting the error terms with estimated terms we can check that there should not be any pattern in the error terms.</a:t>
            </a:r>
          </a:p>
        </p:txBody>
      </p:sp>
      <p:sp>
        <p:nvSpPr>
          <p:cNvPr id="4" name="Slide Number Placeholder 3">
            <a:extLst>
              <a:ext uri="{FF2B5EF4-FFF2-40B4-BE49-F238E27FC236}">
                <a16:creationId xmlns:a16="http://schemas.microsoft.com/office/drawing/2014/main" id="{4974B0C3-AC58-6C38-7961-EA01FD6F0FBB}"/>
              </a:ext>
            </a:extLst>
          </p:cNvPr>
          <p:cNvSpPr>
            <a:spLocks noGrp="1"/>
          </p:cNvSpPr>
          <p:nvPr>
            <p:ph type="sldNum" sz="quarter" idx="12"/>
          </p:nvPr>
        </p:nvSpPr>
        <p:spPr/>
        <p:txBody>
          <a:bodyPr/>
          <a:lstStyle/>
          <a:p>
            <a:fld id="{F74D7E6C-9B20-4593-B18C-8D2C7BEEFCA2}" type="slidenum">
              <a:rPr lang="en-GB" smtClean="0"/>
              <a:t>21</a:t>
            </a:fld>
            <a:endParaRPr lang="en-GB"/>
          </a:p>
        </p:txBody>
      </p:sp>
      <p:pic>
        <p:nvPicPr>
          <p:cNvPr id="6" name="Picture 5">
            <a:extLst>
              <a:ext uri="{FF2B5EF4-FFF2-40B4-BE49-F238E27FC236}">
                <a16:creationId xmlns:a16="http://schemas.microsoft.com/office/drawing/2014/main" id="{A7D51E47-8CEB-8EB1-C5E2-4F916CD5DDCC}"/>
              </a:ext>
            </a:extLst>
          </p:cNvPr>
          <p:cNvPicPr>
            <a:picLocks noChangeAspect="1"/>
          </p:cNvPicPr>
          <p:nvPr/>
        </p:nvPicPr>
        <p:blipFill>
          <a:blip r:embed="rId3"/>
          <a:stretch>
            <a:fillRect/>
          </a:stretch>
        </p:blipFill>
        <p:spPr>
          <a:xfrm>
            <a:off x="5576587" y="1772204"/>
            <a:ext cx="6235017" cy="2607064"/>
          </a:xfrm>
          <a:prstGeom prst="rect">
            <a:avLst/>
          </a:prstGeom>
        </p:spPr>
      </p:pic>
      <p:sp>
        <p:nvSpPr>
          <p:cNvPr id="10" name="TextBox 9">
            <a:extLst>
              <a:ext uri="{FF2B5EF4-FFF2-40B4-BE49-F238E27FC236}">
                <a16:creationId xmlns:a16="http://schemas.microsoft.com/office/drawing/2014/main" id="{5E053E01-3DDB-BB4B-D759-79B93AFDCC91}"/>
              </a:ext>
            </a:extLst>
          </p:cNvPr>
          <p:cNvSpPr txBox="1"/>
          <p:nvPr/>
        </p:nvSpPr>
        <p:spPr>
          <a:xfrm>
            <a:off x="80117" y="6528189"/>
            <a:ext cx="6643705" cy="246221"/>
          </a:xfrm>
          <a:prstGeom prst="rect">
            <a:avLst/>
          </a:prstGeom>
          <a:noFill/>
        </p:spPr>
        <p:txBody>
          <a:bodyPr wrap="square">
            <a:spAutoFit/>
          </a:bodyPr>
          <a:lstStyle/>
          <a:p>
            <a:r>
              <a:rPr lang="en-GB" sz="1000" dirty="0">
                <a:hlinkClick r:id="rId4"/>
              </a:rPr>
              <a:t>https://www.geeksforgeeks.org/machine-learning/heteroscedasticity-in-regression-analysis/</a:t>
            </a:r>
            <a:r>
              <a:rPr lang="en-GB" sz="1000" dirty="0"/>
              <a:t> </a:t>
            </a:r>
          </a:p>
        </p:txBody>
      </p:sp>
    </p:spTree>
    <p:extLst>
      <p:ext uri="{BB962C8B-B14F-4D97-AF65-F5344CB8AC3E}">
        <p14:creationId xmlns:p14="http://schemas.microsoft.com/office/powerpoint/2010/main" val="2866485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1F43-8782-5F93-8343-4D7181D8C5AE}"/>
              </a:ext>
            </a:extLst>
          </p:cNvPr>
          <p:cNvSpPr>
            <a:spLocks noGrp="1"/>
          </p:cNvSpPr>
          <p:nvPr>
            <p:ph type="title"/>
          </p:nvPr>
        </p:nvSpPr>
        <p:spPr/>
        <p:txBody>
          <a:bodyPr/>
          <a:lstStyle/>
          <a:p>
            <a:r>
              <a:rPr lang="en-GB" noProof="0">
                <a:ea typeface="+mj-lt"/>
                <a:cs typeface="+mj-lt"/>
              </a:rPr>
              <a:t>Recap, OTJ, next week</a:t>
            </a:r>
            <a:endParaRPr lang="en-GB" noProof="0"/>
          </a:p>
        </p:txBody>
      </p:sp>
      <p:sp>
        <p:nvSpPr>
          <p:cNvPr id="3" name="Text Placeholder 2">
            <a:extLst>
              <a:ext uri="{FF2B5EF4-FFF2-40B4-BE49-F238E27FC236}">
                <a16:creationId xmlns:a16="http://schemas.microsoft.com/office/drawing/2014/main" id="{1C77794C-BB7E-F4AA-975B-60FA34EC2131}"/>
              </a:ext>
            </a:extLst>
          </p:cNvPr>
          <p:cNvSpPr>
            <a:spLocks noGrp="1"/>
          </p:cNvSpPr>
          <p:nvPr>
            <p:ph type="body" idx="1"/>
          </p:nvPr>
        </p:nvSpPr>
        <p:spPr/>
        <p:txBody>
          <a:bodyPr>
            <a:normAutofit/>
          </a:bodyPr>
          <a:lstStyle/>
          <a:p>
            <a:endParaRPr lang="en-GB" noProof="0"/>
          </a:p>
        </p:txBody>
      </p:sp>
      <p:sp>
        <p:nvSpPr>
          <p:cNvPr id="4" name="Slide Number Placeholder 3">
            <a:extLst>
              <a:ext uri="{FF2B5EF4-FFF2-40B4-BE49-F238E27FC236}">
                <a16:creationId xmlns:a16="http://schemas.microsoft.com/office/drawing/2014/main" id="{12D8DC56-91ED-91F3-6436-2A9288096C0B}"/>
              </a:ext>
            </a:extLst>
          </p:cNvPr>
          <p:cNvSpPr>
            <a:spLocks noGrp="1"/>
          </p:cNvSpPr>
          <p:nvPr>
            <p:ph type="sldNum" sz="quarter" idx="12"/>
          </p:nvPr>
        </p:nvSpPr>
        <p:spPr/>
        <p:txBody>
          <a:bodyPr/>
          <a:lstStyle/>
          <a:p>
            <a:fld id="{F74D7E6C-9B20-4593-B18C-8D2C7BEEFCA2}" type="slidenum">
              <a:rPr lang="en-GB" noProof="0" smtClean="0"/>
              <a:t>22</a:t>
            </a:fld>
            <a:endParaRPr lang="en-GB" noProof="0"/>
          </a:p>
        </p:txBody>
      </p:sp>
    </p:spTree>
    <p:extLst>
      <p:ext uri="{BB962C8B-B14F-4D97-AF65-F5344CB8AC3E}">
        <p14:creationId xmlns:p14="http://schemas.microsoft.com/office/powerpoint/2010/main" val="3708047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376D-B6DC-112D-FD18-C9A0D6902837}"/>
              </a:ext>
            </a:extLst>
          </p:cNvPr>
          <p:cNvSpPr>
            <a:spLocks noGrp="1"/>
          </p:cNvSpPr>
          <p:nvPr>
            <p:ph type="title"/>
          </p:nvPr>
        </p:nvSpPr>
        <p:spPr/>
        <p:txBody>
          <a:bodyPr/>
          <a:lstStyle/>
          <a:p>
            <a:r>
              <a:rPr lang="en-GB" noProof="0"/>
              <a:t>Recap of today’s objectives</a:t>
            </a:r>
          </a:p>
        </p:txBody>
      </p:sp>
      <p:sp>
        <p:nvSpPr>
          <p:cNvPr id="4" name="Slide Number Placeholder 3">
            <a:extLst>
              <a:ext uri="{FF2B5EF4-FFF2-40B4-BE49-F238E27FC236}">
                <a16:creationId xmlns:a16="http://schemas.microsoft.com/office/drawing/2014/main" id="{BE990C02-DEAF-8BD2-CA17-F5DAFCF0EA74}"/>
              </a:ext>
            </a:extLst>
          </p:cNvPr>
          <p:cNvSpPr>
            <a:spLocks noGrp="1"/>
          </p:cNvSpPr>
          <p:nvPr>
            <p:ph type="sldNum" sz="quarter" idx="12"/>
          </p:nvPr>
        </p:nvSpPr>
        <p:spPr/>
        <p:txBody>
          <a:bodyPr/>
          <a:lstStyle/>
          <a:p>
            <a:fld id="{F74D7E6C-9B20-4593-B18C-8D2C7BEEFCA2}" type="slidenum">
              <a:rPr lang="en-GB" noProof="0" smtClean="0"/>
              <a:t>23</a:t>
            </a:fld>
            <a:endParaRPr lang="en-GB" noProof="0"/>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F45B26CE-AD2F-69C0-1424-2FA1296A17A1}"/>
                  </a:ext>
                </a:extLst>
              </p:cNvPr>
              <p:cNvGraphicFramePr>
                <a:graphicFrameLocks noChangeAspect="1"/>
              </p:cNvGraphicFramePr>
              <p:nvPr>
                <p:extLst>
                  <p:ext uri="{D42A27DB-BD31-4B8C-83A1-F6EECF244321}">
                    <p14:modId xmlns:p14="http://schemas.microsoft.com/office/powerpoint/2010/main" val="3367745945"/>
                  </p:ext>
                </p:extLst>
              </p:nvPr>
            </p:nvGraphicFramePr>
            <p:xfrm>
              <a:off x="725557" y="1451113"/>
              <a:ext cx="8886687" cy="4998761"/>
            </p:xfrm>
            <a:graphic>
              <a:graphicData uri="http://schemas.microsoft.com/office/powerpoint/2016/slidezoom">
                <pslz:sldZm>
                  <pslz:sldZmObj sldId="456" cId="4227742653">
                    <pslz:zmPr id="{57E221DB-44D4-4D0B-A0FC-689FC1A34BE2}" returnToParent="0" transitionDur="1000">
                      <p166:blipFill xmlns:p166="http://schemas.microsoft.com/office/powerpoint/2016/6/main">
                        <a:blip r:embed="rId2"/>
                        <a:stretch>
                          <a:fillRect/>
                        </a:stretch>
                      </p166:blipFill>
                      <p166:spPr xmlns:p166="http://schemas.microsoft.com/office/powerpoint/2016/6/main">
                        <a:xfrm>
                          <a:off x="0" y="0"/>
                          <a:ext cx="8886687" cy="4998761"/>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F45B26CE-AD2F-69C0-1424-2FA1296A17A1}"/>
                  </a:ext>
                </a:extLst>
              </p:cNvPr>
              <p:cNvPicPr>
                <a:picLocks noGrp="1" noRot="1" noChangeAspect="1" noMove="1" noResize="1" noEditPoints="1" noAdjustHandles="1" noChangeArrowheads="1" noChangeShapeType="1"/>
              </p:cNvPicPr>
              <p:nvPr/>
            </p:nvPicPr>
            <p:blipFill>
              <a:blip r:embed="rId4"/>
              <a:stretch>
                <a:fillRect/>
              </a:stretch>
            </p:blipFill>
            <p:spPr>
              <a:xfrm>
                <a:off x="725557" y="1451113"/>
                <a:ext cx="8886687" cy="4998761"/>
              </a:xfrm>
              <a:prstGeom prst="rect">
                <a:avLst/>
              </a:prstGeom>
              <a:ln w="3175">
                <a:solidFill>
                  <a:prstClr val="ltGray"/>
                </a:solidFill>
              </a:ln>
            </p:spPr>
          </p:pic>
        </mc:Fallback>
      </mc:AlternateContent>
    </p:spTree>
    <p:extLst>
      <p:ext uri="{BB962C8B-B14F-4D97-AF65-F5344CB8AC3E}">
        <p14:creationId xmlns:p14="http://schemas.microsoft.com/office/powerpoint/2010/main" val="2964364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BAE560-9519-03D4-2605-50C0ED4725B4}"/>
              </a:ext>
            </a:extLst>
          </p:cNvPr>
          <p:cNvSpPr>
            <a:spLocks noGrp="1"/>
          </p:cNvSpPr>
          <p:nvPr>
            <p:ph type="title"/>
          </p:nvPr>
        </p:nvSpPr>
        <p:spPr/>
        <p:txBody>
          <a:bodyPr/>
          <a:lstStyle/>
          <a:p>
            <a:r>
              <a:rPr lang="en-GB" dirty="0"/>
              <a:t>OTJ Activities</a:t>
            </a:r>
          </a:p>
        </p:txBody>
      </p:sp>
      <p:sp>
        <p:nvSpPr>
          <p:cNvPr id="2" name="Slide Number Placeholder 1">
            <a:extLst>
              <a:ext uri="{FF2B5EF4-FFF2-40B4-BE49-F238E27FC236}">
                <a16:creationId xmlns:a16="http://schemas.microsoft.com/office/drawing/2014/main" id="{4A486511-735F-61C8-36E5-D5146CE56702}"/>
              </a:ext>
            </a:extLst>
          </p:cNvPr>
          <p:cNvSpPr>
            <a:spLocks noGrp="1"/>
          </p:cNvSpPr>
          <p:nvPr>
            <p:ph type="sldNum" sz="quarter" idx="12"/>
          </p:nvPr>
        </p:nvSpPr>
        <p:spPr/>
        <p:txBody>
          <a:bodyPr/>
          <a:lstStyle/>
          <a:p>
            <a:fld id="{F74D7E6C-9B20-4593-B18C-8D2C7BEEFCA2}" type="slidenum">
              <a:rPr lang="en-GB" smtClean="0"/>
              <a:t>24</a:t>
            </a:fld>
            <a:endParaRPr lang="en-GB"/>
          </a:p>
        </p:txBody>
      </p:sp>
      <p:sp>
        <p:nvSpPr>
          <p:cNvPr id="11" name="Content Placeholder 5">
            <a:extLst>
              <a:ext uri="{FF2B5EF4-FFF2-40B4-BE49-F238E27FC236}">
                <a16:creationId xmlns:a16="http://schemas.microsoft.com/office/drawing/2014/main" id="{2C015F95-A982-F0CF-4F36-3909E1F2F3AB}"/>
              </a:ext>
            </a:extLst>
          </p:cNvPr>
          <p:cNvSpPr txBox="1">
            <a:spLocks/>
          </p:cNvSpPr>
          <p:nvPr/>
        </p:nvSpPr>
        <p:spPr>
          <a:xfrm>
            <a:off x="344806" y="1493042"/>
            <a:ext cx="11904344" cy="3238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sz="2400" dirty="0"/>
              <a:t>Predict the house prices</a:t>
            </a:r>
          </a:p>
          <a:p>
            <a:pPr>
              <a:buFontTx/>
              <a:buChar char="-"/>
            </a:pPr>
            <a:r>
              <a:rPr lang="en-GB" sz="2400" dirty="0"/>
              <a:t>Use the Seattle houses data to build a regression model. The model has to be able to predict the prices of the new houses. Check all requirements from the given </a:t>
            </a:r>
            <a:r>
              <a:rPr lang="en-GB" sz="2400" dirty="0" err="1"/>
              <a:t>Jupyter</a:t>
            </a:r>
            <a:r>
              <a:rPr lang="en-GB" sz="2400" dirty="0"/>
              <a:t> Notebook.</a:t>
            </a:r>
          </a:p>
          <a:p>
            <a:pPr>
              <a:buFontTx/>
              <a:buChar char="-"/>
            </a:pPr>
            <a:endParaRPr lang="en-GB" sz="2400" dirty="0"/>
          </a:p>
          <a:p>
            <a:pPr marL="0" indent="0">
              <a:buNone/>
            </a:pPr>
            <a:r>
              <a:rPr lang="en-GB" sz="2400" dirty="0"/>
              <a:t>2. Read through the Regularisations slide deck and complete the notebook</a:t>
            </a:r>
            <a:r>
              <a:rPr lang="en-GB" sz="2400"/>
              <a:t>. </a:t>
            </a:r>
            <a:endParaRPr lang="en-GB" sz="2400" dirty="0"/>
          </a:p>
        </p:txBody>
      </p:sp>
    </p:spTree>
    <p:extLst>
      <p:ext uri="{BB962C8B-B14F-4D97-AF65-F5344CB8AC3E}">
        <p14:creationId xmlns:p14="http://schemas.microsoft.com/office/powerpoint/2010/main" val="721836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9BD2-DA4C-EDDA-DEAA-9732017A6586}"/>
              </a:ext>
            </a:extLst>
          </p:cNvPr>
          <p:cNvSpPr>
            <a:spLocks noGrp="1"/>
          </p:cNvSpPr>
          <p:nvPr>
            <p:ph type="title"/>
          </p:nvPr>
        </p:nvSpPr>
        <p:spPr/>
        <p:txBody>
          <a:bodyPr/>
          <a:lstStyle/>
          <a:p>
            <a:r>
              <a:rPr lang="en-GB" dirty="0"/>
              <a:t>Next week…</a:t>
            </a:r>
          </a:p>
        </p:txBody>
      </p:sp>
      <p:sp>
        <p:nvSpPr>
          <p:cNvPr id="3" name="Text Placeholder 2">
            <a:extLst>
              <a:ext uri="{FF2B5EF4-FFF2-40B4-BE49-F238E27FC236}">
                <a16:creationId xmlns:a16="http://schemas.microsoft.com/office/drawing/2014/main" id="{430CBFE9-1464-F5C3-DCA1-96BE1F0F8BC0}"/>
              </a:ext>
            </a:extLst>
          </p:cNvPr>
          <p:cNvSpPr>
            <a:spLocks noGrp="1"/>
          </p:cNvSpPr>
          <p:nvPr>
            <p:ph type="body" idx="1"/>
          </p:nvPr>
        </p:nvSpPr>
        <p:spPr/>
        <p:txBody>
          <a:bodyPr>
            <a:noAutofit/>
          </a:bodyPr>
          <a:lstStyle/>
          <a:p>
            <a:r>
              <a:rPr lang="en-GB" sz="2800" dirty="0"/>
              <a:t>Other Regression models</a:t>
            </a:r>
          </a:p>
          <a:p>
            <a:r>
              <a:rPr lang="en-GB" sz="2800" dirty="0"/>
              <a:t>How to improve the model:</a:t>
            </a:r>
          </a:p>
          <a:p>
            <a:pPr marL="457200" indent="-457200">
              <a:buFont typeface="Arial" panose="020B0604020202020204" pitchFamily="34" charset="0"/>
              <a:buChar char="•"/>
            </a:pPr>
            <a:r>
              <a:rPr lang="en-GB" sz="2800" dirty="0"/>
              <a:t>Feature Engineering, </a:t>
            </a:r>
          </a:p>
          <a:p>
            <a:pPr marL="457200" indent="-457200">
              <a:buFont typeface="Arial" panose="020B0604020202020204" pitchFamily="34" charset="0"/>
              <a:buChar char="•"/>
            </a:pPr>
            <a:r>
              <a:rPr lang="en-GB" sz="2800" dirty="0"/>
              <a:t>Augmentation </a:t>
            </a:r>
          </a:p>
          <a:p>
            <a:pPr marL="457200" indent="-457200">
              <a:buFont typeface="Arial" panose="020B0604020202020204" pitchFamily="34" charset="0"/>
              <a:buChar char="•"/>
            </a:pPr>
            <a:r>
              <a:rPr lang="en-GB" sz="2800" dirty="0"/>
              <a:t>Scaling</a:t>
            </a:r>
          </a:p>
        </p:txBody>
      </p:sp>
      <p:sp>
        <p:nvSpPr>
          <p:cNvPr id="4" name="Slide Number Placeholder 3">
            <a:extLst>
              <a:ext uri="{FF2B5EF4-FFF2-40B4-BE49-F238E27FC236}">
                <a16:creationId xmlns:a16="http://schemas.microsoft.com/office/drawing/2014/main" id="{7CF97331-3A5B-E900-A15B-11ECBC22DD87}"/>
              </a:ext>
            </a:extLst>
          </p:cNvPr>
          <p:cNvSpPr>
            <a:spLocks noGrp="1"/>
          </p:cNvSpPr>
          <p:nvPr>
            <p:ph type="sldNum" sz="quarter" idx="12"/>
          </p:nvPr>
        </p:nvSpPr>
        <p:spPr/>
        <p:txBody>
          <a:bodyPr/>
          <a:lstStyle/>
          <a:p>
            <a:fld id="{F74D7E6C-9B20-4593-B18C-8D2C7BEEFCA2}" type="slidenum">
              <a:rPr lang="en-GB" smtClean="0"/>
              <a:t>25</a:t>
            </a:fld>
            <a:endParaRPr lang="en-GB"/>
          </a:p>
        </p:txBody>
      </p:sp>
    </p:spTree>
    <p:extLst>
      <p:ext uri="{BB962C8B-B14F-4D97-AF65-F5344CB8AC3E}">
        <p14:creationId xmlns:p14="http://schemas.microsoft.com/office/powerpoint/2010/main" val="1635046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9BD2-DA4C-EDDA-DEAA-9732017A6586}"/>
              </a:ext>
            </a:extLst>
          </p:cNvPr>
          <p:cNvSpPr>
            <a:spLocks noGrp="1"/>
          </p:cNvSpPr>
          <p:nvPr>
            <p:ph type="title"/>
          </p:nvPr>
        </p:nvSpPr>
        <p:spPr/>
        <p:txBody>
          <a:bodyPr/>
          <a:lstStyle/>
          <a:p>
            <a:r>
              <a:rPr lang="en-GB" noProof="0"/>
              <a:t>See you next week!</a:t>
            </a:r>
          </a:p>
        </p:txBody>
      </p:sp>
      <p:sp>
        <p:nvSpPr>
          <p:cNvPr id="3" name="Text Placeholder 2">
            <a:extLst>
              <a:ext uri="{FF2B5EF4-FFF2-40B4-BE49-F238E27FC236}">
                <a16:creationId xmlns:a16="http://schemas.microsoft.com/office/drawing/2014/main" id="{430CBFE9-1464-F5C3-DCA1-96BE1F0F8BC0}"/>
              </a:ext>
            </a:extLst>
          </p:cNvPr>
          <p:cNvSpPr>
            <a:spLocks noGrp="1"/>
          </p:cNvSpPr>
          <p:nvPr>
            <p:ph type="body" idx="1"/>
          </p:nvPr>
        </p:nvSpPr>
        <p:spPr/>
        <p:txBody>
          <a:bodyPr vert="horz" lIns="91440" tIns="45720" rIns="91440" bIns="45720" rtlCol="0" anchor="t">
            <a:noAutofit/>
          </a:bodyPr>
          <a:lstStyle/>
          <a:p>
            <a:r>
              <a:rPr lang="en-GB" noProof="0" dirty="0">
                <a:ea typeface="+mn-lt"/>
                <a:cs typeface="+mn-lt"/>
              </a:rPr>
              <a:t>😊</a:t>
            </a:r>
          </a:p>
          <a:p>
            <a:endParaRPr lang="en-GB" sz="3200" dirty="0">
              <a:ea typeface="+mn-lt"/>
              <a:cs typeface="+mn-lt"/>
            </a:endParaRPr>
          </a:p>
        </p:txBody>
      </p:sp>
      <p:sp>
        <p:nvSpPr>
          <p:cNvPr id="4" name="Slide Number Placeholder 3">
            <a:extLst>
              <a:ext uri="{FF2B5EF4-FFF2-40B4-BE49-F238E27FC236}">
                <a16:creationId xmlns:a16="http://schemas.microsoft.com/office/drawing/2014/main" id="{7CF97331-3A5B-E900-A15B-11ECBC22DD87}"/>
              </a:ext>
            </a:extLst>
          </p:cNvPr>
          <p:cNvSpPr>
            <a:spLocks noGrp="1"/>
          </p:cNvSpPr>
          <p:nvPr>
            <p:ph type="sldNum" sz="quarter" idx="12"/>
          </p:nvPr>
        </p:nvSpPr>
        <p:spPr/>
        <p:txBody>
          <a:bodyPr/>
          <a:lstStyle/>
          <a:p>
            <a:fld id="{F74D7E6C-9B20-4593-B18C-8D2C7BEEFCA2}" type="slidenum">
              <a:rPr lang="en-GB" noProof="0" smtClean="0"/>
              <a:t>26</a:t>
            </a:fld>
            <a:endParaRPr lang="en-GB" noProof="0"/>
          </a:p>
        </p:txBody>
      </p:sp>
    </p:spTree>
    <p:extLst>
      <p:ext uri="{BB962C8B-B14F-4D97-AF65-F5344CB8AC3E}">
        <p14:creationId xmlns:p14="http://schemas.microsoft.com/office/powerpoint/2010/main" val="2207059535"/>
      </p:ext>
    </p:extLst>
  </p:cSld>
  <p:clrMapOvr>
    <a:masterClrMapping/>
  </p:clrMapOvr>
</p:sld>
</file>

<file path=ppt/theme/theme1.xml><?xml version="1.0" encoding="utf-8"?>
<a:theme xmlns:a="http://schemas.openxmlformats.org/drawingml/2006/main" name="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ppt/theme/theme2.xml><?xml version="1.0" encoding="utf-8"?>
<a:theme xmlns:a="http://schemas.openxmlformats.org/drawingml/2006/main" name="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07CDBDE7CAED942A2F703AEE831EDC5" ma:contentTypeVersion="7" ma:contentTypeDescription="Create a new document." ma:contentTypeScope="" ma:versionID="0e12d04cba7bb251e69f82b9ebdf8274">
  <xsd:schema xmlns:xsd="http://www.w3.org/2001/XMLSchema" xmlns:xs="http://www.w3.org/2001/XMLSchema" xmlns:p="http://schemas.microsoft.com/office/2006/metadata/properties" xmlns:ns2="1c3b38b4-e909-4311-a6ff-2b7e57d505da" targetNamespace="http://schemas.microsoft.com/office/2006/metadata/properties" ma:root="true" ma:fieldsID="2e189daeb25f9a78fa63fdb64c917f04" ns2:_="">
    <xsd:import namespace="1c3b38b4-e909-4311-a6ff-2b7e57d505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b38b4-e909-4311-a6ff-2b7e57d505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F326AB-6216-4CA3-88FD-B7B6A4FCA6DE}">
  <ds:schemaRefs>
    <ds:schemaRef ds:uri="http://schemas.microsoft.com/office/infopath/2007/PartnerControls"/>
    <ds:schemaRef ds:uri="http://purl.org/dc/dcmitype/"/>
    <ds:schemaRef ds:uri="http://schemas.microsoft.com/office/2006/documentManagement/types"/>
    <ds:schemaRef ds:uri="http://schemas.microsoft.com/office/2006/metadata/properties"/>
    <ds:schemaRef ds:uri="9350d5f9-8fc6-4558-b239-55d3978af598"/>
    <ds:schemaRef ds:uri="http://purl.org/dc/elements/1.1/"/>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391B8459-AFF4-4442-A1BA-24E9D5C28FF4}"/>
</file>

<file path=customXml/itemProps3.xml><?xml version="1.0" encoding="utf-8"?>
<ds:datastoreItem xmlns:ds="http://schemas.openxmlformats.org/officeDocument/2006/customXml" ds:itemID="{E4AECF29-0F03-49C2-99D2-111CBE3FB1ED}">
  <ds:schemaRefs>
    <ds:schemaRef ds:uri="http://schemas.microsoft.com/sharepoint/v3/contenttype/forms"/>
  </ds:schemaRefs>
</ds:datastoreItem>
</file>

<file path=docMetadata/LabelInfo.xml><?xml version="1.0" encoding="utf-8"?>
<clbl:labelList xmlns:clbl="http://schemas.microsoft.com/office/2020/mipLabelMetadata">
  <clbl:label id="{2e1397f6-cc90-4634-bb67-5e1f901cf3de}" enabled="0" method="" siteId="{2e1397f6-cc90-4634-bb67-5e1f901cf3de}" removed="1"/>
</clbl:labelList>
</file>

<file path=docProps/app.xml><?xml version="1.0" encoding="utf-8"?>
<Properties xmlns="http://schemas.openxmlformats.org/officeDocument/2006/extended-properties" xmlns:vt="http://schemas.openxmlformats.org/officeDocument/2006/docPropsVTypes">
  <Template>LT01-Orange_on_White</Template>
  <TotalTime>227</TotalTime>
  <Words>2199</Words>
  <Application>Microsoft Office PowerPoint</Application>
  <PresentationFormat>Widescreen</PresentationFormat>
  <Paragraphs>233</Paragraphs>
  <Slides>26</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Aptos</vt:lpstr>
      <vt:lpstr>Arial</vt:lpstr>
      <vt:lpstr>Calibri</vt:lpstr>
      <vt:lpstr>Calibri Light</vt:lpstr>
      <vt:lpstr>Helvetica Neue</vt:lpstr>
      <vt:lpstr>LT01-Orange_on_White</vt:lpstr>
      <vt:lpstr>LT01-Orange_on_White</vt:lpstr>
      <vt:lpstr>03.02</vt:lpstr>
      <vt:lpstr>KSBs</vt:lpstr>
      <vt:lpstr>P17</vt:lpstr>
      <vt:lpstr>P19</vt:lpstr>
      <vt:lpstr>D09</vt:lpstr>
      <vt:lpstr>Today’s Objectives</vt:lpstr>
      <vt:lpstr>Covariance and Correlation(recap)</vt:lpstr>
      <vt:lpstr>Covariance and Correlation</vt:lpstr>
      <vt:lpstr>Covariance and Correlation</vt:lpstr>
      <vt:lpstr>Covariance and Correlation</vt:lpstr>
      <vt:lpstr>Covariance and Correlation</vt:lpstr>
      <vt:lpstr>Covariance and Correlation</vt:lpstr>
      <vt:lpstr>Linear Regression Assumptions</vt:lpstr>
      <vt:lpstr>Assumptions</vt:lpstr>
      <vt:lpstr>The problem of multicoliniarity</vt:lpstr>
      <vt:lpstr>The problem of multicollinearity</vt:lpstr>
      <vt:lpstr>Multicollinearity explained with diagrams https://www.theanalysisfactor.com/multicollinearity-explained-visually/</vt:lpstr>
      <vt:lpstr>The problem of multicollinearity</vt:lpstr>
      <vt:lpstr>Variance Inflation Factor</vt:lpstr>
      <vt:lpstr>The problem of multicollinearity</vt:lpstr>
      <vt:lpstr>Homoscedasticity</vt:lpstr>
      <vt:lpstr>Recap, OTJ, next week</vt:lpstr>
      <vt:lpstr>Recap of today’s objectives</vt:lpstr>
      <vt:lpstr>OTJ Activities</vt:lpstr>
      <vt:lpstr>Next week…</vt:lpstr>
      <vt:lpstr>See you next week!</vt:lpstr>
    </vt:vector>
  </TitlesOfParts>
  <Company>The ATP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Yates</dc:creator>
  <cp:lastModifiedBy>Georgina Thomas</cp:lastModifiedBy>
  <cp:revision>7</cp:revision>
  <dcterms:created xsi:type="dcterms:W3CDTF">2023-01-10T20:06:08Z</dcterms:created>
  <dcterms:modified xsi:type="dcterms:W3CDTF">2026-01-29T13:42:30Z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18500</vt:r8>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ContentTypeId">
    <vt:lpwstr>0x010100707CDBDE7CAED942A2F703AEE831EDC5</vt:lpwstr>
  </property>
</Properties>
</file>