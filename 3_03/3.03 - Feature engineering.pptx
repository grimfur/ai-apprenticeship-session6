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4"/>
    <p:sldMasterId id="2147483862" r:id="rId5"/>
  </p:sldMasterIdLst>
  <p:notesMasterIdLst>
    <p:notesMasterId r:id="rId30"/>
  </p:notesMasterIdLst>
  <p:handoutMasterIdLst>
    <p:handoutMasterId r:id="rId31"/>
  </p:handoutMasterIdLst>
  <p:sldIdLst>
    <p:sldId id="351" r:id="rId6"/>
    <p:sldId id="452" r:id="rId7"/>
    <p:sldId id="453" r:id="rId8"/>
    <p:sldId id="454" r:id="rId9"/>
    <p:sldId id="455" r:id="rId10"/>
    <p:sldId id="456" r:id="rId11"/>
    <p:sldId id="461" r:id="rId12"/>
    <p:sldId id="460" r:id="rId13"/>
    <p:sldId id="445" r:id="rId14"/>
    <p:sldId id="462" r:id="rId15"/>
    <p:sldId id="463" r:id="rId16"/>
    <p:sldId id="464" r:id="rId17"/>
    <p:sldId id="466" r:id="rId18"/>
    <p:sldId id="465" r:id="rId19"/>
    <p:sldId id="467" r:id="rId20"/>
    <p:sldId id="468" r:id="rId21"/>
    <p:sldId id="469" r:id="rId22"/>
    <p:sldId id="470" r:id="rId23"/>
    <p:sldId id="273" r:id="rId24"/>
    <p:sldId id="275" r:id="rId25"/>
    <p:sldId id="458" r:id="rId26"/>
    <p:sldId id="471" r:id="rId27"/>
    <p:sldId id="472" r:id="rId28"/>
    <p:sldId id="45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bjectives" id="{87A3F611-8651-4B97-A4CA-C836794DBDAF}">
          <p14:sldIdLst>
            <p14:sldId id="351"/>
            <p14:sldId id="452"/>
            <p14:sldId id="453"/>
            <p14:sldId id="454"/>
            <p14:sldId id="455"/>
            <p14:sldId id="456"/>
          </p14:sldIdLst>
        </p14:section>
        <p14:section name="Recap" id="{878752C9-14EA-4FCB-B5C5-3D55CB2F4CEF}">
          <p14:sldIdLst>
            <p14:sldId id="461"/>
            <p14:sldId id="460"/>
            <p14:sldId id="445"/>
            <p14:sldId id="462"/>
            <p14:sldId id="463"/>
            <p14:sldId id="464"/>
            <p14:sldId id="466"/>
            <p14:sldId id="465"/>
            <p14:sldId id="467"/>
            <p14:sldId id="468"/>
            <p14:sldId id="469"/>
            <p14:sldId id="470"/>
          </p14:sldIdLst>
        </p14:section>
        <p14:section name="Recap, OTJ, next week" id="{F1DFB630-43D7-47A1-9140-377E7F4BD2ED}">
          <p14:sldIdLst>
            <p14:sldId id="273"/>
            <p14:sldId id="275"/>
            <p14:sldId id="458"/>
            <p14:sldId id="471"/>
            <p14:sldId id="472"/>
            <p14:sldId id="4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E165C8-0511-C2A3-707E-3BB6D8759BCE}" name="Sally Sam" initials="SS" userId="S::s.sam@learn-tech.com::9967b577-c1cf-4fdf-8c77-46a50f97a2f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FFFF00"/>
    <a:srgbClr val="7F7F7F"/>
    <a:srgbClr val="FCCA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644" autoAdjust="0"/>
  </p:normalViewPr>
  <p:slideViewPr>
    <p:cSldViewPr snapToGrid="0">
      <p:cViewPr varScale="1">
        <p:scale>
          <a:sx n="76" d="100"/>
          <a:sy n="76" d="100"/>
        </p:scale>
        <p:origin x="1914" y="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na Thomas" userId="d204b9c7-e8b5-4a67-887f-b8d0b5ea9480" providerId="ADAL" clId="{1D9F5611-84BA-4C42-94F5-CA489C817A3A}"/>
    <pc:docChg chg="custSel delSld modSld modSection">
      <pc:chgData name="Georgina Thomas" userId="d204b9c7-e8b5-4a67-887f-b8d0b5ea9480" providerId="ADAL" clId="{1D9F5611-84BA-4C42-94F5-CA489C817A3A}" dt="2026-03-31T14:30:33.203" v="220" actId="20577"/>
      <pc:docMkLst>
        <pc:docMk/>
      </pc:docMkLst>
      <pc:sldChg chg="modSp mod">
        <pc:chgData name="Georgina Thomas" userId="d204b9c7-e8b5-4a67-887f-b8d0b5ea9480" providerId="ADAL" clId="{1D9F5611-84BA-4C42-94F5-CA489C817A3A}" dt="2026-03-31T14:30:33.203" v="220" actId="20577"/>
        <pc:sldMkLst>
          <pc:docMk/>
          <pc:sldMk cId="721836418" sldId="458"/>
        </pc:sldMkLst>
        <pc:spChg chg="mod">
          <ac:chgData name="Georgina Thomas" userId="d204b9c7-e8b5-4a67-887f-b8d0b5ea9480" providerId="ADAL" clId="{1D9F5611-84BA-4C42-94F5-CA489C817A3A}" dt="2026-03-31T14:30:33.203" v="220" actId="20577"/>
          <ac:spMkLst>
            <pc:docMk/>
            <pc:sldMk cId="721836418" sldId="458"/>
            <ac:spMk id="11" creationId="{2C015F95-A982-F0CF-4F36-3909E1F2F3AB}"/>
          </ac:spMkLst>
        </pc:spChg>
      </pc:sldChg>
      <pc:sldChg chg="modSp mod">
        <pc:chgData name="Georgina Thomas" userId="d204b9c7-e8b5-4a67-887f-b8d0b5ea9480" providerId="ADAL" clId="{1D9F5611-84BA-4C42-94F5-CA489C817A3A}" dt="2026-03-31T14:24:07.677" v="219" actId="20577"/>
        <pc:sldMkLst>
          <pc:docMk/>
          <pc:sldMk cId="1635046976" sldId="459"/>
        </pc:sldMkLst>
        <pc:spChg chg="mod">
          <ac:chgData name="Georgina Thomas" userId="d204b9c7-e8b5-4a67-887f-b8d0b5ea9480" providerId="ADAL" clId="{1D9F5611-84BA-4C42-94F5-CA489C817A3A}" dt="2026-03-31T14:24:07.677" v="219" actId="20577"/>
          <ac:spMkLst>
            <pc:docMk/>
            <pc:sldMk cId="1635046976" sldId="459"/>
            <ac:spMk id="3" creationId="{430CBFE9-1464-F5C3-DCA1-96BE1F0F8BC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CF136E-D657-81B7-D057-7C440D1DE2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ED79F7B-67B1-F9AC-71DA-010B949AEF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FA1E70-0AA0-4879-A8CC-123590B5651D}" type="datetimeFigureOut">
              <a:rPr lang="en-US" smtClean="0"/>
              <a:t>3/31/2026</a:t>
            </a:fld>
            <a:endParaRPr lang="en-US"/>
          </a:p>
        </p:txBody>
      </p:sp>
      <p:sp>
        <p:nvSpPr>
          <p:cNvPr id="4" name="Footer Placeholder 3">
            <a:extLst>
              <a:ext uri="{FF2B5EF4-FFF2-40B4-BE49-F238E27FC236}">
                <a16:creationId xmlns:a16="http://schemas.microsoft.com/office/drawing/2014/main" id="{4E3D9D27-22CE-E312-F1FB-31EAF6D013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1401653-4F6C-89DA-4F86-BA714F4CA5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565495-6718-4404-A396-AB1E65EC6AF8}" type="slidenum">
              <a:rPr lang="en-US" smtClean="0"/>
              <a:t>‹#›</a:t>
            </a:fld>
            <a:endParaRPr lang="en-US"/>
          </a:p>
        </p:txBody>
      </p:sp>
    </p:spTree>
    <p:extLst>
      <p:ext uri="{BB962C8B-B14F-4D97-AF65-F5344CB8AC3E}">
        <p14:creationId xmlns:p14="http://schemas.microsoft.com/office/powerpoint/2010/main" val="14741687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594A43-B6C5-44A6-9B31-870D4312C583}" type="datetimeFigureOut">
              <a:rPr lang="en-GB" smtClean="0"/>
              <a:t>31/03/2026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42C82-B38F-4633-ABD3-369A44C1CA8B}" type="slidenum">
              <a:rPr lang="en-GB" smtClean="0"/>
              <a:t>‹#›</a:t>
            </a:fld>
            <a:endParaRPr lang="en-GB"/>
          </a:p>
        </p:txBody>
      </p:sp>
    </p:spTree>
    <p:extLst>
      <p:ext uri="{BB962C8B-B14F-4D97-AF65-F5344CB8AC3E}">
        <p14:creationId xmlns:p14="http://schemas.microsoft.com/office/powerpoint/2010/main" val="36703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8</a:t>
            </a:fld>
            <a:endParaRPr lang="en-GB"/>
          </a:p>
        </p:txBody>
      </p:sp>
    </p:spTree>
    <p:extLst>
      <p:ext uri="{BB962C8B-B14F-4D97-AF65-F5344CB8AC3E}">
        <p14:creationId xmlns:p14="http://schemas.microsoft.com/office/powerpoint/2010/main" val="3876389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10</a:t>
            </a:fld>
            <a:endParaRPr lang="en-GB"/>
          </a:p>
        </p:txBody>
      </p:sp>
    </p:spTree>
    <p:extLst>
      <p:ext uri="{BB962C8B-B14F-4D97-AF65-F5344CB8AC3E}">
        <p14:creationId xmlns:p14="http://schemas.microsoft.com/office/powerpoint/2010/main" val="3870920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11</a:t>
            </a:fld>
            <a:endParaRPr lang="en-GB"/>
          </a:p>
        </p:txBody>
      </p:sp>
    </p:spTree>
    <p:extLst>
      <p:ext uri="{BB962C8B-B14F-4D97-AF65-F5344CB8AC3E}">
        <p14:creationId xmlns:p14="http://schemas.microsoft.com/office/powerpoint/2010/main" val="2125138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12</a:t>
            </a:fld>
            <a:endParaRPr lang="en-GB"/>
          </a:p>
        </p:txBody>
      </p:sp>
    </p:spTree>
    <p:extLst>
      <p:ext uri="{BB962C8B-B14F-4D97-AF65-F5344CB8AC3E}">
        <p14:creationId xmlns:p14="http://schemas.microsoft.com/office/powerpoint/2010/main" val="1307144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14</a:t>
            </a:fld>
            <a:endParaRPr lang="en-GB"/>
          </a:p>
        </p:txBody>
      </p:sp>
    </p:spTree>
    <p:extLst>
      <p:ext uri="{BB962C8B-B14F-4D97-AF65-F5344CB8AC3E}">
        <p14:creationId xmlns:p14="http://schemas.microsoft.com/office/powerpoint/2010/main" val="2649477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16</a:t>
            </a:fld>
            <a:endParaRPr lang="en-GB"/>
          </a:p>
        </p:txBody>
      </p:sp>
    </p:spTree>
    <p:extLst>
      <p:ext uri="{BB962C8B-B14F-4D97-AF65-F5344CB8AC3E}">
        <p14:creationId xmlns:p14="http://schemas.microsoft.com/office/powerpoint/2010/main" val="3720779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17</a:t>
            </a:fld>
            <a:endParaRPr lang="en-GB"/>
          </a:p>
        </p:txBody>
      </p:sp>
    </p:spTree>
    <p:extLst>
      <p:ext uri="{BB962C8B-B14F-4D97-AF65-F5344CB8AC3E}">
        <p14:creationId xmlns:p14="http://schemas.microsoft.com/office/powerpoint/2010/main" val="3753553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18</a:t>
            </a:fld>
            <a:endParaRPr lang="en-GB"/>
          </a:p>
        </p:txBody>
      </p:sp>
    </p:spTree>
    <p:extLst>
      <p:ext uri="{BB962C8B-B14F-4D97-AF65-F5344CB8AC3E}">
        <p14:creationId xmlns:p14="http://schemas.microsoft.com/office/powerpoint/2010/main" val="1746216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93E0A350-4266-A582-6920-5C96BF5223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38749" y="716003"/>
            <a:ext cx="7653251" cy="6149623"/>
          </a:xfrm>
          <a:prstGeom prst="rect">
            <a:avLst/>
          </a:prstGeom>
        </p:spPr>
      </p:pic>
      <p:sp>
        <p:nvSpPr>
          <p:cNvPr id="2" name="Title 1">
            <a:extLst>
              <a:ext uri="{FF2B5EF4-FFF2-40B4-BE49-F238E27FC236}">
                <a16:creationId xmlns:a16="http://schemas.microsoft.com/office/drawing/2014/main" id="{28032C5A-F51C-CBCF-6548-CB3F56DF1C26}"/>
              </a:ext>
            </a:extLst>
          </p:cNvPr>
          <p:cNvSpPr>
            <a:spLocks noGrp="1"/>
          </p:cNvSpPr>
          <p:nvPr>
            <p:ph type="ctrTitle"/>
          </p:nvPr>
        </p:nvSpPr>
        <p:spPr>
          <a:xfrm>
            <a:off x="242587" y="300942"/>
            <a:ext cx="9144000" cy="1513330"/>
          </a:xfrm>
        </p:spPr>
        <p:txBody>
          <a:bodyPr anchor="b"/>
          <a:lstStyle>
            <a:lvl1pPr algn="l">
              <a:defRPr sz="6000" b="1">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87F1F307-627B-BC4D-CA13-D474A64153C9}"/>
              </a:ext>
            </a:extLst>
          </p:cNvPr>
          <p:cNvSpPr>
            <a:spLocks noGrp="1"/>
          </p:cNvSpPr>
          <p:nvPr>
            <p:ph type="subTitle" idx="1"/>
          </p:nvPr>
        </p:nvSpPr>
        <p:spPr>
          <a:xfrm>
            <a:off x="242587" y="1814272"/>
            <a:ext cx="9144000" cy="662710"/>
          </a:xfrm>
        </p:spPr>
        <p:txBody>
          <a:bodyPr>
            <a:noAutofit/>
          </a:bodyPr>
          <a:lstStyle>
            <a:lvl1pPr marL="0" indent="0" algn="l">
              <a:buNone/>
              <a:defRPr sz="4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6D74298-BC2B-4A63-C754-90CF95F53D5D}"/>
              </a:ext>
            </a:extLst>
          </p:cNvPr>
          <p:cNvSpPr>
            <a:spLocks noGrp="1"/>
          </p:cNvSpPr>
          <p:nvPr>
            <p:ph type="dt" sz="half" idx="10"/>
          </p:nvPr>
        </p:nvSpPr>
        <p:spPr/>
        <p:txBody>
          <a:bodyPr/>
          <a:lstStyle>
            <a:lvl1pPr>
              <a:defRPr>
                <a:solidFill>
                  <a:schemeClr val="tx1"/>
                </a:solidFill>
              </a:defRPr>
            </a:lvl1pPr>
          </a:lstStyle>
          <a:p>
            <a:fld id="{CB29FFA8-3186-4C0E-9F77-F9BCEAB768E7}" type="datetime1">
              <a:rPr lang="en-GB" smtClean="0"/>
              <a:t>31/03/2026</a:t>
            </a:fld>
            <a:endParaRPr lang="en-GB"/>
          </a:p>
        </p:txBody>
      </p:sp>
      <p:sp>
        <p:nvSpPr>
          <p:cNvPr id="5" name="Footer Placeholder 4">
            <a:extLst>
              <a:ext uri="{FF2B5EF4-FFF2-40B4-BE49-F238E27FC236}">
                <a16:creationId xmlns:a16="http://schemas.microsoft.com/office/drawing/2014/main" id="{1EEA0D40-36A9-9796-44E6-FE2E012C399E}"/>
              </a:ext>
            </a:extLst>
          </p:cNvPr>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a:extLst>
              <a:ext uri="{FF2B5EF4-FFF2-40B4-BE49-F238E27FC236}">
                <a16:creationId xmlns:a16="http://schemas.microsoft.com/office/drawing/2014/main" id="{0075C5CF-CD0E-984C-F84E-6DCB75E08BEF}"/>
              </a:ext>
            </a:extLst>
          </p:cNvPr>
          <p:cNvSpPr>
            <a:spLocks noGrp="1"/>
          </p:cNvSpPr>
          <p:nvPr>
            <p:ph type="sldNum" sz="quarter" idx="12"/>
          </p:nvPr>
        </p:nvSpPr>
        <p:spPr/>
        <p:txBody>
          <a:bodyPr/>
          <a:lstStyle>
            <a:lvl1pPr>
              <a:defRPr>
                <a:solidFill>
                  <a:schemeClr val="tx1"/>
                </a:solidFill>
              </a:defRPr>
            </a:lvl1pPr>
          </a:lstStyle>
          <a:p>
            <a:fld id="{F74D7E6C-9B20-4593-B18C-8D2C7BEEFCA2}" type="slidenum">
              <a:rPr lang="en-GB" smtClean="0"/>
              <a:pPr/>
              <a:t>‹#›</a:t>
            </a:fld>
            <a:endParaRPr lang="en-GB"/>
          </a:p>
        </p:txBody>
      </p:sp>
      <p:pic>
        <p:nvPicPr>
          <p:cNvPr id="8" name="Picture 7" descr="A picture containing text, clipart&#10;&#10;Description automatically generated">
            <a:extLst>
              <a:ext uri="{FF2B5EF4-FFF2-40B4-BE49-F238E27FC236}">
                <a16:creationId xmlns:a16="http://schemas.microsoft.com/office/drawing/2014/main" id="{0EFCD07B-960A-26DA-7B21-1F6DB4CA6A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
        <p:nvSpPr>
          <p:cNvPr id="14" name="Text Placeholder 13">
            <a:extLst>
              <a:ext uri="{FF2B5EF4-FFF2-40B4-BE49-F238E27FC236}">
                <a16:creationId xmlns:a16="http://schemas.microsoft.com/office/drawing/2014/main" id="{16A5BC0E-3BB4-7653-DCF5-D67C5983AA0A}"/>
              </a:ext>
            </a:extLst>
          </p:cNvPr>
          <p:cNvSpPr>
            <a:spLocks noGrp="1"/>
          </p:cNvSpPr>
          <p:nvPr>
            <p:ph type="body" sz="quarter" idx="13" hasCustomPrompt="1"/>
          </p:nvPr>
        </p:nvSpPr>
        <p:spPr>
          <a:xfrm>
            <a:off x="1782502" y="3269325"/>
            <a:ext cx="7534878" cy="365125"/>
          </a:xfrm>
        </p:spPr>
        <p:txBody>
          <a:bodyPr wrap="square" anchor="ctr">
            <a:noAutofit/>
          </a:bodyPr>
          <a:lstStyle>
            <a:lvl1pPr marL="0" indent="0">
              <a:buNone/>
              <a:defRPr sz="2000">
                <a:solidFill>
                  <a:schemeClr val="bg1"/>
                </a:solidFill>
              </a:defRPr>
            </a:lvl1pPr>
            <a:lvl2pPr marL="457200" indent="0">
              <a:buNone/>
              <a:defRPr/>
            </a:lvl2pPr>
          </a:lstStyle>
          <a:p>
            <a:pPr lvl="0"/>
            <a:r>
              <a:rPr lang="en-GB"/>
              <a:t>Insert name of program</a:t>
            </a:r>
          </a:p>
        </p:txBody>
      </p:sp>
      <p:sp>
        <p:nvSpPr>
          <p:cNvPr id="17" name="Rectangle 16">
            <a:extLst>
              <a:ext uri="{FF2B5EF4-FFF2-40B4-BE49-F238E27FC236}">
                <a16:creationId xmlns:a16="http://schemas.microsoft.com/office/drawing/2014/main" id="{B7EB51FB-38DD-5F87-252E-078DE3D46908}"/>
              </a:ext>
            </a:extLst>
          </p:cNvPr>
          <p:cNvSpPr/>
          <p:nvPr/>
        </p:nvSpPr>
        <p:spPr>
          <a:xfrm>
            <a:off x="0" y="3270029"/>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Programme:</a:t>
            </a:r>
          </a:p>
        </p:txBody>
      </p:sp>
      <p:sp>
        <p:nvSpPr>
          <p:cNvPr id="21" name="Rectangle 20">
            <a:extLst>
              <a:ext uri="{FF2B5EF4-FFF2-40B4-BE49-F238E27FC236}">
                <a16:creationId xmlns:a16="http://schemas.microsoft.com/office/drawing/2014/main" id="{F04C0CEA-DE58-C6B3-9B2E-8CE71EA304CA}"/>
              </a:ext>
            </a:extLst>
          </p:cNvPr>
          <p:cNvSpPr/>
          <p:nvPr/>
        </p:nvSpPr>
        <p:spPr>
          <a:xfrm>
            <a:off x="0" y="4707775"/>
            <a:ext cx="1782502" cy="248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800" b="1">
                <a:solidFill>
                  <a:schemeClr val="bg1"/>
                </a:solidFill>
              </a:rPr>
              <a:t>Email:</a:t>
            </a:r>
          </a:p>
        </p:txBody>
      </p:sp>
      <p:sp>
        <p:nvSpPr>
          <p:cNvPr id="31" name="Rectangle 30">
            <a:extLst>
              <a:ext uri="{FF2B5EF4-FFF2-40B4-BE49-F238E27FC236}">
                <a16:creationId xmlns:a16="http://schemas.microsoft.com/office/drawing/2014/main" id="{05559DE5-06EE-DB80-A45E-181EFC9DE390}"/>
              </a:ext>
            </a:extLst>
          </p:cNvPr>
          <p:cNvSpPr/>
          <p:nvPr/>
        </p:nvSpPr>
        <p:spPr>
          <a:xfrm>
            <a:off x="0" y="3736505"/>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Unit:</a:t>
            </a:r>
          </a:p>
        </p:txBody>
      </p:sp>
      <p:sp>
        <p:nvSpPr>
          <p:cNvPr id="32" name="Rectangle 31">
            <a:extLst>
              <a:ext uri="{FF2B5EF4-FFF2-40B4-BE49-F238E27FC236}">
                <a16:creationId xmlns:a16="http://schemas.microsoft.com/office/drawing/2014/main" id="{E22F305A-C893-369D-A6CB-7A88300DFD88}"/>
              </a:ext>
            </a:extLst>
          </p:cNvPr>
          <p:cNvSpPr/>
          <p:nvPr/>
        </p:nvSpPr>
        <p:spPr>
          <a:xfrm>
            <a:off x="0" y="4201781"/>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Trainer:</a:t>
            </a:r>
          </a:p>
        </p:txBody>
      </p:sp>
      <p:sp>
        <p:nvSpPr>
          <p:cNvPr id="35" name="Text Placeholder 13">
            <a:extLst>
              <a:ext uri="{FF2B5EF4-FFF2-40B4-BE49-F238E27FC236}">
                <a16:creationId xmlns:a16="http://schemas.microsoft.com/office/drawing/2014/main" id="{9EF9BD93-126A-A9E4-9C66-BD0088ED7126}"/>
              </a:ext>
            </a:extLst>
          </p:cNvPr>
          <p:cNvSpPr>
            <a:spLocks noGrp="1"/>
          </p:cNvSpPr>
          <p:nvPr>
            <p:ph type="body" sz="quarter" idx="14" hasCustomPrompt="1"/>
          </p:nvPr>
        </p:nvSpPr>
        <p:spPr>
          <a:xfrm>
            <a:off x="1782502" y="3715056"/>
            <a:ext cx="7534878" cy="365125"/>
          </a:xfrm>
        </p:spPr>
        <p:txBody>
          <a:bodyPr anchor="ctr">
            <a:noAutofit/>
          </a:bodyPr>
          <a:lstStyle>
            <a:lvl1pPr marL="0" indent="0">
              <a:buNone/>
              <a:defRPr sz="2000">
                <a:solidFill>
                  <a:schemeClr val="bg1"/>
                </a:solidFill>
              </a:defRPr>
            </a:lvl1pPr>
            <a:lvl2pPr marL="457200" indent="0">
              <a:buNone/>
              <a:defRPr/>
            </a:lvl2pPr>
          </a:lstStyle>
          <a:p>
            <a:pPr lvl="0"/>
            <a:r>
              <a:rPr lang="en-GB"/>
              <a:t>Insert name of Unit</a:t>
            </a:r>
          </a:p>
        </p:txBody>
      </p:sp>
      <p:sp>
        <p:nvSpPr>
          <p:cNvPr id="36" name="Text Placeholder 13">
            <a:extLst>
              <a:ext uri="{FF2B5EF4-FFF2-40B4-BE49-F238E27FC236}">
                <a16:creationId xmlns:a16="http://schemas.microsoft.com/office/drawing/2014/main" id="{D9ACFA5F-2C2D-14E8-07FD-6DE9BDDAFF76}"/>
              </a:ext>
            </a:extLst>
          </p:cNvPr>
          <p:cNvSpPr>
            <a:spLocks noGrp="1"/>
          </p:cNvSpPr>
          <p:nvPr>
            <p:ph type="body" sz="quarter" idx="15" hasCustomPrompt="1"/>
          </p:nvPr>
        </p:nvSpPr>
        <p:spPr>
          <a:xfrm>
            <a:off x="1770927" y="4180331"/>
            <a:ext cx="7534878" cy="365125"/>
          </a:xfrm>
        </p:spPr>
        <p:txBody>
          <a:bodyPr anchor="ctr">
            <a:noAutofit/>
          </a:bodyPr>
          <a:lstStyle>
            <a:lvl1pPr marL="0" indent="0">
              <a:buNone/>
              <a:defRPr sz="2000">
                <a:solidFill>
                  <a:schemeClr val="bg1"/>
                </a:solidFill>
              </a:defRPr>
            </a:lvl1pPr>
            <a:lvl2pPr marL="457200" indent="0">
              <a:buNone/>
              <a:defRPr/>
            </a:lvl2pPr>
          </a:lstStyle>
          <a:p>
            <a:pPr lvl="0"/>
            <a:r>
              <a:rPr lang="en-GB"/>
              <a:t>Insert name of trainer</a:t>
            </a:r>
          </a:p>
        </p:txBody>
      </p:sp>
      <p:sp>
        <p:nvSpPr>
          <p:cNvPr id="38" name="Text Placeholder 13">
            <a:extLst>
              <a:ext uri="{FF2B5EF4-FFF2-40B4-BE49-F238E27FC236}">
                <a16:creationId xmlns:a16="http://schemas.microsoft.com/office/drawing/2014/main" id="{4FD5ACC9-C36F-2099-6576-7C1B0F64E717}"/>
              </a:ext>
            </a:extLst>
          </p:cNvPr>
          <p:cNvSpPr>
            <a:spLocks noGrp="1"/>
          </p:cNvSpPr>
          <p:nvPr>
            <p:ph type="body" sz="quarter" idx="17" hasCustomPrompt="1"/>
          </p:nvPr>
        </p:nvSpPr>
        <p:spPr>
          <a:xfrm>
            <a:off x="1782502" y="4637813"/>
            <a:ext cx="7534878" cy="365125"/>
          </a:xfrm>
        </p:spPr>
        <p:txBody>
          <a:bodyPr anchor="ctr">
            <a:noAutofit/>
          </a:bodyPr>
          <a:lstStyle>
            <a:lvl1pPr marL="0" indent="0">
              <a:buNone/>
              <a:defRPr sz="1800">
                <a:solidFill>
                  <a:schemeClr val="bg1"/>
                </a:solidFill>
              </a:defRPr>
            </a:lvl1pPr>
            <a:lvl2pPr marL="457200" indent="0">
              <a:buNone/>
              <a:defRPr/>
            </a:lvl2pPr>
          </a:lstStyle>
          <a:p>
            <a:pPr lvl="0"/>
            <a:r>
              <a:rPr lang="en-GB"/>
              <a:t>Insert name of trainer</a:t>
            </a:r>
          </a:p>
        </p:txBody>
      </p:sp>
      <p:sp>
        <p:nvSpPr>
          <p:cNvPr id="10" name="Rectangle 9">
            <a:extLst>
              <a:ext uri="{FF2B5EF4-FFF2-40B4-BE49-F238E27FC236}">
                <a16:creationId xmlns:a16="http://schemas.microsoft.com/office/drawing/2014/main" id="{B8010667-3CDC-D674-C526-EA69AFF2F818}"/>
              </a:ext>
            </a:extLst>
          </p:cNvPr>
          <p:cNvSpPr/>
          <p:nvPr userDrawn="1"/>
        </p:nvSpPr>
        <p:spPr>
          <a:xfrm>
            <a:off x="242587" y="5496225"/>
            <a:ext cx="6817970" cy="638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GB" sz="2400" b="1">
                <a:solidFill>
                  <a:schemeClr val="bg1"/>
                </a:solidFill>
              </a:rPr>
              <a:t>Safeguarding named lead: Lucy Brighton</a:t>
            </a:r>
          </a:p>
          <a:p>
            <a:pPr>
              <a:lnSpc>
                <a:spcPct val="120000"/>
              </a:lnSpc>
            </a:pPr>
            <a:r>
              <a:rPr lang="en-GB" sz="2400" b="1">
                <a:solidFill>
                  <a:schemeClr val="bg1"/>
                </a:solidFill>
              </a:rPr>
              <a:t>Safeguarding phone number: 0333 014 0270</a:t>
            </a:r>
            <a:endParaRPr lang="en-GB" sz="2400">
              <a:solidFill>
                <a:schemeClr val="bg1"/>
              </a:solidFill>
            </a:endParaRPr>
          </a:p>
        </p:txBody>
      </p:sp>
    </p:spTree>
    <p:extLst>
      <p:ext uri="{BB962C8B-B14F-4D97-AF65-F5344CB8AC3E}">
        <p14:creationId xmlns:p14="http://schemas.microsoft.com/office/powerpoint/2010/main" val="81937798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31/03/2026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3881546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a:xfrm>
            <a:off x="323850" y="1485900"/>
            <a:ext cx="11245849" cy="4870450"/>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31/03/2026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64017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1" y="1493042"/>
            <a:ext cx="558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217332" y="1484416"/>
            <a:ext cx="558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31/03/2026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404280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1" y="1493042"/>
            <a:ext cx="3600000"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4325575" y="1493042"/>
            <a:ext cx="3600000"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31/03/2026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Content Placeholder 3">
            <a:extLst>
              <a:ext uri="{FF2B5EF4-FFF2-40B4-BE49-F238E27FC236}">
                <a16:creationId xmlns:a16="http://schemas.microsoft.com/office/drawing/2014/main" id="{FD68426C-E7FD-DA9F-F756-11A81499FAD6}"/>
              </a:ext>
            </a:extLst>
          </p:cNvPr>
          <p:cNvSpPr>
            <a:spLocks noGrp="1"/>
          </p:cNvSpPr>
          <p:nvPr>
            <p:ph sz="half" idx="13"/>
          </p:nvPr>
        </p:nvSpPr>
        <p:spPr>
          <a:xfrm>
            <a:off x="8270149" y="1493042"/>
            <a:ext cx="3600000"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25335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ingle Question">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9C96DCA-F21B-4262-AF7D-C0A9AA51A343}" type="datetime1">
              <a:rPr lang="en-GB" smtClean="0"/>
              <a:t>31/03/2026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6" name="Graphic 5">
            <a:extLst>
              <a:ext uri="{FF2B5EF4-FFF2-40B4-BE49-F238E27FC236}">
                <a16:creationId xmlns:a16="http://schemas.microsoft.com/office/drawing/2014/main" id="{439BA84F-729C-82EC-2A58-1D3190AD2A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793077" y="1082625"/>
            <a:ext cx="6349721" cy="5775375"/>
          </a:xfrm>
          <a:prstGeom prst="rect">
            <a:avLst/>
          </a:prstGeom>
        </p:spPr>
      </p:pic>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0" y="1280160"/>
            <a:ext cx="10857479" cy="1762298"/>
          </a:xfrm>
        </p:spPr>
        <p:txBody>
          <a:bodyPr>
            <a:normAutofit/>
          </a:bodyPr>
          <a:lstStyle>
            <a:lvl1pPr marL="0" indent="0" algn="l">
              <a:buNone/>
              <a:defRPr sz="6600" b="1"/>
            </a:lvl1pPr>
          </a:lstStyle>
          <a:p>
            <a:pPr lvl="0"/>
            <a:r>
              <a:rPr lang="en-GB"/>
              <a:t>Insert your question here</a:t>
            </a:r>
          </a:p>
        </p:txBody>
      </p:sp>
      <p:sp>
        <p:nvSpPr>
          <p:cNvPr id="10" name="Text Placeholder 9">
            <a:extLst>
              <a:ext uri="{FF2B5EF4-FFF2-40B4-BE49-F238E27FC236}">
                <a16:creationId xmlns:a16="http://schemas.microsoft.com/office/drawing/2014/main" id="{2E40453F-B3F6-3134-F92A-D18CCA53BE29}"/>
              </a:ext>
            </a:extLst>
          </p:cNvPr>
          <p:cNvSpPr>
            <a:spLocks noGrp="1"/>
          </p:cNvSpPr>
          <p:nvPr>
            <p:ph type="body" sz="quarter" idx="14" hasCustomPrompt="1"/>
          </p:nvPr>
        </p:nvSpPr>
        <p:spPr>
          <a:xfrm>
            <a:off x="661988" y="3406775"/>
            <a:ext cx="9388138" cy="1834825"/>
          </a:xfrm>
        </p:spPr>
        <p:txBody>
          <a:bodyPr>
            <a:normAutofit/>
          </a:bodyPr>
          <a:lstStyle>
            <a:lvl1pPr marL="0" indent="0" algn="l">
              <a:buNone/>
              <a:defRPr sz="4000"/>
            </a:lvl1pPr>
          </a:lstStyle>
          <a:p>
            <a:pPr lvl="0"/>
            <a:r>
              <a:rPr lang="en-GB"/>
              <a:t>Insert (optional) answer here</a:t>
            </a:r>
          </a:p>
        </p:txBody>
      </p:sp>
      <p:sp>
        <p:nvSpPr>
          <p:cNvPr id="11" name="Rectangle 10">
            <a:extLst>
              <a:ext uri="{FF2B5EF4-FFF2-40B4-BE49-F238E27FC236}">
                <a16:creationId xmlns:a16="http://schemas.microsoft.com/office/drawing/2014/main" id="{0D109AA8-7BF1-F6F9-1EAD-F1E71B99A970}"/>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Question:</a:t>
            </a:r>
          </a:p>
        </p:txBody>
      </p:sp>
      <p:pic>
        <p:nvPicPr>
          <p:cNvPr id="5" name="Graphic 4">
            <a:extLst>
              <a:ext uri="{FF2B5EF4-FFF2-40B4-BE49-F238E27FC236}">
                <a16:creationId xmlns:a16="http://schemas.microsoft.com/office/drawing/2014/main" id="{7D358821-B7C8-E1A4-CBD0-28E313CEE14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9731" y="6264067"/>
            <a:ext cx="672269" cy="593932"/>
          </a:xfrm>
          <a:prstGeom prst="rect">
            <a:avLst/>
          </a:prstGeom>
        </p:spPr>
      </p:pic>
      <p:pic>
        <p:nvPicPr>
          <p:cNvPr id="7" name="Graphic 6">
            <a:extLst>
              <a:ext uri="{FF2B5EF4-FFF2-40B4-BE49-F238E27FC236}">
                <a16:creationId xmlns:a16="http://schemas.microsoft.com/office/drawing/2014/main" id="{8605F5D3-9E49-AAF0-A083-D9F506548D7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93077" y="1082625"/>
            <a:ext cx="6349721" cy="5775375"/>
          </a:xfrm>
          <a:prstGeom prst="rect">
            <a:avLst/>
          </a:prstGeom>
        </p:spPr>
      </p:pic>
      <p:sp>
        <p:nvSpPr>
          <p:cNvPr id="9" name="Rectangle 8">
            <a:extLst>
              <a:ext uri="{FF2B5EF4-FFF2-40B4-BE49-F238E27FC236}">
                <a16:creationId xmlns:a16="http://schemas.microsoft.com/office/drawing/2014/main" id="{D3E317F5-63E5-EB03-3994-8939746830F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Question:</a:t>
            </a:r>
          </a:p>
        </p:txBody>
      </p:sp>
    </p:spTree>
    <p:extLst>
      <p:ext uri="{BB962C8B-B14F-4D97-AF65-F5344CB8AC3E}">
        <p14:creationId xmlns:p14="http://schemas.microsoft.com/office/powerpoint/2010/main" val="251150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ctivity">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1EFA4326-4895-44AC-9425-C7B5345226E8}" type="datetime1">
              <a:rPr lang="en-GB" smtClean="0"/>
              <a:t>31/03/2026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1" y="1284900"/>
            <a:ext cx="9276979" cy="4849500"/>
          </a:xfrm>
        </p:spPr>
        <p:txBody>
          <a:bodyPr>
            <a:normAutofit/>
          </a:bodyPr>
          <a:lstStyle>
            <a:lvl1pPr marL="0" indent="0" algn="l">
              <a:buNone/>
              <a:defRPr sz="4800" b="0"/>
            </a:lvl1pPr>
          </a:lstStyle>
          <a:p>
            <a:pPr lvl="0"/>
            <a:r>
              <a:rPr lang="en-GB"/>
              <a:t>Insert your activity instructions here</a:t>
            </a:r>
          </a:p>
        </p:txBody>
      </p:sp>
      <p:sp>
        <p:nvSpPr>
          <p:cNvPr id="5" name="Rectangle 4">
            <a:extLst>
              <a:ext uri="{FF2B5EF4-FFF2-40B4-BE49-F238E27FC236}">
                <a16:creationId xmlns:a16="http://schemas.microsoft.com/office/drawing/2014/main" id="{5B5B87D8-E650-A843-E391-E5770D5B560C}"/>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Activity:</a:t>
            </a:r>
          </a:p>
        </p:txBody>
      </p:sp>
      <p:pic>
        <p:nvPicPr>
          <p:cNvPr id="9" name="Graphic 8">
            <a:extLst>
              <a:ext uri="{FF2B5EF4-FFF2-40B4-BE49-F238E27FC236}">
                <a16:creationId xmlns:a16="http://schemas.microsoft.com/office/drawing/2014/main" id="{68CD7ADB-FB1F-D5B1-69C5-9EC9CFD6FA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72156" y="488475"/>
            <a:ext cx="5711780" cy="6369525"/>
          </a:xfrm>
          <a:prstGeom prst="rect">
            <a:avLst/>
          </a:prstGeom>
        </p:spPr>
      </p:pic>
      <p:pic>
        <p:nvPicPr>
          <p:cNvPr id="6" name="Graphic 5">
            <a:extLst>
              <a:ext uri="{FF2B5EF4-FFF2-40B4-BE49-F238E27FC236}">
                <a16:creationId xmlns:a16="http://schemas.microsoft.com/office/drawing/2014/main" id="{1DC9C921-7D55-5C0A-2C89-26878770481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9731" y="6264067"/>
            <a:ext cx="672269" cy="593932"/>
          </a:xfrm>
          <a:prstGeom prst="rect">
            <a:avLst/>
          </a:prstGeom>
        </p:spPr>
      </p:pic>
      <p:sp>
        <p:nvSpPr>
          <p:cNvPr id="7" name="Rectangle 6">
            <a:extLst>
              <a:ext uri="{FF2B5EF4-FFF2-40B4-BE49-F238E27FC236}">
                <a16:creationId xmlns:a16="http://schemas.microsoft.com/office/drawing/2014/main" id="{4CB56C7A-4924-1DBB-823A-82476D2C954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Activity:</a:t>
            </a:r>
          </a:p>
        </p:txBody>
      </p:sp>
      <p:pic>
        <p:nvPicPr>
          <p:cNvPr id="10" name="Graphic 9">
            <a:extLst>
              <a:ext uri="{FF2B5EF4-FFF2-40B4-BE49-F238E27FC236}">
                <a16:creationId xmlns:a16="http://schemas.microsoft.com/office/drawing/2014/main" id="{4B565EA6-97CE-6D11-AFD0-B7F4B9BDD67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156" y="488475"/>
            <a:ext cx="5711780" cy="6369525"/>
          </a:xfrm>
          <a:prstGeom prst="rect">
            <a:avLst/>
          </a:prstGeom>
        </p:spPr>
      </p:pic>
    </p:spTree>
    <p:extLst>
      <p:ext uri="{BB962C8B-B14F-4D97-AF65-F5344CB8AC3E}">
        <p14:creationId xmlns:p14="http://schemas.microsoft.com/office/powerpoint/2010/main" val="1732640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B4C25-5530-ED44-E2F8-57CE545C3E7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0E5722-1DA3-6763-C076-255D4B78BB8E}"/>
              </a:ext>
            </a:extLst>
          </p:cNvPr>
          <p:cNvSpPr>
            <a:spLocks noGrp="1"/>
          </p:cNvSpPr>
          <p:nvPr>
            <p:ph type="dt" sz="half" idx="10"/>
          </p:nvPr>
        </p:nvSpPr>
        <p:spPr/>
        <p:txBody>
          <a:bodyPr/>
          <a:lstStyle/>
          <a:p>
            <a:fld id="{9313FAF7-3174-4F0E-A596-9B9474D3F723}" type="datetime1">
              <a:rPr lang="en-GB" smtClean="0"/>
              <a:t>31/03/2026</a:t>
            </a:fld>
            <a:endParaRPr lang="en-GB"/>
          </a:p>
        </p:txBody>
      </p:sp>
      <p:sp>
        <p:nvSpPr>
          <p:cNvPr id="4" name="Footer Placeholder 3">
            <a:extLst>
              <a:ext uri="{FF2B5EF4-FFF2-40B4-BE49-F238E27FC236}">
                <a16:creationId xmlns:a16="http://schemas.microsoft.com/office/drawing/2014/main" id="{6E4630BB-9338-5B3C-4554-C11FC9ED3B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BFC6DC6-CE32-5480-1402-1C7237D1475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312490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24F3CBB-A976-4321-AB25-FE2E1A6F9EA4}" type="datetime1">
              <a:rPr lang="en-GB" smtClean="0"/>
              <a:t>31/03/2026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5" name="Graphic 4">
            <a:extLst>
              <a:ext uri="{FF2B5EF4-FFF2-40B4-BE49-F238E27FC236}">
                <a16:creationId xmlns:a16="http://schemas.microsoft.com/office/drawing/2014/main" id="{EDF2AD44-6ABF-8E9F-04B4-9365644ACF4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519731" y="6264067"/>
            <a:ext cx="672269" cy="593932"/>
          </a:xfrm>
          <a:prstGeom prst="rect">
            <a:avLst/>
          </a:prstGeom>
        </p:spPr>
      </p:pic>
    </p:spTree>
    <p:extLst>
      <p:ext uri="{BB962C8B-B14F-4D97-AF65-F5344CB8AC3E}">
        <p14:creationId xmlns:p14="http://schemas.microsoft.com/office/powerpoint/2010/main" val="423647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0" y="1493042"/>
            <a:ext cx="5553075"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315076" y="1493042"/>
            <a:ext cx="5553074"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31/03/2026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4042800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31/03/2026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640177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31/03/2026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3881546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2.xml"/><Relationship Id="rId7" Type="http://schemas.openxmlformats.org/officeDocument/2006/relationships/image" Target="../media/image3.sv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1" y="1485900"/>
            <a:ext cx="11195880" cy="487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31/03/2026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2255860780"/>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61" r:id="rId5"/>
    <p:sldLayoutId id="2147483857" r:id="rId6"/>
    <p:sldLayoutId id="2147483858" r:id="rId7"/>
    <p:sldLayoutId id="2147483859" r:id="rId8"/>
    <p:sldLayoutId id="2147483860" r:id="rId9"/>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0" y="1485900"/>
            <a:ext cx="11563350" cy="48704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31/03/2026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dirty="0"/>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8">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2255860780"/>
      </p:ext>
    </p:extLst>
  </p:cSld>
  <p:clrMap bg1="lt1" tx1="dk1" bg2="lt2" tx2="dk2" accent1="accent1" accent2="accent2" accent3="accent3" accent4="accent4" accent5="accent5" accent6="accent6" hlink="hlink" folHlink="folHlink"/>
  <p:sldLayoutIdLst>
    <p:sldLayoutId id="2147483865" r:id="rId1"/>
    <p:sldLayoutId id="2147483864" r:id="rId2"/>
    <p:sldLayoutId id="2147483863" r:id="rId3"/>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www.mygreatlearning.com/blog/machine-learning-models/" TargetMode="External"/><Relationship Id="rId4" Type="http://schemas.openxmlformats.org/officeDocument/2006/relationships/hyperlink" Target="https://www.mygreatlearning.com/blog/what-is-feature-engineerin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datascienceparichay.com/article/pandas-get-dummies-functio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hyperlink" Target="https://blog.alliedoffsets.com/standardization-the-secret-to-better-data-science" TargetMode="Externa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hyperlink" Target="https://goldinlocks.github.io/Data-distributions-transformation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medium.com/@sahin.samia/a-comprehensive-introduction-to-generalized-linear-models-fd773d460c1d"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www.analyticsvidhya.com/blog/2021/10/understanding-polynomial-regression-model/" TargetMode="External"/><Relationship Id="rId5" Type="http://schemas.openxmlformats.org/officeDocument/2006/relationships/hyperlink" Target="https://machinewithdata.com/2018/06/29/types-of-regression-2/" TargetMode="Externa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www.analyticsvidhya.com/blog/2021/08/conceptual-understanding-of-logistic-regression-for-data-science-beginner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The_Black_Swan:_The_Impact_of_the_Highly_Improbable" TargetMode="External"/><Relationship Id="rId2" Type="http://schemas.openxmlformats.org/officeDocument/2006/relationships/hyperlink" Target="https://en.wikipedia.org/wiki/Outlier" TargetMode="Externa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3F5C23-0802-A4D7-F60A-4E94EF132E29}"/>
              </a:ext>
            </a:extLst>
          </p:cNvPr>
          <p:cNvSpPr>
            <a:spLocks noGrp="1"/>
          </p:cNvSpPr>
          <p:nvPr>
            <p:ph type="ctrTitle"/>
          </p:nvPr>
        </p:nvSpPr>
        <p:spPr/>
        <p:txBody>
          <a:bodyPr/>
          <a:lstStyle/>
          <a:p>
            <a:r>
              <a:rPr lang="en-GB" noProof="0" dirty="0"/>
              <a:t>3.03</a:t>
            </a:r>
          </a:p>
        </p:txBody>
      </p:sp>
      <p:sp>
        <p:nvSpPr>
          <p:cNvPr id="6" name="Subtitle 5">
            <a:extLst>
              <a:ext uri="{FF2B5EF4-FFF2-40B4-BE49-F238E27FC236}">
                <a16:creationId xmlns:a16="http://schemas.microsoft.com/office/drawing/2014/main" id="{963C011E-EF7A-33EE-4DEB-142310BC5566}"/>
              </a:ext>
            </a:extLst>
          </p:cNvPr>
          <p:cNvSpPr>
            <a:spLocks noGrp="1"/>
          </p:cNvSpPr>
          <p:nvPr>
            <p:ph type="subTitle" idx="1"/>
          </p:nvPr>
        </p:nvSpPr>
        <p:spPr>
          <a:xfrm>
            <a:off x="242587" y="1814272"/>
            <a:ext cx="11495526" cy="662710"/>
          </a:xfrm>
        </p:spPr>
        <p:txBody>
          <a:bodyPr/>
          <a:lstStyle/>
          <a:p>
            <a:pPr>
              <a:lnSpc>
                <a:spcPct val="100000"/>
              </a:lnSpc>
              <a:spcBef>
                <a:spcPts val="0"/>
              </a:spcBef>
            </a:pPr>
            <a:r>
              <a:rPr lang="en-GB" sz="4000" dirty="0">
                <a:ea typeface="Calibri"/>
                <a:cs typeface="Calibri"/>
              </a:rPr>
              <a:t>Feature engineering, feature scaling, and other regressions</a:t>
            </a:r>
            <a:endParaRPr lang="en-GB" sz="4000" noProof="0" dirty="0">
              <a:ea typeface="Calibri"/>
              <a:cs typeface="Calibri"/>
            </a:endParaRPr>
          </a:p>
        </p:txBody>
      </p:sp>
      <p:sp>
        <p:nvSpPr>
          <p:cNvPr id="4" name="Slide Number Placeholder 3">
            <a:extLst>
              <a:ext uri="{FF2B5EF4-FFF2-40B4-BE49-F238E27FC236}">
                <a16:creationId xmlns:a16="http://schemas.microsoft.com/office/drawing/2014/main" id="{A830FFAD-ABF8-CAB2-A6D8-4A5513452E75}"/>
              </a:ext>
            </a:extLst>
          </p:cNvPr>
          <p:cNvSpPr>
            <a:spLocks noGrp="1"/>
          </p:cNvSpPr>
          <p:nvPr>
            <p:ph type="sldNum" sz="quarter" idx="12"/>
          </p:nvPr>
        </p:nvSpPr>
        <p:spPr/>
        <p:txBody>
          <a:bodyPr/>
          <a:lstStyle/>
          <a:p>
            <a:fld id="{F74D7E6C-9B20-4593-B18C-8D2C7BEEFCA2}" type="slidenum">
              <a:rPr lang="en-GB" noProof="0" smtClean="0"/>
              <a:t>1</a:t>
            </a:fld>
            <a:endParaRPr lang="en-GB" noProof="0"/>
          </a:p>
        </p:txBody>
      </p:sp>
      <p:sp>
        <p:nvSpPr>
          <p:cNvPr id="7" name="Text Placeholder 6">
            <a:extLst>
              <a:ext uri="{FF2B5EF4-FFF2-40B4-BE49-F238E27FC236}">
                <a16:creationId xmlns:a16="http://schemas.microsoft.com/office/drawing/2014/main" id="{8D969894-7E4F-1E02-1B28-1A8395FCD155}"/>
              </a:ext>
            </a:extLst>
          </p:cNvPr>
          <p:cNvSpPr>
            <a:spLocks noGrp="1"/>
          </p:cNvSpPr>
          <p:nvPr>
            <p:ph type="body" sz="quarter" idx="13"/>
          </p:nvPr>
        </p:nvSpPr>
        <p:spPr>
          <a:xfrm>
            <a:off x="1782502" y="3278656"/>
            <a:ext cx="7534878" cy="365125"/>
          </a:xfrm>
        </p:spPr>
        <p:txBody>
          <a:bodyPr/>
          <a:lstStyle/>
          <a:p>
            <a:r>
              <a:rPr lang="en-GB" noProof="0"/>
              <a:t>Level 7 Artificial Intelligence (AI) Data Specialist</a:t>
            </a:r>
          </a:p>
        </p:txBody>
      </p:sp>
      <p:sp>
        <p:nvSpPr>
          <p:cNvPr id="8" name="Text Placeholder 7">
            <a:extLst>
              <a:ext uri="{FF2B5EF4-FFF2-40B4-BE49-F238E27FC236}">
                <a16:creationId xmlns:a16="http://schemas.microsoft.com/office/drawing/2014/main" id="{F0F0DD37-8557-A45F-9A01-678A88E07C61}"/>
              </a:ext>
            </a:extLst>
          </p:cNvPr>
          <p:cNvSpPr>
            <a:spLocks noGrp="1"/>
          </p:cNvSpPr>
          <p:nvPr>
            <p:ph type="body" sz="quarter" idx="14"/>
          </p:nvPr>
        </p:nvSpPr>
        <p:spPr>
          <a:xfrm>
            <a:off x="1782502" y="3724387"/>
            <a:ext cx="7534878" cy="365125"/>
          </a:xfrm>
        </p:spPr>
        <p:txBody>
          <a:bodyPr/>
          <a:lstStyle/>
          <a:p>
            <a:r>
              <a:rPr lang="en-GB" sz="2000" noProof="0"/>
              <a:t>Python, Tools and Steps to Build AI Models</a:t>
            </a:r>
            <a:endParaRPr lang="en-GB" noProof="0"/>
          </a:p>
        </p:txBody>
      </p:sp>
      <p:sp>
        <p:nvSpPr>
          <p:cNvPr id="9" name="Text Placeholder 8">
            <a:extLst>
              <a:ext uri="{FF2B5EF4-FFF2-40B4-BE49-F238E27FC236}">
                <a16:creationId xmlns:a16="http://schemas.microsoft.com/office/drawing/2014/main" id="{266A776D-AF90-C5F9-7AB0-3EF3F9B3B19A}"/>
              </a:ext>
            </a:extLst>
          </p:cNvPr>
          <p:cNvSpPr>
            <a:spLocks noGrp="1"/>
          </p:cNvSpPr>
          <p:nvPr>
            <p:ph type="body" sz="quarter" idx="15"/>
          </p:nvPr>
        </p:nvSpPr>
        <p:spPr>
          <a:xfrm>
            <a:off x="1770927" y="4189662"/>
            <a:ext cx="7534878" cy="365125"/>
          </a:xfrm>
        </p:spPr>
        <p:txBody>
          <a:bodyPr/>
          <a:lstStyle/>
          <a:p>
            <a:r>
              <a:rPr lang="en-GB" noProof="0" dirty="0"/>
              <a:t>Georgina Thomas</a:t>
            </a:r>
          </a:p>
        </p:txBody>
      </p:sp>
      <p:sp>
        <p:nvSpPr>
          <p:cNvPr id="10" name="Text Placeholder 9">
            <a:extLst>
              <a:ext uri="{FF2B5EF4-FFF2-40B4-BE49-F238E27FC236}">
                <a16:creationId xmlns:a16="http://schemas.microsoft.com/office/drawing/2014/main" id="{F00027BC-17BE-C7AA-3EF1-DD88E6017A37}"/>
              </a:ext>
            </a:extLst>
          </p:cNvPr>
          <p:cNvSpPr>
            <a:spLocks noGrp="1"/>
          </p:cNvSpPr>
          <p:nvPr>
            <p:ph type="body" sz="quarter" idx="17"/>
          </p:nvPr>
        </p:nvSpPr>
        <p:spPr>
          <a:xfrm>
            <a:off x="1782502" y="4647144"/>
            <a:ext cx="7534878" cy="365125"/>
          </a:xfrm>
        </p:spPr>
        <p:txBody>
          <a:bodyPr/>
          <a:lstStyle/>
          <a:p>
            <a:r>
              <a:rPr lang="en-GB" dirty="0" err="1"/>
              <a:t>g.thomas</a:t>
            </a:r>
            <a:r>
              <a:rPr lang="en-GB" noProof="0" dirty="0"/>
              <a:t>@</a:t>
            </a:r>
            <a:r>
              <a:rPr lang="en-GB" dirty="0"/>
              <a:t>l</a:t>
            </a:r>
            <a:r>
              <a:rPr lang="en-GB" noProof="0" dirty="0"/>
              <a:t>earn-tech.com</a:t>
            </a:r>
          </a:p>
        </p:txBody>
      </p:sp>
    </p:spTree>
    <p:extLst>
      <p:ext uri="{BB962C8B-B14F-4D97-AF65-F5344CB8AC3E}">
        <p14:creationId xmlns:p14="http://schemas.microsoft.com/office/powerpoint/2010/main" val="1759904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721E-ED50-2466-CE6F-5AE585ECBC7E}"/>
              </a:ext>
            </a:extLst>
          </p:cNvPr>
          <p:cNvSpPr>
            <a:spLocks noGrp="1"/>
          </p:cNvSpPr>
          <p:nvPr>
            <p:ph type="title"/>
          </p:nvPr>
        </p:nvSpPr>
        <p:spPr/>
        <p:txBody>
          <a:bodyPr/>
          <a:lstStyle/>
          <a:p>
            <a:r>
              <a:rPr lang="en-GB" dirty="0"/>
              <a:t>KSBs</a:t>
            </a:r>
          </a:p>
        </p:txBody>
      </p:sp>
      <p:sp>
        <p:nvSpPr>
          <p:cNvPr id="3" name="Content Placeholder 2">
            <a:extLst>
              <a:ext uri="{FF2B5EF4-FFF2-40B4-BE49-F238E27FC236}">
                <a16:creationId xmlns:a16="http://schemas.microsoft.com/office/drawing/2014/main" id="{1849E1F3-09C1-5C77-3C26-3A0BE6E7E340}"/>
              </a:ext>
            </a:extLst>
          </p:cNvPr>
          <p:cNvSpPr>
            <a:spLocks noGrp="1"/>
          </p:cNvSpPr>
          <p:nvPr>
            <p:ph idx="1"/>
          </p:nvPr>
        </p:nvSpPr>
        <p:spPr/>
        <p:txBody>
          <a:bodyPr numCol="2">
            <a:normAutofit/>
          </a:bodyPr>
          <a:lstStyle/>
          <a:p>
            <a:r>
              <a:rPr lang="en-GB" dirty="0"/>
              <a:t>S25: Select and use programming languages and tools, and follow appropriate software development practices</a:t>
            </a:r>
          </a:p>
          <a:p>
            <a:pPr marL="0" indent="0">
              <a:buNone/>
            </a:pPr>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0ABB0592-7D6B-8E2E-A034-174FADA72910}"/>
              </a:ext>
            </a:extLst>
          </p:cNvPr>
          <p:cNvSpPr>
            <a:spLocks noGrp="1"/>
          </p:cNvSpPr>
          <p:nvPr>
            <p:ph type="sldNum" sz="quarter" idx="12"/>
          </p:nvPr>
        </p:nvSpPr>
        <p:spPr/>
        <p:txBody>
          <a:bodyPr/>
          <a:lstStyle/>
          <a:p>
            <a:fld id="{F74D7E6C-9B20-4593-B18C-8D2C7BEEFCA2}" type="slidenum">
              <a:rPr lang="en-GB" smtClean="0"/>
              <a:t>2</a:t>
            </a:fld>
            <a:endParaRPr lang="en-GB"/>
          </a:p>
        </p:txBody>
      </p:sp>
    </p:spTree>
    <p:extLst>
      <p:ext uri="{BB962C8B-B14F-4D97-AF65-F5344CB8AC3E}">
        <p14:creationId xmlns:p14="http://schemas.microsoft.com/office/powerpoint/2010/main" val="213964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DABB-D7D7-E27B-A2DE-A0E838001292}"/>
              </a:ext>
            </a:extLst>
          </p:cNvPr>
          <p:cNvSpPr>
            <a:spLocks noGrp="1"/>
          </p:cNvSpPr>
          <p:nvPr>
            <p:ph type="title"/>
          </p:nvPr>
        </p:nvSpPr>
        <p:spPr/>
        <p:txBody>
          <a:bodyPr/>
          <a:lstStyle/>
          <a:p>
            <a:r>
              <a:rPr lang="en-GB" dirty="0"/>
              <a:t>P16</a:t>
            </a:r>
          </a:p>
        </p:txBody>
      </p:sp>
      <p:sp>
        <p:nvSpPr>
          <p:cNvPr id="3" name="Content Placeholder 2">
            <a:extLst>
              <a:ext uri="{FF2B5EF4-FFF2-40B4-BE49-F238E27FC236}">
                <a16:creationId xmlns:a16="http://schemas.microsoft.com/office/drawing/2014/main" id="{6680301A-0D1E-D056-5266-5072D6FD8BEE}"/>
              </a:ext>
            </a:extLst>
          </p:cNvPr>
          <p:cNvSpPr>
            <a:spLocks noGrp="1"/>
          </p:cNvSpPr>
          <p:nvPr>
            <p:ph idx="1"/>
          </p:nvPr>
        </p:nvSpPr>
        <p:spPr/>
        <p:txBody>
          <a:bodyPr numCol="2">
            <a:normAutofit fontScale="40000" lnSpcReduction="20000"/>
          </a:bodyPr>
          <a:lstStyle/>
          <a:p>
            <a:r>
              <a:rPr lang="en-GB" dirty="0"/>
              <a:t>P16: Pass criterion: Describes how they applied appropriate scientific and technological methods for machine learning, AI and data science solutions, services and platforms to deliver business outcomes outlining successes and challenges.</a:t>
            </a:r>
          </a:p>
          <a:p>
            <a:r>
              <a:rPr lang="en-GB" dirty="0"/>
              <a:t>Clarification and suggestions: To address this assessment criterion, the apprentice needs to describe how they applied scientific and technological methods in machine learning, AI, and data science, to deliver business outcomes.</a:t>
            </a:r>
          </a:p>
          <a:p>
            <a:r>
              <a:rPr lang="en-GB" dirty="0"/>
              <a:t>The apprentice should also outline the successes and challenges they encountered:</a:t>
            </a:r>
          </a:p>
          <a:p>
            <a:r>
              <a:rPr lang="en-GB" dirty="0"/>
              <a:t>Applying Scientific and Technological Methods</a:t>
            </a:r>
          </a:p>
          <a:p>
            <a:r>
              <a:rPr lang="en-GB" dirty="0"/>
              <a:t>1.	Problem Definition:</a:t>
            </a:r>
          </a:p>
          <a:p>
            <a:r>
              <a:rPr lang="en-GB" dirty="0"/>
              <a:t>•	Identify Business Objectives: Clearly define the business problem or objective they aim to solve with AI or data science.</a:t>
            </a:r>
          </a:p>
          <a:p>
            <a:r>
              <a:rPr lang="en-GB" dirty="0"/>
              <a:t>•	Set Goals: Establish specific, measurable goals for their project.</a:t>
            </a:r>
          </a:p>
          <a:p>
            <a:r>
              <a:rPr lang="en-GB" dirty="0"/>
              <a:t>2.	Data Collection and Preparation:</a:t>
            </a:r>
          </a:p>
          <a:p>
            <a:r>
              <a:rPr lang="en-GB" dirty="0"/>
              <a:t>•	Gather Data: Collect relevant data from various sources, ensuring it is comprehensive and relevant.</a:t>
            </a:r>
          </a:p>
          <a:p>
            <a:r>
              <a:rPr lang="en-GB" dirty="0"/>
              <a:t>•	Data Cleaning: Clean the data to remove errors, duplicates, and inconsistencies.</a:t>
            </a:r>
          </a:p>
          <a:p>
            <a:r>
              <a:rPr lang="en-GB" dirty="0"/>
              <a:t>•	Data Transformation: Transform the data into a suitable format for analysis, including normalisation and feature engineering.</a:t>
            </a:r>
          </a:p>
          <a:p>
            <a:r>
              <a:rPr lang="en-GB" dirty="0"/>
              <a:t>3.	Model Selection and Development:</a:t>
            </a:r>
          </a:p>
          <a:p>
            <a:r>
              <a:rPr lang="en-GB" dirty="0"/>
              <a:t>•	Choose Algorithms: Select appropriate machine learning algorithms or AI models based on the problem and data characteristics.</a:t>
            </a:r>
          </a:p>
          <a:p>
            <a:r>
              <a:rPr lang="en-GB" dirty="0"/>
              <a:t>•	</a:t>
            </a:r>
            <a:r>
              <a:rPr lang="en-GB" b="1" dirty="0"/>
              <a:t>Model Training: Train the models using the prepared data, adjusting parameters to optimise performance.</a:t>
            </a:r>
          </a:p>
          <a:p>
            <a:r>
              <a:rPr lang="en-GB" b="1" dirty="0"/>
              <a:t>•	Validation and Testing: Validate the models using a separate dataset to ensure they generalise well to new data.</a:t>
            </a:r>
          </a:p>
          <a:p>
            <a:r>
              <a:rPr lang="en-GB" dirty="0"/>
              <a:t>4.	Implementation and Deployment:</a:t>
            </a:r>
          </a:p>
          <a:p>
            <a:r>
              <a:rPr lang="en-GB" dirty="0"/>
              <a:t>•	Integrate Solutions: Implement the models into the business processes or systems.</a:t>
            </a:r>
          </a:p>
          <a:p>
            <a:r>
              <a:rPr lang="en-GB" dirty="0"/>
              <a:t>•	Monitor Performance: Continuously monitor the performance of the models and make adjustments as needed.</a:t>
            </a:r>
          </a:p>
          <a:p>
            <a:r>
              <a:rPr lang="en-GB" dirty="0"/>
              <a:t>5.	Evaluation and Feedback:</a:t>
            </a:r>
          </a:p>
          <a:p>
            <a:r>
              <a:rPr lang="en-GB" dirty="0"/>
              <a:t>•	Measure Outcomes: Evaluate the impact of the AI or data science solution on the business objectives.</a:t>
            </a:r>
          </a:p>
          <a:p>
            <a:r>
              <a:rPr lang="en-GB" dirty="0"/>
              <a:t>•	Gather Feedback: Collect feedback from stakeholders to refine and improve the solution.</a:t>
            </a:r>
          </a:p>
          <a:p>
            <a:r>
              <a:rPr lang="en-GB" dirty="0"/>
              <a:t>Successes could include:</a:t>
            </a:r>
          </a:p>
          <a:p>
            <a:r>
              <a:rPr lang="en-GB" dirty="0"/>
              <a:t>1.	Improved Decision-Making</a:t>
            </a:r>
          </a:p>
          <a:p>
            <a:r>
              <a:rPr lang="en-GB" dirty="0"/>
              <a:t>2.	Increased Efficiency </a:t>
            </a:r>
          </a:p>
          <a:p>
            <a:r>
              <a:rPr lang="en-GB" dirty="0"/>
              <a:t>3.	Enhanced Customer Experience</a:t>
            </a:r>
          </a:p>
          <a:p>
            <a:r>
              <a:rPr lang="en-GB" dirty="0"/>
              <a:t>Challenges could include:</a:t>
            </a:r>
          </a:p>
          <a:p>
            <a:r>
              <a:rPr lang="en-GB" dirty="0"/>
              <a:t>1.	Data Quality Issues</a:t>
            </a:r>
          </a:p>
          <a:p>
            <a:r>
              <a:rPr lang="en-GB" dirty="0"/>
              <a:t>2.	Model Performance</a:t>
            </a:r>
          </a:p>
          <a:p>
            <a:r>
              <a:rPr lang="en-GB" dirty="0"/>
              <a:t>3.	Integration Difficulties</a:t>
            </a:r>
          </a:p>
          <a:p>
            <a:r>
              <a:rPr lang="en-GB" dirty="0"/>
              <a:t>4.	Stakeholder Buy-In</a:t>
            </a:r>
          </a:p>
          <a:p>
            <a:endParaRPr lang="en-GB" dirty="0"/>
          </a:p>
        </p:txBody>
      </p:sp>
      <p:sp>
        <p:nvSpPr>
          <p:cNvPr id="4" name="Slide Number Placeholder 3">
            <a:extLst>
              <a:ext uri="{FF2B5EF4-FFF2-40B4-BE49-F238E27FC236}">
                <a16:creationId xmlns:a16="http://schemas.microsoft.com/office/drawing/2014/main" id="{1C7D0F76-61E2-66CD-F990-7D5CC726E74F}"/>
              </a:ext>
            </a:extLst>
          </p:cNvPr>
          <p:cNvSpPr>
            <a:spLocks noGrp="1"/>
          </p:cNvSpPr>
          <p:nvPr>
            <p:ph type="sldNum" sz="quarter" idx="12"/>
          </p:nvPr>
        </p:nvSpPr>
        <p:spPr/>
        <p:txBody>
          <a:bodyPr/>
          <a:lstStyle/>
          <a:p>
            <a:fld id="{F74D7E6C-9B20-4593-B18C-8D2C7BEEFCA2}" type="slidenum">
              <a:rPr lang="en-GB" smtClean="0"/>
              <a:t>3</a:t>
            </a:fld>
            <a:endParaRPr lang="en-GB"/>
          </a:p>
        </p:txBody>
      </p:sp>
    </p:spTree>
    <p:extLst>
      <p:ext uri="{BB962C8B-B14F-4D97-AF65-F5344CB8AC3E}">
        <p14:creationId xmlns:p14="http://schemas.microsoft.com/office/powerpoint/2010/main" val="74116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488C-060B-C6F7-5A5E-0B9644CFD9E8}"/>
              </a:ext>
            </a:extLst>
          </p:cNvPr>
          <p:cNvSpPr>
            <a:spLocks noGrp="1"/>
          </p:cNvSpPr>
          <p:nvPr>
            <p:ph type="title"/>
          </p:nvPr>
        </p:nvSpPr>
        <p:spPr/>
        <p:txBody>
          <a:bodyPr/>
          <a:lstStyle/>
          <a:p>
            <a:r>
              <a:rPr lang="en-GB" dirty="0"/>
              <a:t>P9</a:t>
            </a:r>
          </a:p>
        </p:txBody>
      </p:sp>
      <p:sp>
        <p:nvSpPr>
          <p:cNvPr id="3" name="Content Placeholder 2">
            <a:extLst>
              <a:ext uri="{FF2B5EF4-FFF2-40B4-BE49-F238E27FC236}">
                <a16:creationId xmlns:a16="http://schemas.microsoft.com/office/drawing/2014/main" id="{015C8B66-F969-2BA9-E6A1-BA4F36A13609}"/>
              </a:ext>
            </a:extLst>
          </p:cNvPr>
          <p:cNvSpPr>
            <a:spLocks noGrp="1"/>
          </p:cNvSpPr>
          <p:nvPr>
            <p:ph idx="1"/>
          </p:nvPr>
        </p:nvSpPr>
        <p:spPr/>
        <p:txBody>
          <a:bodyPr numCol="2">
            <a:normAutofit fontScale="62500" lnSpcReduction="20000"/>
          </a:bodyPr>
          <a:lstStyle/>
          <a:p>
            <a:r>
              <a:rPr lang="en-GB" dirty="0"/>
              <a:t>P9: Pass criterion: Manipulates and analyses complex datasets and </a:t>
            </a:r>
            <a:r>
              <a:rPr lang="en-GB" b="1" dirty="0"/>
              <a:t>critically evaluates arguments, assumptions, abstract concepts and data (that may be incomplete) to make recommendations and to enable a business solution or range of solutions to be achieved.</a:t>
            </a:r>
          </a:p>
          <a:p>
            <a:r>
              <a:rPr lang="en-GB" dirty="0"/>
              <a:t>This assessment criterion involves several key skills and abilities:</a:t>
            </a:r>
          </a:p>
          <a:p>
            <a:r>
              <a:rPr lang="en-GB" dirty="0"/>
              <a:t>1.	Manipulating and Analysing Complex Datasets: This means the apprentice should be able to handle large and intricate sets of data, using various tools and techniques to extract meaningful insights. This often involves cleaning the data, identifying patterns, and using statistical or computational methods to analyse it.</a:t>
            </a:r>
          </a:p>
          <a:p>
            <a:r>
              <a:rPr lang="en-GB" dirty="0"/>
              <a:t>2.	</a:t>
            </a:r>
            <a:r>
              <a:rPr lang="en-GB" b="1" dirty="0"/>
              <a:t>Critically Evaluating Arguments, Assumptions, and Abstract Concepts: The apprentice needs to assess the validity and reliability of different arguments and assumptions. This involves questioning the underlying premises and logic, and considering alternative perspectives. Abstract concepts might include theoretical models or frameworks that need to be understood and applied appropriately.</a:t>
            </a:r>
          </a:p>
          <a:p>
            <a:r>
              <a:rPr lang="en-GB" dirty="0"/>
              <a:t>3.	Dealing with Incomplete Data: Often, data may be missing or incomplete. The apprentice should be able to make informed decisions despite these gaps, using methods such as imputation, estimation, or sensitivity analysis to handle the missing information.</a:t>
            </a:r>
          </a:p>
          <a:p>
            <a:r>
              <a:rPr lang="en-GB" dirty="0"/>
              <a:t>4.	</a:t>
            </a:r>
            <a:r>
              <a:rPr lang="en-GB" b="1" dirty="0"/>
              <a:t>Making Recommendations: Based on their analysis, the apprentice should be able to propose actionable recommendations. These should be well-supported by their data analysis and critical evaluation, and should aim to address the business problem at hand.</a:t>
            </a:r>
          </a:p>
          <a:p>
            <a:r>
              <a:rPr lang="en-GB" b="1" dirty="0"/>
              <a:t>5.	Enabling Business Solutions: Finally, their recommendations should be practical and feasible, helping the business to implement effective solutions. This might involve suggesting a range of possible solutions and evaluating their potential impact.</a:t>
            </a:r>
          </a:p>
          <a:p>
            <a:endParaRPr lang="en-GB" dirty="0"/>
          </a:p>
          <a:p>
            <a:r>
              <a:rPr lang="en-GB" dirty="0"/>
              <a:t>In essence, this criterion assesses their ability to use data and critical thinking to solve complex business problems.</a:t>
            </a:r>
          </a:p>
          <a:p>
            <a:endParaRPr lang="en-GB" dirty="0"/>
          </a:p>
        </p:txBody>
      </p:sp>
      <p:sp>
        <p:nvSpPr>
          <p:cNvPr id="4" name="Slide Number Placeholder 3">
            <a:extLst>
              <a:ext uri="{FF2B5EF4-FFF2-40B4-BE49-F238E27FC236}">
                <a16:creationId xmlns:a16="http://schemas.microsoft.com/office/drawing/2014/main" id="{AB72A96E-2643-86BF-23F2-3B7A0ABB443B}"/>
              </a:ext>
            </a:extLst>
          </p:cNvPr>
          <p:cNvSpPr>
            <a:spLocks noGrp="1"/>
          </p:cNvSpPr>
          <p:nvPr>
            <p:ph type="sldNum" sz="quarter" idx="12"/>
          </p:nvPr>
        </p:nvSpPr>
        <p:spPr/>
        <p:txBody>
          <a:bodyPr/>
          <a:lstStyle/>
          <a:p>
            <a:fld id="{F74D7E6C-9B20-4593-B18C-8D2C7BEEFCA2}" type="slidenum">
              <a:rPr lang="en-GB" smtClean="0"/>
              <a:t>4</a:t>
            </a:fld>
            <a:endParaRPr lang="en-GB"/>
          </a:p>
        </p:txBody>
      </p:sp>
    </p:spTree>
    <p:extLst>
      <p:ext uri="{BB962C8B-B14F-4D97-AF65-F5344CB8AC3E}">
        <p14:creationId xmlns:p14="http://schemas.microsoft.com/office/powerpoint/2010/main" val="1366968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40BB-27D1-CA2A-C6D0-D23DA24F96D8}"/>
              </a:ext>
            </a:extLst>
          </p:cNvPr>
          <p:cNvSpPr>
            <a:spLocks noGrp="1"/>
          </p:cNvSpPr>
          <p:nvPr>
            <p:ph type="title"/>
          </p:nvPr>
        </p:nvSpPr>
        <p:spPr/>
        <p:txBody>
          <a:bodyPr/>
          <a:lstStyle/>
          <a:p>
            <a:r>
              <a:rPr lang="en-GB" dirty="0"/>
              <a:t>D6</a:t>
            </a:r>
          </a:p>
        </p:txBody>
      </p:sp>
      <p:sp>
        <p:nvSpPr>
          <p:cNvPr id="3" name="Content Placeholder 2">
            <a:extLst>
              <a:ext uri="{FF2B5EF4-FFF2-40B4-BE49-F238E27FC236}">
                <a16:creationId xmlns:a16="http://schemas.microsoft.com/office/drawing/2014/main" id="{BDC04191-FC95-D521-9692-B4C842FC91DA}"/>
              </a:ext>
            </a:extLst>
          </p:cNvPr>
          <p:cNvSpPr>
            <a:spLocks noGrp="1"/>
          </p:cNvSpPr>
          <p:nvPr>
            <p:ph idx="1"/>
          </p:nvPr>
        </p:nvSpPr>
        <p:spPr>
          <a:xfrm>
            <a:off x="249307" y="1381538"/>
            <a:ext cx="11563350" cy="5406887"/>
          </a:xfrm>
        </p:spPr>
        <p:txBody>
          <a:bodyPr numCol="2">
            <a:noAutofit/>
          </a:bodyPr>
          <a:lstStyle/>
          <a:p>
            <a:pPr marL="0" indent="0">
              <a:buNone/>
            </a:pPr>
            <a:r>
              <a:rPr lang="en-GB" sz="700" dirty="0"/>
              <a:t>D6: Distinction criterion: Evaluates solutions and explains the risks and implications of the AI data science requirements and alternative approaches and ways to address them.</a:t>
            </a:r>
          </a:p>
          <a:p>
            <a:pPr marL="0" indent="0">
              <a:buNone/>
            </a:pPr>
            <a:r>
              <a:rPr lang="en-GB" sz="700" dirty="0"/>
              <a:t>Clarification and suggestions: This distinction criterion requires the apprentice to evaluate the selected solution(s) used in their project and explain the risks and implications of the AI and the data science requirements, as well as alternative approaches that they could have chosen, consider:</a:t>
            </a:r>
          </a:p>
          <a:p>
            <a:pPr marL="0" indent="0">
              <a:buNone/>
            </a:pPr>
            <a:r>
              <a:rPr lang="en-GB" sz="700" dirty="0"/>
              <a:t>Evaluating Solutions</a:t>
            </a:r>
          </a:p>
          <a:p>
            <a:pPr marL="0" indent="0">
              <a:buNone/>
            </a:pPr>
            <a:r>
              <a:rPr lang="en-GB" sz="700" dirty="0"/>
              <a:t>1.Define the Problem:</a:t>
            </a:r>
          </a:p>
          <a:p>
            <a:pPr marL="0" indent="0">
              <a:buNone/>
            </a:pPr>
            <a:r>
              <a:rPr lang="en-GB" sz="700" dirty="0"/>
              <a:t>•Clearly articulate the business problem or objective that the AI or data science solution aimed to address.</a:t>
            </a:r>
          </a:p>
          <a:p>
            <a:pPr marL="0" indent="0">
              <a:buNone/>
            </a:pPr>
            <a:r>
              <a:rPr lang="en-GB" sz="700" dirty="0"/>
              <a:t>2.Identify Potential Solutions:</a:t>
            </a:r>
          </a:p>
          <a:p>
            <a:pPr marL="0" indent="0">
              <a:buNone/>
            </a:pPr>
            <a:r>
              <a:rPr lang="en-GB" sz="700" b="1" dirty="0"/>
              <a:t>•List all possible AI and data science solutions that could have addressed the problem. This might include different algorithms, models, or data processing techniques.</a:t>
            </a:r>
          </a:p>
          <a:p>
            <a:pPr marL="0" indent="0">
              <a:buNone/>
            </a:pPr>
            <a:r>
              <a:rPr lang="en-GB" sz="700" dirty="0"/>
              <a:t>3.Criteria for Evaluation:</a:t>
            </a:r>
          </a:p>
          <a:p>
            <a:pPr marL="0" indent="0">
              <a:buNone/>
            </a:pPr>
            <a:r>
              <a:rPr lang="en-GB" sz="700" dirty="0"/>
              <a:t>•Effectiveness: How well did each solution address the problem?</a:t>
            </a:r>
          </a:p>
          <a:p>
            <a:pPr marL="0" indent="0">
              <a:buNone/>
            </a:pPr>
            <a:r>
              <a:rPr lang="en-GB" sz="700" dirty="0"/>
              <a:t>•Scalability: Can the solution handle increasing amounts of data or users?</a:t>
            </a:r>
          </a:p>
          <a:p>
            <a:pPr marL="0" indent="0">
              <a:buNone/>
            </a:pPr>
            <a:r>
              <a:rPr lang="en-GB" sz="700" dirty="0"/>
              <a:t>•Cost: What are the financial implications of implementing the solution?</a:t>
            </a:r>
          </a:p>
          <a:p>
            <a:pPr marL="0" indent="0">
              <a:buNone/>
            </a:pPr>
            <a:r>
              <a:rPr lang="en-GB" sz="700" dirty="0"/>
              <a:t>•Complexity: How complex is the solution to implement and maintain?</a:t>
            </a:r>
          </a:p>
          <a:p>
            <a:pPr marL="0" indent="0">
              <a:buNone/>
            </a:pPr>
            <a:r>
              <a:rPr lang="en-GB" sz="700" dirty="0"/>
              <a:t>•Time to Implement: How long did it take to develop and deploy the solution and how does this compare with alternative but rejected options?</a:t>
            </a:r>
          </a:p>
          <a:p>
            <a:pPr marL="0" indent="0">
              <a:buNone/>
            </a:pPr>
            <a:r>
              <a:rPr lang="en-GB" sz="700" dirty="0"/>
              <a:t>4.Compare the solutions based on the criteria above. The apprentice could consider using a scoring system or a decision matrix to quantify the evaluation.</a:t>
            </a:r>
          </a:p>
          <a:p>
            <a:pPr marL="0" indent="0">
              <a:buNone/>
            </a:pPr>
            <a:r>
              <a:rPr lang="en-GB" sz="700" dirty="0"/>
              <a:t>Explaining Risks and Implications</a:t>
            </a:r>
          </a:p>
          <a:p>
            <a:pPr marL="0" indent="0">
              <a:buNone/>
            </a:pPr>
            <a:r>
              <a:rPr lang="en-GB" sz="700" dirty="0"/>
              <a:t>1.Technical Risks:</a:t>
            </a:r>
          </a:p>
          <a:p>
            <a:pPr marL="0" indent="0">
              <a:buNone/>
            </a:pPr>
            <a:r>
              <a:rPr lang="en-GB" sz="700" dirty="0"/>
              <a:t>•Data Quality: Poor quality data can lead to inaccurate models and predictions.</a:t>
            </a:r>
          </a:p>
          <a:p>
            <a:pPr marL="0" indent="0">
              <a:buNone/>
            </a:pPr>
            <a:r>
              <a:rPr lang="en-GB" sz="700" b="1" dirty="0"/>
              <a:t>•Model Performance: The chosen model might not perform well on unseen data, leading to unreliable results.</a:t>
            </a:r>
          </a:p>
          <a:p>
            <a:pPr marL="0" indent="0">
              <a:buNone/>
            </a:pPr>
            <a:r>
              <a:rPr lang="en-GB" sz="700" dirty="0"/>
              <a:t>•Scalability Issues: The solution might not scale well with increasing data or user load.</a:t>
            </a:r>
          </a:p>
          <a:p>
            <a:pPr marL="0" indent="0">
              <a:buNone/>
            </a:pPr>
            <a:r>
              <a:rPr lang="en-GB" sz="700" dirty="0"/>
              <a:t>2.Operational Risks:</a:t>
            </a:r>
          </a:p>
          <a:p>
            <a:pPr marL="0" indent="0">
              <a:buNone/>
            </a:pPr>
            <a:r>
              <a:rPr lang="en-GB" sz="700" dirty="0"/>
              <a:t>•Implementation Challenges: Difficulties in integrating the solution with existing systems.</a:t>
            </a:r>
          </a:p>
          <a:p>
            <a:pPr marL="0" indent="0">
              <a:buNone/>
            </a:pPr>
            <a:r>
              <a:rPr lang="en-GB" sz="700" dirty="0"/>
              <a:t>•Maintenance: Ongoing maintenance and updates required to keep the solution effective.</a:t>
            </a:r>
          </a:p>
          <a:p>
            <a:pPr marL="0" indent="0">
              <a:buNone/>
            </a:pPr>
            <a:r>
              <a:rPr lang="en-GB" sz="700" dirty="0"/>
              <a:t>•Resource Allocation: Ensuring that there are enough skilled personnel to manage the solution.</a:t>
            </a:r>
          </a:p>
          <a:p>
            <a:pPr marL="0" indent="0">
              <a:buNone/>
            </a:pPr>
            <a:r>
              <a:rPr lang="en-GB" sz="700" dirty="0"/>
              <a:t>3.Ethical and Legal Risks:</a:t>
            </a:r>
          </a:p>
          <a:p>
            <a:pPr marL="0" indent="0">
              <a:buNone/>
            </a:pPr>
            <a:r>
              <a:rPr lang="en-GB" sz="700" dirty="0"/>
              <a:t>•Bias and Fairness: The model might inadvertently introduce or perpetuate biases.</a:t>
            </a:r>
          </a:p>
          <a:p>
            <a:pPr marL="0" indent="0">
              <a:buNone/>
            </a:pPr>
            <a:r>
              <a:rPr lang="en-GB" sz="700" dirty="0"/>
              <a:t>•Privacy Concerns: Handling sensitive data must comply with privacy regulations like GDPR.</a:t>
            </a:r>
          </a:p>
          <a:p>
            <a:pPr marL="0" indent="0">
              <a:buNone/>
            </a:pPr>
            <a:r>
              <a:rPr lang="en-GB" sz="700" dirty="0"/>
              <a:t>•Transparency: Ensuring that the AI decisions are explainable and transparent to stakeholders.</a:t>
            </a:r>
          </a:p>
          <a:p>
            <a:pPr marL="0" indent="0">
              <a:buNone/>
            </a:pPr>
            <a:r>
              <a:rPr lang="en-GB" sz="700" dirty="0"/>
              <a:t>4.Business Implications:</a:t>
            </a:r>
          </a:p>
          <a:p>
            <a:pPr marL="0" indent="0">
              <a:buNone/>
            </a:pPr>
            <a:r>
              <a:rPr lang="en-GB" sz="700" dirty="0"/>
              <a:t>•Cost-Benefit Analysis: Weighing the costs of implementation against the expected benefits.</a:t>
            </a:r>
          </a:p>
          <a:p>
            <a:pPr marL="0" indent="0">
              <a:buNone/>
            </a:pPr>
            <a:r>
              <a:rPr lang="en-GB" sz="700" dirty="0"/>
              <a:t>•Impact on Stakeholders: How the solution affects different stakeholders, including employees, customers, and partners.</a:t>
            </a:r>
          </a:p>
          <a:p>
            <a:pPr marL="0" indent="0">
              <a:buNone/>
            </a:pPr>
            <a:r>
              <a:rPr lang="en-GB" sz="700" dirty="0"/>
              <a:t>•Strategic Alignment: Ensuring that the solution aligns with the overall business strategy and goals.</a:t>
            </a:r>
          </a:p>
          <a:p>
            <a:pPr marL="0" indent="0">
              <a:buNone/>
            </a:pPr>
            <a:endParaRPr lang="en-GB" sz="700" dirty="0"/>
          </a:p>
          <a:p>
            <a:pPr marL="0" indent="0">
              <a:buNone/>
            </a:pPr>
            <a:r>
              <a:rPr lang="en-GB" sz="700" dirty="0"/>
              <a:t>Alternative Approaches that they could have taken:</a:t>
            </a:r>
          </a:p>
          <a:p>
            <a:pPr marL="0" indent="0">
              <a:buNone/>
            </a:pPr>
            <a:r>
              <a:rPr lang="en-GB" sz="700" b="1" dirty="0"/>
              <a:t>1.Different Algorithms or Models:</a:t>
            </a:r>
          </a:p>
          <a:p>
            <a:pPr marL="0" indent="0">
              <a:buNone/>
            </a:pPr>
            <a:r>
              <a:rPr lang="en-GB" sz="700" b="1" dirty="0"/>
              <a:t>•Consider using different machine learning algorithms or models that might be more suitable for the problem.</a:t>
            </a:r>
          </a:p>
          <a:p>
            <a:pPr marL="0" indent="0">
              <a:buNone/>
            </a:pPr>
            <a:r>
              <a:rPr lang="en-GB" sz="700" b="1" dirty="0"/>
              <a:t>2.Data Augmentation:	</a:t>
            </a:r>
          </a:p>
          <a:p>
            <a:pPr marL="0" indent="0">
              <a:buNone/>
            </a:pPr>
            <a:r>
              <a:rPr lang="en-GB" sz="700" b="1" dirty="0"/>
              <a:t>•Enhance the dataset by adding more data or using techniques like data augmentation to improve model performance.</a:t>
            </a:r>
          </a:p>
          <a:p>
            <a:pPr marL="0" indent="0">
              <a:buNone/>
            </a:pPr>
            <a:r>
              <a:rPr lang="en-GB" sz="700" dirty="0"/>
              <a:t>3.Hybrid Approaches:</a:t>
            </a:r>
          </a:p>
          <a:p>
            <a:pPr marL="0" indent="0">
              <a:buNone/>
            </a:pPr>
            <a:r>
              <a:rPr lang="en-GB" sz="700" dirty="0"/>
              <a:t>•Combine multiple models or techniques to leverage the strengths of each.</a:t>
            </a:r>
          </a:p>
          <a:p>
            <a:pPr marL="0" indent="0">
              <a:buNone/>
            </a:pPr>
            <a:r>
              <a:rPr lang="en-GB" sz="700" dirty="0"/>
              <a:t>4.Incremental Implementation:</a:t>
            </a:r>
          </a:p>
          <a:p>
            <a:pPr marL="0" indent="0">
              <a:buNone/>
            </a:pPr>
            <a:r>
              <a:rPr lang="en-GB" sz="700" dirty="0"/>
              <a:t>•Start with a simpler solution and gradually enhance it. This allows for quicker deployment and iterative improvements based on feedback.</a:t>
            </a:r>
          </a:p>
          <a:p>
            <a:pPr marL="0" indent="0">
              <a:buNone/>
            </a:pPr>
            <a:endParaRPr lang="en-GB" sz="700" dirty="0"/>
          </a:p>
          <a:p>
            <a:pPr marL="0" indent="0">
              <a:buNone/>
            </a:pPr>
            <a:endParaRPr lang="en-GB" sz="700" dirty="0"/>
          </a:p>
        </p:txBody>
      </p:sp>
      <p:sp>
        <p:nvSpPr>
          <p:cNvPr id="4" name="Slide Number Placeholder 3">
            <a:extLst>
              <a:ext uri="{FF2B5EF4-FFF2-40B4-BE49-F238E27FC236}">
                <a16:creationId xmlns:a16="http://schemas.microsoft.com/office/drawing/2014/main" id="{CADABFF6-70DD-1FD6-5F2E-C35278159098}"/>
              </a:ext>
            </a:extLst>
          </p:cNvPr>
          <p:cNvSpPr>
            <a:spLocks noGrp="1"/>
          </p:cNvSpPr>
          <p:nvPr>
            <p:ph type="sldNum" sz="quarter" idx="12"/>
          </p:nvPr>
        </p:nvSpPr>
        <p:spPr/>
        <p:txBody>
          <a:bodyPr/>
          <a:lstStyle/>
          <a:p>
            <a:fld id="{F74D7E6C-9B20-4593-B18C-8D2C7BEEFCA2}" type="slidenum">
              <a:rPr lang="en-GB" smtClean="0"/>
              <a:t>5</a:t>
            </a:fld>
            <a:endParaRPr lang="en-GB"/>
          </a:p>
        </p:txBody>
      </p:sp>
    </p:spTree>
    <p:extLst>
      <p:ext uri="{BB962C8B-B14F-4D97-AF65-F5344CB8AC3E}">
        <p14:creationId xmlns:p14="http://schemas.microsoft.com/office/powerpoint/2010/main" val="350547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376D-B6DC-112D-FD18-C9A0D6902837}"/>
              </a:ext>
            </a:extLst>
          </p:cNvPr>
          <p:cNvSpPr>
            <a:spLocks noGrp="1"/>
          </p:cNvSpPr>
          <p:nvPr>
            <p:ph type="title"/>
          </p:nvPr>
        </p:nvSpPr>
        <p:spPr/>
        <p:txBody>
          <a:bodyPr/>
          <a:lstStyle/>
          <a:p>
            <a:r>
              <a:rPr lang="en-GB" dirty="0"/>
              <a:t>Today’s Objectives</a:t>
            </a:r>
          </a:p>
        </p:txBody>
      </p:sp>
      <p:sp>
        <p:nvSpPr>
          <p:cNvPr id="3" name="Content Placeholder 2">
            <a:extLst>
              <a:ext uri="{FF2B5EF4-FFF2-40B4-BE49-F238E27FC236}">
                <a16:creationId xmlns:a16="http://schemas.microsoft.com/office/drawing/2014/main" id="{FE326B8B-F3DD-9A69-43C7-AC47F9B159E8}"/>
              </a:ext>
            </a:extLst>
          </p:cNvPr>
          <p:cNvSpPr>
            <a:spLocks noGrp="1"/>
          </p:cNvSpPr>
          <p:nvPr>
            <p:ph idx="1"/>
          </p:nvPr>
        </p:nvSpPr>
        <p:spPr>
          <a:xfrm>
            <a:off x="400050" y="1846926"/>
            <a:ext cx="11563350" cy="4020474"/>
          </a:xfrm>
        </p:spPr>
        <p:txBody>
          <a:bodyPr>
            <a:normAutofit/>
          </a:bodyPr>
          <a:lstStyle/>
          <a:p>
            <a:r>
              <a:rPr lang="en-GB" sz="3600" dirty="0"/>
              <a:t>Understand and apply </a:t>
            </a:r>
            <a:r>
              <a:rPr lang="en-GB" sz="3600"/>
              <a:t>different feature </a:t>
            </a:r>
            <a:r>
              <a:rPr lang="en-GB" sz="3600" dirty="0"/>
              <a:t>engineering techniques.</a:t>
            </a:r>
          </a:p>
          <a:p>
            <a:r>
              <a:rPr lang="en-GB" sz="3600" dirty="0"/>
              <a:t>Understand different techniques of the target transformation.</a:t>
            </a:r>
          </a:p>
          <a:p>
            <a:r>
              <a:rPr lang="en-GB" sz="3600" dirty="0"/>
              <a:t>Identify and apply other regression models that might be more appropriate for your data.</a:t>
            </a:r>
          </a:p>
          <a:p>
            <a:endParaRPr lang="en-GB" sz="3400" dirty="0"/>
          </a:p>
          <a:p>
            <a:pPr lvl="1"/>
            <a:endParaRPr lang="en-GB" sz="3400" dirty="0"/>
          </a:p>
          <a:p>
            <a:pPr algn="r"/>
            <a:endParaRPr lang="en-GB" sz="3600" dirty="0"/>
          </a:p>
          <a:p>
            <a:pPr algn="r"/>
            <a:endParaRPr lang="en-GB" sz="3600" dirty="0"/>
          </a:p>
          <a:p>
            <a:pPr algn="r"/>
            <a:endParaRPr lang="en-GB" sz="3600" dirty="0"/>
          </a:p>
        </p:txBody>
      </p:sp>
      <p:sp>
        <p:nvSpPr>
          <p:cNvPr id="4" name="Slide Number Placeholder 3">
            <a:extLst>
              <a:ext uri="{FF2B5EF4-FFF2-40B4-BE49-F238E27FC236}">
                <a16:creationId xmlns:a16="http://schemas.microsoft.com/office/drawing/2014/main" id="{FE12ABB5-903B-640E-C3CB-C7A28E6D2624}"/>
              </a:ext>
            </a:extLst>
          </p:cNvPr>
          <p:cNvSpPr>
            <a:spLocks noGrp="1"/>
          </p:cNvSpPr>
          <p:nvPr>
            <p:ph type="sldNum" sz="quarter" idx="12"/>
          </p:nvPr>
        </p:nvSpPr>
        <p:spPr/>
        <p:txBody>
          <a:bodyPr/>
          <a:lstStyle/>
          <a:p>
            <a:fld id="{F74D7E6C-9B20-4593-B18C-8D2C7BEEFCA2}" type="slidenum">
              <a:rPr lang="en-GB" smtClean="0"/>
              <a:t>6</a:t>
            </a:fld>
            <a:endParaRPr lang="en-GB"/>
          </a:p>
        </p:txBody>
      </p:sp>
    </p:spTree>
    <p:extLst>
      <p:ext uri="{BB962C8B-B14F-4D97-AF65-F5344CB8AC3E}">
        <p14:creationId xmlns:p14="http://schemas.microsoft.com/office/powerpoint/2010/main" val="422774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F398-9B09-5FDD-8F80-487AE91A7BC8}"/>
              </a:ext>
            </a:extLst>
          </p:cNvPr>
          <p:cNvSpPr>
            <a:spLocks noGrp="1"/>
          </p:cNvSpPr>
          <p:nvPr>
            <p:ph type="title"/>
          </p:nvPr>
        </p:nvSpPr>
        <p:spPr/>
        <p:txBody>
          <a:bodyPr/>
          <a:lstStyle/>
          <a:p>
            <a:r>
              <a:rPr lang="en-GB" dirty="0"/>
              <a:t>Recap</a:t>
            </a:r>
          </a:p>
        </p:txBody>
      </p:sp>
      <p:sp>
        <p:nvSpPr>
          <p:cNvPr id="3" name="Text Placeholder 2">
            <a:extLst>
              <a:ext uri="{FF2B5EF4-FFF2-40B4-BE49-F238E27FC236}">
                <a16:creationId xmlns:a16="http://schemas.microsoft.com/office/drawing/2014/main" id="{AEE4F115-8BA7-1F14-793F-01D929AF4A6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DC7DA64-9322-6F8D-FA3E-170E15442EC4}"/>
              </a:ext>
            </a:extLst>
          </p:cNvPr>
          <p:cNvSpPr>
            <a:spLocks noGrp="1"/>
          </p:cNvSpPr>
          <p:nvPr>
            <p:ph type="sldNum" sz="quarter" idx="12"/>
          </p:nvPr>
        </p:nvSpPr>
        <p:spPr/>
        <p:txBody>
          <a:bodyPr/>
          <a:lstStyle/>
          <a:p>
            <a:fld id="{F74D7E6C-9B20-4593-B18C-8D2C7BEEFCA2}" type="slidenum">
              <a:rPr lang="en-GB" smtClean="0"/>
              <a:t>7</a:t>
            </a:fld>
            <a:endParaRPr lang="en-GB"/>
          </a:p>
        </p:txBody>
      </p:sp>
    </p:spTree>
    <p:extLst>
      <p:ext uri="{BB962C8B-B14F-4D97-AF65-F5344CB8AC3E}">
        <p14:creationId xmlns:p14="http://schemas.microsoft.com/office/powerpoint/2010/main" val="2692643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EF3BE-633F-1840-6E13-BC6C37308846}"/>
              </a:ext>
            </a:extLst>
          </p:cNvPr>
          <p:cNvSpPr>
            <a:spLocks noGrp="1"/>
          </p:cNvSpPr>
          <p:nvPr>
            <p:ph type="title"/>
          </p:nvPr>
        </p:nvSpPr>
        <p:spPr/>
        <p:txBody>
          <a:bodyPr/>
          <a:lstStyle/>
          <a:p>
            <a:r>
              <a:rPr lang="en-GB" dirty="0"/>
              <a:t>LR Assumptions(Recap)</a:t>
            </a:r>
          </a:p>
        </p:txBody>
      </p:sp>
      <p:sp>
        <p:nvSpPr>
          <p:cNvPr id="3" name="Content Placeholder 2">
            <a:extLst>
              <a:ext uri="{FF2B5EF4-FFF2-40B4-BE49-F238E27FC236}">
                <a16:creationId xmlns:a16="http://schemas.microsoft.com/office/drawing/2014/main" id="{FE36A08E-8136-38F3-C320-E7BADC2AF4DD}"/>
              </a:ext>
            </a:extLst>
          </p:cNvPr>
          <p:cNvSpPr>
            <a:spLocks noGrp="1"/>
          </p:cNvSpPr>
          <p:nvPr>
            <p:ph idx="1"/>
          </p:nvPr>
        </p:nvSpPr>
        <p:spPr/>
        <p:txBody>
          <a:bodyPr>
            <a:normAutofit lnSpcReduction="10000"/>
          </a:bodyPr>
          <a:lstStyle/>
          <a:p>
            <a:pPr marL="457200" indent="-457200" algn="l">
              <a:buFont typeface="Arial" panose="020B0604020202020204" pitchFamily="34" charset="0"/>
              <a:buChar char="•"/>
            </a:pPr>
            <a:r>
              <a:rPr lang="en-GB" sz="2800" b="0" i="0" dirty="0">
                <a:solidFill>
                  <a:schemeClr val="accent1"/>
                </a:solidFill>
                <a:effectLst/>
                <a:latin typeface="Helvetica Neue"/>
              </a:rPr>
              <a:t>Linearity</a:t>
            </a:r>
            <a:r>
              <a:rPr lang="en-GB" sz="2800" b="0" i="0" dirty="0">
                <a:effectLst/>
                <a:latin typeface="Helvetica Neue"/>
              </a:rPr>
              <a:t> – the relationship between X and the mean of Y is linear.</a:t>
            </a:r>
          </a:p>
          <a:p>
            <a:pPr marL="457200" indent="-457200" algn="l">
              <a:buFont typeface="Arial" panose="020B0604020202020204" pitchFamily="34" charset="0"/>
              <a:buChar char="•"/>
            </a:pPr>
            <a:endParaRPr lang="en-GB" sz="2800" b="0" i="0" dirty="0">
              <a:effectLst/>
              <a:latin typeface="Helvetica Neue"/>
            </a:endParaRPr>
          </a:p>
          <a:p>
            <a:pPr marL="457200" indent="-457200" algn="l">
              <a:buFont typeface="Arial" panose="020B0604020202020204" pitchFamily="34" charset="0"/>
              <a:buChar char="•"/>
            </a:pPr>
            <a:r>
              <a:rPr lang="en-GB" sz="2800" dirty="0">
                <a:solidFill>
                  <a:schemeClr val="accent1"/>
                </a:solidFill>
                <a:latin typeface="Helvetica Neue"/>
              </a:rPr>
              <a:t>Mean of Residuals </a:t>
            </a:r>
            <a:r>
              <a:rPr lang="en-GB" sz="2800" dirty="0">
                <a:latin typeface="Helvetica Neue"/>
              </a:rPr>
              <a:t>- </a:t>
            </a:r>
            <a:r>
              <a:rPr lang="en-GB" sz="2800" b="0" i="0" dirty="0">
                <a:effectLst/>
                <a:latin typeface="Helvetica Neue"/>
              </a:rPr>
              <a:t>The mean of residuals should be zero.</a:t>
            </a:r>
          </a:p>
          <a:p>
            <a:pPr marL="457200" indent="-457200" algn="l">
              <a:buFont typeface="Arial" panose="020B0604020202020204" pitchFamily="34" charset="0"/>
              <a:buChar char="•"/>
            </a:pPr>
            <a:endParaRPr lang="en-GB" sz="2800" dirty="0">
              <a:latin typeface="Helvetica Neue"/>
            </a:endParaRPr>
          </a:p>
          <a:p>
            <a:pPr marL="457200" indent="-457200" algn="l">
              <a:buFont typeface="Arial" panose="020B0604020202020204" pitchFamily="34" charset="0"/>
              <a:buChar char="•"/>
            </a:pPr>
            <a:r>
              <a:rPr lang="en-GB" sz="2800" b="0" i="0" dirty="0">
                <a:solidFill>
                  <a:schemeClr val="accent1"/>
                </a:solidFill>
                <a:effectLst/>
                <a:latin typeface="Helvetica Neue"/>
              </a:rPr>
              <a:t>Homoscedasticity</a:t>
            </a:r>
            <a:r>
              <a:rPr lang="en-GB" sz="2800" b="0" i="0" dirty="0">
                <a:effectLst/>
                <a:latin typeface="Helvetica Neue"/>
              </a:rPr>
              <a:t> - Homoscedasticity means that the residuals have equal or almost equal variance across the regression line.</a:t>
            </a:r>
          </a:p>
          <a:p>
            <a:pPr marL="457200" indent="-457200" algn="l">
              <a:buFont typeface="Arial" panose="020B0604020202020204" pitchFamily="34" charset="0"/>
              <a:buChar char="•"/>
            </a:pPr>
            <a:endParaRPr lang="en-GB" sz="2800" b="0" i="0" dirty="0">
              <a:effectLst/>
              <a:latin typeface="Helvetica Neue"/>
            </a:endParaRPr>
          </a:p>
          <a:p>
            <a:pPr marL="457200" indent="-457200" algn="l">
              <a:buFont typeface="Arial" panose="020B0604020202020204" pitchFamily="34" charset="0"/>
              <a:buChar char="•"/>
            </a:pPr>
            <a:r>
              <a:rPr lang="en-GB" sz="2800" dirty="0">
                <a:solidFill>
                  <a:schemeClr val="accent1"/>
                </a:solidFill>
                <a:latin typeface="Helvetica Neue"/>
              </a:rPr>
              <a:t>Normality of errors </a:t>
            </a:r>
            <a:r>
              <a:rPr lang="en-GB" sz="2800" dirty="0">
                <a:latin typeface="Helvetica Neue"/>
              </a:rPr>
              <a:t>– the errors should be normally distributed.</a:t>
            </a:r>
          </a:p>
          <a:p>
            <a:pPr marL="457200" indent="-457200" algn="l">
              <a:buFont typeface="Arial" panose="020B0604020202020204" pitchFamily="34" charset="0"/>
              <a:buChar char="•"/>
            </a:pPr>
            <a:endParaRPr lang="en-GB" sz="2800" dirty="0">
              <a:latin typeface="Helvetica Neue"/>
            </a:endParaRPr>
          </a:p>
          <a:p>
            <a:pPr marL="457200" indent="-457200" algn="l">
              <a:buFont typeface="Arial" panose="020B0604020202020204" pitchFamily="34" charset="0"/>
              <a:buChar char="•"/>
            </a:pPr>
            <a:r>
              <a:rPr lang="en-GB" sz="2800" dirty="0">
                <a:solidFill>
                  <a:schemeClr val="accent1"/>
                </a:solidFill>
                <a:latin typeface="Helvetica Neue"/>
              </a:rPr>
              <a:t>Independence</a:t>
            </a:r>
            <a:r>
              <a:rPr lang="en-GB" sz="2800" dirty="0">
                <a:latin typeface="Helvetica Neue"/>
              </a:rPr>
              <a:t> – no perfect correlation. The predictors are independent of each others.</a:t>
            </a:r>
            <a:endParaRPr lang="en-GB" sz="2000" dirty="0">
              <a:latin typeface="Helvetica Neue"/>
            </a:endParaRPr>
          </a:p>
          <a:p>
            <a:endParaRPr lang="en-GB" dirty="0"/>
          </a:p>
        </p:txBody>
      </p:sp>
      <p:sp>
        <p:nvSpPr>
          <p:cNvPr id="4" name="Slide Number Placeholder 3">
            <a:extLst>
              <a:ext uri="{FF2B5EF4-FFF2-40B4-BE49-F238E27FC236}">
                <a16:creationId xmlns:a16="http://schemas.microsoft.com/office/drawing/2014/main" id="{27ED6B48-B438-8C1D-9761-16CB140CE739}"/>
              </a:ext>
            </a:extLst>
          </p:cNvPr>
          <p:cNvSpPr>
            <a:spLocks noGrp="1"/>
          </p:cNvSpPr>
          <p:nvPr>
            <p:ph type="sldNum" sz="quarter" idx="12"/>
          </p:nvPr>
        </p:nvSpPr>
        <p:spPr/>
        <p:txBody>
          <a:bodyPr/>
          <a:lstStyle/>
          <a:p>
            <a:fld id="{F74D7E6C-9B20-4593-B18C-8D2C7BEEFCA2}" type="slidenum">
              <a:rPr lang="en-GB" smtClean="0"/>
              <a:t>8</a:t>
            </a:fld>
            <a:endParaRPr lang="en-GB"/>
          </a:p>
        </p:txBody>
      </p:sp>
    </p:spTree>
    <p:extLst>
      <p:ext uri="{BB962C8B-B14F-4D97-AF65-F5344CB8AC3E}">
        <p14:creationId xmlns:p14="http://schemas.microsoft.com/office/powerpoint/2010/main" val="976305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D00D2-3F16-9049-1C7D-25DC2EB6906B}"/>
              </a:ext>
            </a:extLst>
          </p:cNvPr>
          <p:cNvSpPr>
            <a:spLocks noGrp="1"/>
          </p:cNvSpPr>
          <p:nvPr>
            <p:ph type="title"/>
          </p:nvPr>
        </p:nvSpPr>
        <p:spPr/>
        <p:txBody>
          <a:bodyPr>
            <a:normAutofit/>
          </a:bodyPr>
          <a:lstStyle/>
          <a:p>
            <a:r>
              <a:rPr lang="en-GB" dirty="0"/>
              <a:t>Feature Engineering</a:t>
            </a:r>
          </a:p>
        </p:txBody>
      </p:sp>
      <p:sp>
        <p:nvSpPr>
          <p:cNvPr id="3" name="Text Placeholder 2">
            <a:extLst>
              <a:ext uri="{FF2B5EF4-FFF2-40B4-BE49-F238E27FC236}">
                <a16:creationId xmlns:a16="http://schemas.microsoft.com/office/drawing/2014/main" id="{A7E5C249-CC2E-CD99-BDD4-EAB8E71EB48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ED4D42B-19E5-DCAD-486D-C2D3B8223F86}"/>
              </a:ext>
            </a:extLst>
          </p:cNvPr>
          <p:cNvSpPr>
            <a:spLocks noGrp="1"/>
          </p:cNvSpPr>
          <p:nvPr>
            <p:ph type="sldNum" sz="quarter" idx="12"/>
          </p:nvPr>
        </p:nvSpPr>
        <p:spPr/>
        <p:txBody>
          <a:bodyPr/>
          <a:lstStyle/>
          <a:p>
            <a:fld id="{F74D7E6C-9B20-4593-B18C-8D2C7BEEFCA2}" type="slidenum">
              <a:rPr lang="en-GB" smtClean="0"/>
              <a:t>9</a:t>
            </a:fld>
            <a:endParaRPr lang="en-GB"/>
          </a:p>
        </p:txBody>
      </p:sp>
    </p:spTree>
    <p:extLst>
      <p:ext uri="{BB962C8B-B14F-4D97-AF65-F5344CB8AC3E}">
        <p14:creationId xmlns:p14="http://schemas.microsoft.com/office/powerpoint/2010/main" val="1844134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B455-FE4F-1B38-C95C-907721D030D1}"/>
              </a:ext>
            </a:extLst>
          </p:cNvPr>
          <p:cNvSpPr>
            <a:spLocks noGrp="1"/>
          </p:cNvSpPr>
          <p:nvPr>
            <p:ph type="title"/>
          </p:nvPr>
        </p:nvSpPr>
        <p:spPr/>
        <p:txBody>
          <a:bodyPr/>
          <a:lstStyle/>
          <a:p>
            <a:r>
              <a:rPr lang="en-GB" dirty="0"/>
              <a:t>Feature engineering techniques</a:t>
            </a:r>
          </a:p>
        </p:txBody>
      </p:sp>
      <p:pic>
        <p:nvPicPr>
          <p:cNvPr id="8" name="Content Placeholder 7" descr="A diagram of a software engineering technique&#10;&#10;AI-generated content may be incorrect.">
            <a:extLst>
              <a:ext uri="{FF2B5EF4-FFF2-40B4-BE49-F238E27FC236}">
                <a16:creationId xmlns:a16="http://schemas.microsoft.com/office/drawing/2014/main" id="{BC2D9CC1-380D-4AC1-D0BB-5EB67D7152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47594" y="1376643"/>
            <a:ext cx="4893973" cy="5165205"/>
          </a:xfrm>
        </p:spPr>
      </p:pic>
      <p:sp>
        <p:nvSpPr>
          <p:cNvPr id="4" name="Slide Number Placeholder 3">
            <a:extLst>
              <a:ext uri="{FF2B5EF4-FFF2-40B4-BE49-F238E27FC236}">
                <a16:creationId xmlns:a16="http://schemas.microsoft.com/office/drawing/2014/main" id="{EE710A5A-95DE-3A5F-B2CB-56AE7781E4D9}"/>
              </a:ext>
            </a:extLst>
          </p:cNvPr>
          <p:cNvSpPr>
            <a:spLocks noGrp="1"/>
          </p:cNvSpPr>
          <p:nvPr>
            <p:ph type="sldNum" sz="quarter" idx="12"/>
          </p:nvPr>
        </p:nvSpPr>
        <p:spPr/>
        <p:txBody>
          <a:bodyPr/>
          <a:lstStyle/>
          <a:p>
            <a:fld id="{F74D7E6C-9B20-4593-B18C-8D2C7BEEFCA2}" type="slidenum">
              <a:rPr lang="en-GB" smtClean="0"/>
              <a:t>10</a:t>
            </a:fld>
            <a:endParaRPr lang="en-GB"/>
          </a:p>
        </p:txBody>
      </p:sp>
      <p:sp>
        <p:nvSpPr>
          <p:cNvPr id="6" name="TextBox 5">
            <a:extLst>
              <a:ext uri="{FF2B5EF4-FFF2-40B4-BE49-F238E27FC236}">
                <a16:creationId xmlns:a16="http://schemas.microsoft.com/office/drawing/2014/main" id="{4B46D881-6DE2-37AE-D8C1-19BD003F6CA1}"/>
              </a:ext>
            </a:extLst>
          </p:cNvPr>
          <p:cNvSpPr txBox="1"/>
          <p:nvPr/>
        </p:nvSpPr>
        <p:spPr>
          <a:xfrm>
            <a:off x="4973013" y="6571147"/>
            <a:ext cx="7345838" cy="369332"/>
          </a:xfrm>
          <a:prstGeom prst="rect">
            <a:avLst/>
          </a:prstGeom>
          <a:noFill/>
        </p:spPr>
        <p:txBody>
          <a:bodyPr wrap="square">
            <a:spAutoFit/>
          </a:bodyPr>
          <a:lstStyle/>
          <a:p>
            <a:r>
              <a:rPr lang="en-GB" dirty="0">
                <a:hlinkClick r:id="rId4"/>
              </a:rPr>
              <a:t>https://www.mygreatlearning.com/blog/what-is-feature-engineering/</a:t>
            </a:r>
            <a:r>
              <a:rPr lang="en-GB" dirty="0"/>
              <a:t> </a:t>
            </a:r>
          </a:p>
        </p:txBody>
      </p:sp>
      <p:sp>
        <p:nvSpPr>
          <p:cNvPr id="10" name="TextBox 9">
            <a:extLst>
              <a:ext uri="{FF2B5EF4-FFF2-40B4-BE49-F238E27FC236}">
                <a16:creationId xmlns:a16="http://schemas.microsoft.com/office/drawing/2014/main" id="{02D6F2E8-C384-9209-8DE8-215CB2C01660}"/>
              </a:ext>
            </a:extLst>
          </p:cNvPr>
          <p:cNvSpPr txBox="1"/>
          <p:nvPr/>
        </p:nvSpPr>
        <p:spPr>
          <a:xfrm>
            <a:off x="461891" y="1552053"/>
            <a:ext cx="4323800" cy="3693319"/>
          </a:xfrm>
          <a:prstGeom prst="rect">
            <a:avLst/>
          </a:prstGeom>
          <a:noFill/>
        </p:spPr>
        <p:txBody>
          <a:bodyPr wrap="square">
            <a:spAutoFit/>
          </a:bodyPr>
          <a:lstStyle/>
          <a:p>
            <a:pPr algn="l" fontAlgn="base">
              <a:buNone/>
            </a:pPr>
            <a:r>
              <a:rPr lang="en-GB" b="0" i="0" dirty="0">
                <a:solidFill>
                  <a:schemeClr val="bg1">
                    <a:lumMod val="95000"/>
                  </a:schemeClr>
                </a:solidFill>
                <a:effectLst/>
                <a:latin typeface="Inter"/>
              </a:rPr>
              <a:t>“Feature engineering is the art of converting raw data into useful input variables (features) that improve the performance of </a:t>
            </a:r>
            <a:r>
              <a:rPr lang="en-GB" b="0" i="0" u="none" strike="noStrike" dirty="0">
                <a:solidFill>
                  <a:schemeClr val="bg1">
                    <a:lumMod val="95000"/>
                  </a:schemeClr>
                </a:solidFill>
                <a:effectLst/>
                <a:latin typeface="Inter"/>
                <a:hlinkClick r:id="rId5">
                  <a:extLst>
                    <a:ext uri="{A12FA001-AC4F-418D-AE19-62706E023703}">
                      <ahyp:hlinkClr xmlns:ahyp="http://schemas.microsoft.com/office/drawing/2018/hyperlinkcolor" val="tx"/>
                    </a:ext>
                  </a:extLst>
                </a:hlinkClick>
              </a:rPr>
              <a:t>machine learning models</a:t>
            </a:r>
            <a:r>
              <a:rPr lang="en-GB" b="0" i="0" dirty="0">
                <a:solidFill>
                  <a:schemeClr val="bg1">
                    <a:lumMod val="95000"/>
                  </a:schemeClr>
                </a:solidFill>
                <a:effectLst/>
                <a:latin typeface="Inter"/>
              </a:rPr>
              <a:t>. It helps in choosing the most useful features to enhance a model’s capacity to learn patterns &amp; make good predictions.</a:t>
            </a:r>
          </a:p>
          <a:p>
            <a:pPr algn="l" fontAlgn="base">
              <a:buNone/>
            </a:pPr>
            <a:r>
              <a:rPr lang="en-GB" b="0" i="0" dirty="0">
                <a:solidFill>
                  <a:schemeClr val="bg1">
                    <a:lumMod val="95000"/>
                  </a:schemeClr>
                </a:solidFill>
                <a:effectLst/>
                <a:latin typeface="Inter"/>
              </a:rPr>
              <a:t>Feature engineering encompasses methods like feature scaling, encoding categorical variables, feature selection, and building interaction terms.”</a:t>
            </a:r>
          </a:p>
          <a:p>
            <a:pPr>
              <a:buNone/>
            </a:pPr>
            <a:br>
              <a:rPr lang="en-GB" dirty="0">
                <a:solidFill>
                  <a:schemeClr val="bg1">
                    <a:lumMod val="95000"/>
                  </a:schemeClr>
                </a:solidFill>
              </a:rPr>
            </a:br>
            <a:endParaRPr lang="en-GB" dirty="0">
              <a:solidFill>
                <a:schemeClr val="bg1">
                  <a:lumMod val="95000"/>
                </a:schemeClr>
              </a:solidFill>
            </a:endParaRPr>
          </a:p>
        </p:txBody>
      </p:sp>
    </p:spTree>
    <p:extLst>
      <p:ext uri="{BB962C8B-B14F-4D97-AF65-F5344CB8AC3E}">
        <p14:creationId xmlns:p14="http://schemas.microsoft.com/office/powerpoint/2010/main" val="2478269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831A5-EE69-8D85-EF3E-8DF848593E30}"/>
              </a:ext>
            </a:extLst>
          </p:cNvPr>
          <p:cNvSpPr>
            <a:spLocks noGrp="1"/>
          </p:cNvSpPr>
          <p:nvPr>
            <p:ph type="title"/>
          </p:nvPr>
        </p:nvSpPr>
        <p:spPr/>
        <p:txBody>
          <a:bodyPr>
            <a:normAutofit fontScale="90000"/>
          </a:bodyPr>
          <a:lstStyle/>
          <a:p>
            <a:r>
              <a:rPr lang="en-GB" dirty="0"/>
              <a:t>Feature encoding – One-Hot Encoding(Dummy columns)</a:t>
            </a:r>
          </a:p>
        </p:txBody>
      </p:sp>
      <p:pic>
        <p:nvPicPr>
          <p:cNvPr id="6" name="Content Placeholder 5" descr="A diagram of a panda&#10;&#10;AI-generated content may be incorrect.">
            <a:extLst>
              <a:ext uri="{FF2B5EF4-FFF2-40B4-BE49-F238E27FC236}">
                <a16:creationId xmlns:a16="http://schemas.microsoft.com/office/drawing/2014/main" id="{B4C159C6-0AF2-055C-BCDB-751546E5F2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42102" y="1508020"/>
            <a:ext cx="8429624" cy="4870450"/>
          </a:xfrm>
        </p:spPr>
      </p:pic>
      <p:sp>
        <p:nvSpPr>
          <p:cNvPr id="4" name="Slide Number Placeholder 3">
            <a:extLst>
              <a:ext uri="{FF2B5EF4-FFF2-40B4-BE49-F238E27FC236}">
                <a16:creationId xmlns:a16="http://schemas.microsoft.com/office/drawing/2014/main" id="{BB15B7E1-1BBE-ABC9-2EA6-23796E534030}"/>
              </a:ext>
            </a:extLst>
          </p:cNvPr>
          <p:cNvSpPr>
            <a:spLocks noGrp="1"/>
          </p:cNvSpPr>
          <p:nvPr>
            <p:ph type="sldNum" sz="quarter" idx="12"/>
          </p:nvPr>
        </p:nvSpPr>
        <p:spPr/>
        <p:txBody>
          <a:bodyPr/>
          <a:lstStyle/>
          <a:p>
            <a:fld id="{F74D7E6C-9B20-4593-B18C-8D2C7BEEFCA2}" type="slidenum">
              <a:rPr lang="en-GB" smtClean="0"/>
              <a:t>11</a:t>
            </a:fld>
            <a:endParaRPr lang="en-GB"/>
          </a:p>
        </p:txBody>
      </p:sp>
      <p:sp>
        <p:nvSpPr>
          <p:cNvPr id="8" name="TextBox 7">
            <a:extLst>
              <a:ext uri="{FF2B5EF4-FFF2-40B4-BE49-F238E27FC236}">
                <a16:creationId xmlns:a16="http://schemas.microsoft.com/office/drawing/2014/main" id="{D13AA67C-92C6-ACA1-DF6B-3355480F6597}"/>
              </a:ext>
            </a:extLst>
          </p:cNvPr>
          <p:cNvSpPr txBox="1"/>
          <p:nvPr/>
        </p:nvSpPr>
        <p:spPr>
          <a:xfrm>
            <a:off x="3342102" y="6416454"/>
            <a:ext cx="7685363" cy="369332"/>
          </a:xfrm>
          <a:prstGeom prst="rect">
            <a:avLst/>
          </a:prstGeom>
          <a:noFill/>
        </p:spPr>
        <p:txBody>
          <a:bodyPr wrap="square">
            <a:spAutoFit/>
          </a:bodyPr>
          <a:lstStyle/>
          <a:p>
            <a:r>
              <a:rPr lang="en-GB" b="0" i="0" u="none" strike="noStrike" dirty="0">
                <a:solidFill>
                  <a:srgbClr val="0D47A1"/>
                </a:solidFill>
                <a:effectLst/>
                <a:latin typeface="system-ui"/>
                <a:hlinkClick r:id="rId4"/>
              </a:rPr>
              <a:t>https://datascienceparichay.com/article/pandas-get-dummies-function/</a:t>
            </a:r>
            <a:endParaRPr lang="en-GB" dirty="0"/>
          </a:p>
        </p:txBody>
      </p:sp>
      <p:sp>
        <p:nvSpPr>
          <p:cNvPr id="10" name="TextBox 9">
            <a:extLst>
              <a:ext uri="{FF2B5EF4-FFF2-40B4-BE49-F238E27FC236}">
                <a16:creationId xmlns:a16="http://schemas.microsoft.com/office/drawing/2014/main" id="{BF9BF5FB-496F-C4C8-99BF-C32687F66CEC}"/>
              </a:ext>
            </a:extLst>
          </p:cNvPr>
          <p:cNvSpPr txBox="1"/>
          <p:nvPr/>
        </p:nvSpPr>
        <p:spPr>
          <a:xfrm>
            <a:off x="202510" y="1610644"/>
            <a:ext cx="2848803" cy="2031325"/>
          </a:xfrm>
          <a:prstGeom prst="rect">
            <a:avLst/>
          </a:prstGeom>
          <a:noFill/>
        </p:spPr>
        <p:txBody>
          <a:bodyPr wrap="square">
            <a:spAutoFit/>
          </a:bodyPr>
          <a:lstStyle/>
          <a:p>
            <a:r>
              <a:rPr lang="en-GB" b="0" i="0" dirty="0">
                <a:solidFill>
                  <a:schemeClr val="bg1">
                    <a:lumMod val="95000"/>
                  </a:schemeClr>
                </a:solidFill>
                <a:effectLst/>
                <a:latin typeface="system-ui"/>
              </a:rPr>
              <a:t>"The pandas </a:t>
            </a:r>
            <a:r>
              <a:rPr lang="en-GB" b="0" i="0" dirty="0" err="1">
                <a:solidFill>
                  <a:schemeClr val="bg1">
                    <a:lumMod val="95000"/>
                  </a:schemeClr>
                </a:solidFill>
                <a:effectLst/>
                <a:latin typeface="system-ui"/>
              </a:rPr>
              <a:t>get_dummies</a:t>
            </a:r>
            <a:r>
              <a:rPr lang="en-GB" b="0" i="0" dirty="0">
                <a:solidFill>
                  <a:schemeClr val="bg1">
                    <a:lumMod val="95000"/>
                  </a:schemeClr>
                </a:solidFill>
                <a:effectLst/>
                <a:latin typeface="system-ui"/>
              </a:rPr>
              <a:t>() function is used to convert a categorical variable to indicator/dummy variables (columns). It returns the dummy coded data as a pandas </a:t>
            </a:r>
            <a:r>
              <a:rPr lang="en-GB" dirty="0" err="1">
                <a:solidFill>
                  <a:schemeClr val="bg1">
                    <a:lumMod val="95000"/>
                  </a:schemeClr>
                </a:solidFill>
                <a:latin typeface="system-ui"/>
              </a:rPr>
              <a:t>D</a:t>
            </a:r>
            <a:r>
              <a:rPr lang="en-GB" b="0" i="0" dirty="0" err="1">
                <a:solidFill>
                  <a:schemeClr val="bg1">
                    <a:lumMod val="95000"/>
                  </a:schemeClr>
                </a:solidFill>
                <a:effectLst/>
                <a:latin typeface="system-ui"/>
              </a:rPr>
              <a:t>ataFrame</a:t>
            </a:r>
            <a:r>
              <a:rPr lang="en-GB" b="0" i="0" dirty="0">
                <a:solidFill>
                  <a:schemeClr val="bg1">
                    <a:lumMod val="95000"/>
                  </a:schemeClr>
                </a:solidFill>
                <a:effectLst/>
                <a:latin typeface="system-ui"/>
              </a:rPr>
              <a:t>."</a:t>
            </a:r>
            <a:endParaRPr lang="en-GB" dirty="0">
              <a:solidFill>
                <a:schemeClr val="bg1">
                  <a:lumMod val="95000"/>
                </a:schemeClr>
              </a:solidFill>
            </a:endParaRPr>
          </a:p>
        </p:txBody>
      </p:sp>
    </p:spTree>
    <p:extLst>
      <p:ext uri="{BB962C8B-B14F-4D97-AF65-F5344CB8AC3E}">
        <p14:creationId xmlns:p14="http://schemas.microsoft.com/office/powerpoint/2010/main" val="3358112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E0A9-B51D-C3ED-C588-80F5A017A734}"/>
              </a:ext>
            </a:extLst>
          </p:cNvPr>
          <p:cNvSpPr>
            <a:spLocks noGrp="1"/>
          </p:cNvSpPr>
          <p:nvPr>
            <p:ph type="title"/>
          </p:nvPr>
        </p:nvSpPr>
        <p:spPr/>
        <p:txBody>
          <a:bodyPr/>
          <a:lstStyle/>
          <a:p>
            <a:r>
              <a:rPr lang="en-GB" dirty="0"/>
              <a:t>Feature scaling</a:t>
            </a:r>
          </a:p>
        </p:txBody>
      </p:sp>
      <p:pic>
        <p:nvPicPr>
          <p:cNvPr id="6" name="Content Placeholder 5" descr="A diagram of a normalization equation&#10;&#10;AI-generated content may be incorrect.">
            <a:extLst>
              <a:ext uri="{FF2B5EF4-FFF2-40B4-BE49-F238E27FC236}">
                <a16:creationId xmlns:a16="http://schemas.microsoft.com/office/drawing/2014/main" id="{49BCFA14-B5A5-9369-085E-452A66D502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0117" y="1335204"/>
            <a:ext cx="6102022" cy="3861326"/>
          </a:xfrm>
        </p:spPr>
      </p:pic>
      <p:sp>
        <p:nvSpPr>
          <p:cNvPr id="4" name="Slide Number Placeholder 3">
            <a:extLst>
              <a:ext uri="{FF2B5EF4-FFF2-40B4-BE49-F238E27FC236}">
                <a16:creationId xmlns:a16="http://schemas.microsoft.com/office/drawing/2014/main" id="{74CB1E14-F44B-7708-AC14-EC924E9C62E2}"/>
              </a:ext>
            </a:extLst>
          </p:cNvPr>
          <p:cNvSpPr>
            <a:spLocks noGrp="1"/>
          </p:cNvSpPr>
          <p:nvPr>
            <p:ph type="sldNum" sz="quarter" idx="12"/>
          </p:nvPr>
        </p:nvSpPr>
        <p:spPr/>
        <p:txBody>
          <a:bodyPr/>
          <a:lstStyle/>
          <a:p>
            <a:fld id="{F74D7E6C-9B20-4593-B18C-8D2C7BEEFCA2}" type="slidenum">
              <a:rPr lang="en-GB" smtClean="0"/>
              <a:t>12</a:t>
            </a:fld>
            <a:endParaRPr lang="en-GB"/>
          </a:p>
        </p:txBody>
      </p:sp>
      <p:pic>
        <p:nvPicPr>
          <p:cNvPr id="8" name="Picture 7" descr="A diagram of a normalizing graph&#10;&#10;AI-generated content may be incorrect.">
            <a:extLst>
              <a:ext uri="{FF2B5EF4-FFF2-40B4-BE49-F238E27FC236}">
                <a16:creationId xmlns:a16="http://schemas.microsoft.com/office/drawing/2014/main" id="{C8F2227C-04A0-6A5D-F47D-546EA63692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9010" y="1335204"/>
            <a:ext cx="5772873" cy="2647275"/>
          </a:xfrm>
          <a:prstGeom prst="rect">
            <a:avLst/>
          </a:prstGeom>
        </p:spPr>
      </p:pic>
      <p:sp>
        <p:nvSpPr>
          <p:cNvPr id="10" name="TextBox 9">
            <a:extLst>
              <a:ext uri="{FF2B5EF4-FFF2-40B4-BE49-F238E27FC236}">
                <a16:creationId xmlns:a16="http://schemas.microsoft.com/office/drawing/2014/main" id="{148FE649-4E40-33E0-ABD2-38E4D0729ADE}"/>
              </a:ext>
            </a:extLst>
          </p:cNvPr>
          <p:cNvSpPr txBox="1"/>
          <p:nvPr/>
        </p:nvSpPr>
        <p:spPr>
          <a:xfrm>
            <a:off x="233394" y="806400"/>
            <a:ext cx="8467664" cy="369332"/>
          </a:xfrm>
          <a:prstGeom prst="rect">
            <a:avLst/>
          </a:prstGeom>
          <a:noFill/>
        </p:spPr>
        <p:txBody>
          <a:bodyPr wrap="square">
            <a:spAutoFit/>
          </a:bodyPr>
          <a:lstStyle/>
          <a:p>
            <a:r>
              <a:rPr lang="en-GB" b="0" i="0" u="none" strike="noStrike" dirty="0">
                <a:solidFill>
                  <a:srgbClr val="0D47A1"/>
                </a:solidFill>
                <a:effectLst/>
                <a:latin typeface="system-ui"/>
                <a:hlinkClick r:id="rId5"/>
              </a:rPr>
              <a:t>https://blog.alliedoffsets.com/standardization-the-secret-to-better-data-science</a:t>
            </a:r>
            <a:endParaRPr lang="en-GB" dirty="0"/>
          </a:p>
        </p:txBody>
      </p:sp>
      <p:pic>
        <p:nvPicPr>
          <p:cNvPr id="12" name="Picture 11" descr="A diagram of a normal distribution&#10;&#10;AI-generated content may be incorrect.">
            <a:extLst>
              <a:ext uri="{FF2B5EF4-FFF2-40B4-BE49-F238E27FC236}">
                <a16:creationId xmlns:a16="http://schemas.microsoft.com/office/drawing/2014/main" id="{B6C9A8FA-51BA-8171-AB72-DE2E847597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9010" y="4149379"/>
            <a:ext cx="3858144" cy="2572095"/>
          </a:xfrm>
          <a:prstGeom prst="rect">
            <a:avLst/>
          </a:prstGeom>
        </p:spPr>
      </p:pic>
    </p:spTree>
    <p:extLst>
      <p:ext uri="{BB962C8B-B14F-4D97-AF65-F5344CB8AC3E}">
        <p14:creationId xmlns:p14="http://schemas.microsoft.com/office/powerpoint/2010/main" val="1020836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7909-AFCA-7D07-759A-476BD5495CA0}"/>
              </a:ext>
            </a:extLst>
          </p:cNvPr>
          <p:cNvSpPr>
            <a:spLocks noGrp="1"/>
          </p:cNvSpPr>
          <p:nvPr>
            <p:ph type="title"/>
          </p:nvPr>
        </p:nvSpPr>
        <p:spPr/>
        <p:txBody>
          <a:bodyPr/>
          <a:lstStyle/>
          <a:p>
            <a:r>
              <a:rPr lang="en-GB" dirty="0"/>
              <a:t>Target transformation</a:t>
            </a:r>
          </a:p>
        </p:txBody>
      </p:sp>
      <p:sp>
        <p:nvSpPr>
          <p:cNvPr id="3" name="Text Placeholder 2">
            <a:extLst>
              <a:ext uri="{FF2B5EF4-FFF2-40B4-BE49-F238E27FC236}">
                <a16:creationId xmlns:a16="http://schemas.microsoft.com/office/drawing/2014/main" id="{E7B220DD-2573-7318-7752-F4DE08BA86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2C381C6-D6B0-F32F-5308-B75338107DAD}"/>
              </a:ext>
            </a:extLst>
          </p:cNvPr>
          <p:cNvSpPr>
            <a:spLocks noGrp="1"/>
          </p:cNvSpPr>
          <p:nvPr>
            <p:ph type="sldNum" sz="quarter" idx="12"/>
          </p:nvPr>
        </p:nvSpPr>
        <p:spPr/>
        <p:txBody>
          <a:bodyPr/>
          <a:lstStyle/>
          <a:p>
            <a:fld id="{F74D7E6C-9B20-4593-B18C-8D2C7BEEFCA2}" type="slidenum">
              <a:rPr lang="en-GB" smtClean="0"/>
              <a:t>13</a:t>
            </a:fld>
            <a:endParaRPr lang="en-GB"/>
          </a:p>
        </p:txBody>
      </p:sp>
    </p:spTree>
    <p:extLst>
      <p:ext uri="{BB962C8B-B14F-4D97-AF65-F5344CB8AC3E}">
        <p14:creationId xmlns:p14="http://schemas.microsoft.com/office/powerpoint/2010/main" val="630763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6C2A1-57CF-2B45-F852-E3E179BA124B}"/>
              </a:ext>
            </a:extLst>
          </p:cNvPr>
          <p:cNvSpPr>
            <a:spLocks noGrp="1"/>
          </p:cNvSpPr>
          <p:nvPr>
            <p:ph type="title"/>
          </p:nvPr>
        </p:nvSpPr>
        <p:spPr/>
        <p:txBody>
          <a:bodyPr/>
          <a:lstStyle/>
          <a:p>
            <a:r>
              <a:rPr lang="en-GB" dirty="0"/>
              <a:t>Box-Cox function</a:t>
            </a:r>
          </a:p>
        </p:txBody>
      </p:sp>
      <p:pic>
        <p:nvPicPr>
          <p:cNvPr id="6" name="Content Placeholder 5" descr="A screenshot of a math formula&#10;&#10;AI-generated content may be incorrect.">
            <a:extLst>
              <a:ext uri="{FF2B5EF4-FFF2-40B4-BE49-F238E27FC236}">
                <a16:creationId xmlns:a16="http://schemas.microsoft.com/office/drawing/2014/main" id="{63965557-08DD-6957-DA6B-FF434AB9A6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5385" y="1381539"/>
            <a:ext cx="5336865" cy="4870450"/>
          </a:xfrm>
        </p:spPr>
      </p:pic>
      <p:sp>
        <p:nvSpPr>
          <p:cNvPr id="4" name="Slide Number Placeholder 3">
            <a:extLst>
              <a:ext uri="{FF2B5EF4-FFF2-40B4-BE49-F238E27FC236}">
                <a16:creationId xmlns:a16="http://schemas.microsoft.com/office/drawing/2014/main" id="{B23FFFAE-0128-CCF8-9A4D-B9BE7D68AFBE}"/>
              </a:ext>
            </a:extLst>
          </p:cNvPr>
          <p:cNvSpPr>
            <a:spLocks noGrp="1"/>
          </p:cNvSpPr>
          <p:nvPr>
            <p:ph type="sldNum" sz="quarter" idx="12"/>
          </p:nvPr>
        </p:nvSpPr>
        <p:spPr/>
        <p:txBody>
          <a:bodyPr/>
          <a:lstStyle/>
          <a:p>
            <a:fld id="{F74D7E6C-9B20-4593-B18C-8D2C7BEEFCA2}" type="slidenum">
              <a:rPr lang="en-GB" smtClean="0"/>
              <a:t>14</a:t>
            </a:fld>
            <a:endParaRPr lang="en-GB"/>
          </a:p>
        </p:txBody>
      </p:sp>
      <p:sp>
        <p:nvSpPr>
          <p:cNvPr id="8" name="TextBox 7">
            <a:extLst>
              <a:ext uri="{FF2B5EF4-FFF2-40B4-BE49-F238E27FC236}">
                <a16:creationId xmlns:a16="http://schemas.microsoft.com/office/drawing/2014/main" id="{E22B42DA-7A3D-3BBF-0400-ADF5AE4F4618}"/>
              </a:ext>
            </a:extLst>
          </p:cNvPr>
          <p:cNvSpPr txBox="1"/>
          <p:nvPr/>
        </p:nvSpPr>
        <p:spPr>
          <a:xfrm>
            <a:off x="368577" y="6352142"/>
            <a:ext cx="6648450" cy="369332"/>
          </a:xfrm>
          <a:prstGeom prst="rect">
            <a:avLst/>
          </a:prstGeom>
          <a:noFill/>
        </p:spPr>
        <p:txBody>
          <a:bodyPr wrap="square">
            <a:spAutoFit/>
          </a:bodyPr>
          <a:lstStyle/>
          <a:p>
            <a:r>
              <a:rPr lang="en-GB" b="0" i="0" u="none" strike="noStrike" dirty="0">
                <a:solidFill>
                  <a:srgbClr val="0D47A1"/>
                </a:solidFill>
                <a:effectLst/>
                <a:latin typeface="system-ui"/>
                <a:hlinkClick r:id="rId4"/>
              </a:rPr>
              <a:t>https://goldinlocks.github.io/Data-distributions-transformations/</a:t>
            </a:r>
            <a:endParaRPr lang="en-GB" dirty="0"/>
          </a:p>
        </p:txBody>
      </p:sp>
      <p:pic>
        <p:nvPicPr>
          <p:cNvPr id="5" name="Picture 4">
            <a:extLst>
              <a:ext uri="{FF2B5EF4-FFF2-40B4-BE49-F238E27FC236}">
                <a16:creationId xmlns:a16="http://schemas.microsoft.com/office/drawing/2014/main" id="{2D559D16-F4C8-6438-E2A8-8AC84F3FE0E1}"/>
              </a:ext>
            </a:extLst>
          </p:cNvPr>
          <p:cNvPicPr>
            <a:picLocks noChangeAspect="1"/>
          </p:cNvPicPr>
          <p:nvPr/>
        </p:nvPicPr>
        <p:blipFill>
          <a:blip r:embed="rId5"/>
          <a:stretch>
            <a:fillRect/>
          </a:stretch>
        </p:blipFill>
        <p:spPr>
          <a:xfrm>
            <a:off x="6729514" y="1869476"/>
            <a:ext cx="4467849" cy="1648055"/>
          </a:xfrm>
          <a:prstGeom prst="rect">
            <a:avLst/>
          </a:prstGeom>
        </p:spPr>
      </p:pic>
    </p:spTree>
    <p:extLst>
      <p:ext uri="{BB962C8B-B14F-4D97-AF65-F5344CB8AC3E}">
        <p14:creationId xmlns:p14="http://schemas.microsoft.com/office/powerpoint/2010/main" val="3672264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142AF-A123-D252-0802-293A0999B6B4}"/>
              </a:ext>
            </a:extLst>
          </p:cNvPr>
          <p:cNvSpPr>
            <a:spLocks noGrp="1"/>
          </p:cNvSpPr>
          <p:nvPr>
            <p:ph type="title"/>
          </p:nvPr>
        </p:nvSpPr>
        <p:spPr/>
        <p:txBody>
          <a:bodyPr/>
          <a:lstStyle/>
          <a:p>
            <a:r>
              <a:rPr lang="en-GB" dirty="0"/>
              <a:t>Non-Linear Regression models</a:t>
            </a:r>
          </a:p>
        </p:txBody>
      </p:sp>
      <p:sp>
        <p:nvSpPr>
          <p:cNvPr id="3" name="Text Placeholder 2">
            <a:extLst>
              <a:ext uri="{FF2B5EF4-FFF2-40B4-BE49-F238E27FC236}">
                <a16:creationId xmlns:a16="http://schemas.microsoft.com/office/drawing/2014/main" id="{D5AC47E6-444D-CFF9-C7DC-5A480AF77C5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EA0EC0B-CD88-A18D-04AF-09B624FA1C0A}"/>
              </a:ext>
            </a:extLst>
          </p:cNvPr>
          <p:cNvSpPr>
            <a:spLocks noGrp="1"/>
          </p:cNvSpPr>
          <p:nvPr>
            <p:ph type="sldNum" sz="quarter" idx="12"/>
          </p:nvPr>
        </p:nvSpPr>
        <p:spPr/>
        <p:txBody>
          <a:bodyPr/>
          <a:lstStyle/>
          <a:p>
            <a:fld id="{F74D7E6C-9B20-4593-B18C-8D2C7BEEFCA2}" type="slidenum">
              <a:rPr lang="en-GB" smtClean="0"/>
              <a:t>15</a:t>
            </a:fld>
            <a:endParaRPr lang="en-GB"/>
          </a:p>
        </p:txBody>
      </p:sp>
    </p:spTree>
    <p:extLst>
      <p:ext uri="{BB962C8B-B14F-4D97-AF65-F5344CB8AC3E}">
        <p14:creationId xmlns:p14="http://schemas.microsoft.com/office/powerpoint/2010/main" val="3929899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7D41-6ED2-B009-FA9F-EDFA2ACFC4B8}"/>
              </a:ext>
            </a:extLst>
          </p:cNvPr>
          <p:cNvSpPr>
            <a:spLocks noGrp="1"/>
          </p:cNvSpPr>
          <p:nvPr>
            <p:ph type="title"/>
          </p:nvPr>
        </p:nvSpPr>
        <p:spPr/>
        <p:txBody>
          <a:bodyPr/>
          <a:lstStyle/>
          <a:p>
            <a:r>
              <a:rPr lang="en-GB" dirty="0"/>
              <a:t>Other Regressions</a:t>
            </a:r>
          </a:p>
        </p:txBody>
      </p:sp>
      <p:sp>
        <p:nvSpPr>
          <p:cNvPr id="4" name="Slide Number Placeholder 3">
            <a:extLst>
              <a:ext uri="{FF2B5EF4-FFF2-40B4-BE49-F238E27FC236}">
                <a16:creationId xmlns:a16="http://schemas.microsoft.com/office/drawing/2014/main" id="{EEFB6A8F-31CB-727F-5E88-38505ABD3E66}"/>
              </a:ext>
            </a:extLst>
          </p:cNvPr>
          <p:cNvSpPr>
            <a:spLocks noGrp="1"/>
          </p:cNvSpPr>
          <p:nvPr>
            <p:ph type="sldNum" sz="quarter" idx="12"/>
          </p:nvPr>
        </p:nvSpPr>
        <p:spPr/>
        <p:txBody>
          <a:bodyPr/>
          <a:lstStyle/>
          <a:p>
            <a:fld id="{F74D7E6C-9B20-4593-B18C-8D2C7BEEFCA2}" type="slidenum">
              <a:rPr lang="en-GB" smtClean="0"/>
              <a:t>16</a:t>
            </a:fld>
            <a:endParaRPr lang="en-GB"/>
          </a:p>
        </p:txBody>
      </p:sp>
      <p:sp>
        <p:nvSpPr>
          <p:cNvPr id="8" name="TextBox 7">
            <a:extLst>
              <a:ext uri="{FF2B5EF4-FFF2-40B4-BE49-F238E27FC236}">
                <a16:creationId xmlns:a16="http://schemas.microsoft.com/office/drawing/2014/main" id="{DF579239-6805-F6F7-3B6A-813065D6DE93}"/>
              </a:ext>
            </a:extLst>
          </p:cNvPr>
          <p:cNvSpPr txBox="1"/>
          <p:nvPr/>
        </p:nvSpPr>
        <p:spPr>
          <a:xfrm>
            <a:off x="323851" y="6378470"/>
            <a:ext cx="11270145" cy="369332"/>
          </a:xfrm>
          <a:prstGeom prst="rect">
            <a:avLst/>
          </a:prstGeom>
          <a:noFill/>
        </p:spPr>
        <p:txBody>
          <a:bodyPr wrap="square">
            <a:spAutoFit/>
          </a:bodyPr>
          <a:lstStyle/>
          <a:p>
            <a:r>
              <a:rPr lang="en-GB" dirty="0">
                <a:hlinkClick r:id="rId3"/>
              </a:rPr>
              <a:t>https://medium.com/@sahin.samia/a-comprehensive-introduction-to-generalized-linear-models-fd773d460c1d</a:t>
            </a:r>
            <a:r>
              <a:rPr lang="en-GB" dirty="0"/>
              <a:t> </a:t>
            </a:r>
          </a:p>
        </p:txBody>
      </p:sp>
      <p:pic>
        <p:nvPicPr>
          <p:cNvPr id="12" name="Content Placeholder 11" descr="A screenshot of a computer&#10;&#10;AI-generated content may be incorrect.">
            <a:extLst>
              <a:ext uri="{FF2B5EF4-FFF2-40B4-BE49-F238E27FC236}">
                <a16:creationId xmlns:a16="http://schemas.microsoft.com/office/drawing/2014/main" id="{E019152B-F3CD-9900-93B8-4AFE86583060}"/>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970424" y="1348994"/>
            <a:ext cx="5922237" cy="5029476"/>
          </a:xfrm>
        </p:spPr>
      </p:pic>
      <p:sp>
        <p:nvSpPr>
          <p:cNvPr id="13" name="TextBox 12">
            <a:extLst>
              <a:ext uri="{FF2B5EF4-FFF2-40B4-BE49-F238E27FC236}">
                <a16:creationId xmlns:a16="http://schemas.microsoft.com/office/drawing/2014/main" id="{DF99D708-56BB-A21C-92E0-75C83B767419}"/>
              </a:ext>
            </a:extLst>
          </p:cNvPr>
          <p:cNvSpPr txBox="1"/>
          <p:nvPr/>
        </p:nvSpPr>
        <p:spPr>
          <a:xfrm>
            <a:off x="581439" y="2047462"/>
            <a:ext cx="2544417" cy="369332"/>
          </a:xfrm>
          <a:prstGeom prst="rect">
            <a:avLst/>
          </a:prstGeom>
          <a:noFill/>
          <a:ln>
            <a:solidFill>
              <a:schemeClr val="accent1"/>
            </a:solidFill>
          </a:ln>
        </p:spPr>
        <p:txBody>
          <a:bodyPr wrap="square" rtlCol="0">
            <a:spAutoFit/>
          </a:bodyPr>
          <a:lstStyle/>
          <a:p>
            <a:r>
              <a:rPr lang="en-GB" dirty="0">
                <a:solidFill>
                  <a:schemeClr val="bg1">
                    <a:lumMod val="95000"/>
                  </a:schemeClr>
                </a:solidFill>
              </a:rPr>
              <a:t>For the diamond’s prices</a:t>
            </a:r>
          </a:p>
        </p:txBody>
      </p:sp>
      <p:cxnSp>
        <p:nvCxnSpPr>
          <p:cNvPr id="15" name="Straight Arrow Connector 14">
            <a:extLst>
              <a:ext uri="{FF2B5EF4-FFF2-40B4-BE49-F238E27FC236}">
                <a16:creationId xmlns:a16="http://schemas.microsoft.com/office/drawing/2014/main" id="{AF64DACF-48F2-1128-6C11-C0CC77112EC3}"/>
              </a:ext>
            </a:extLst>
          </p:cNvPr>
          <p:cNvCxnSpPr>
            <a:cxnSpLocks/>
            <a:stCxn id="13" idx="3"/>
          </p:cNvCxnSpPr>
          <p:nvPr/>
        </p:nvCxnSpPr>
        <p:spPr>
          <a:xfrm>
            <a:off x="3125856" y="2232128"/>
            <a:ext cx="1147970" cy="14239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0817165-46FD-22A9-AF09-B83C9E0A12A1}"/>
              </a:ext>
            </a:extLst>
          </p:cNvPr>
          <p:cNvCxnSpPr>
            <a:cxnSpLocks/>
            <a:stCxn id="13" idx="3"/>
          </p:cNvCxnSpPr>
          <p:nvPr/>
        </p:nvCxnSpPr>
        <p:spPr>
          <a:xfrm>
            <a:off x="3125856" y="2232128"/>
            <a:ext cx="1147970" cy="32768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B7E426F-0F74-C546-DAAC-A5B7FFB72632}"/>
              </a:ext>
            </a:extLst>
          </p:cNvPr>
          <p:cNvCxnSpPr>
            <a:stCxn id="13" idx="3"/>
          </p:cNvCxnSpPr>
          <p:nvPr/>
        </p:nvCxnSpPr>
        <p:spPr>
          <a:xfrm flipV="1">
            <a:off x="3125856" y="2047462"/>
            <a:ext cx="1147970" cy="1846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9475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DA98-754E-7755-8579-C06A5D0235D9}"/>
              </a:ext>
            </a:extLst>
          </p:cNvPr>
          <p:cNvSpPr>
            <a:spLocks noGrp="1"/>
          </p:cNvSpPr>
          <p:nvPr>
            <p:ph type="title"/>
          </p:nvPr>
        </p:nvSpPr>
        <p:spPr/>
        <p:txBody>
          <a:bodyPr/>
          <a:lstStyle/>
          <a:p>
            <a:r>
              <a:rPr lang="en-GB" dirty="0"/>
              <a:t>Polynomial Regression</a:t>
            </a:r>
          </a:p>
        </p:txBody>
      </p:sp>
      <p:pic>
        <p:nvPicPr>
          <p:cNvPr id="6" name="Content Placeholder 5" descr="A graph of a graph of a model and a graph of a graph&#10;&#10;AI-generated content may be incorrect.">
            <a:extLst>
              <a:ext uri="{FF2B5EF4-FFF2-40B4-BE49-F238E27FC236}">
                <a16:creationId xmlns:a16="http://schemas.microsoft.com/office/drawing/2014/main" id="{F972DF7D-BBFB-D974-D1E3-F3B8C8770B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26386" y="3877916"/>
            <a:ext cx="5687116" cy="2843558"/>
          </a:xfrm>
          <a:solidFill>
            <a:schemeClr val="bg1">
              <a:lumMod val="95000"/>
            </a:schemeClr>
          </a:solidFill>
        </p:spPr>
      </p:pic>
      <p:sp>
        <p:nvSpPr>
          <p:cNvPr id="4" name="Slide Number Placeholder 3">
            <a:extLst>
              <a:ext uri="{FF2B5EF4-FFF2-40B4-BE49-F238E27FC236}">
                <a16:creationId xmlns:a16="http://schemas.microsoft.com/office/drawing/2014/main" id="{96D404D5-F764-EF45-99FC-07744F29E558}"/>
              </a:ext>
            </a:extLst>
          </p:cNvPr>
          <p:cNvSpPr>
            <a:spLocks noGrp="1"/>
          </p:cNvSpPr>
          <p:nvPr>
            <p:ph type="sldNum" sz="quarter" idx="12"/>
          </p:nvPr>
        </p:nvSpPr>
        <p:spPr/>
        <p:txBody>
          <a:bodyPr/>
          <a:lstStyle/>
          <a:p>
            <a:fld id="{F74D7E6C-9B20-4593-B18C-8D2C7BEEFCA2}" type="slidenum">
              <a:rPr lang="en-GB" smtClean="0"/>
              <a:t>17</a:t>
            </a:fld>
            <a:endParaRPr lang="en-GB"/>
          </a:p>
        </p:txBody>
      </p:sp>
      <p:pic>
        <p:nvPicPr>
          <p:cNvPr id="8" name="Picture 7">
            <a:extLst>
              <a:ext uri="{FF2B5EF4-FFF2-40B4-BE49-F238E27FC236}">
                <a16:creationId xmlns:a16="http://schemas.microsoft.com/office/drawing/2014/main" id="{CFD6C633-3D8D-3072-4D96-7457503253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386" y="1369537"/>
            <a:ext cx="6519240" cy="2370633"/>
          </a:xfrm>
          <a:prstGeom prst="rect">
            <a:avLst/>
          </a:prstGeom>
        </p:spPr>
      </p:pic>
      <p:sp>
        <p:nvSpPr>
          <p:cNvPr id="10" name="TextBox 9">
            <a:extLst>
              <a:ext uri="{FF2B5EF4-FFF2-40B4-BE49-F238E27FC236}">
                <a16:creationId xmlns:a16="http://schemas.microsoft.com/office/drawing/2014/main" id="{060E79E4-BCD2-3F33-C067-4F64B9F83953}"/>
              </a:ext>
            </a:extLst>
          </p:cNvPr>
          <p:cNvSpPr txBox="1"/>
          <p:nvPr/>
        </p:nvSpPr>
        <p:spPr>
          <a:xfrm>
            <a:off x="6449254" y="5820265"/>
            <a:ext cx="2704686" cy="923330"/>
          </a:xfrm>
          <a:prstGeom prst="rect">
            <a:avLst/>
          </a:prstGeom>
          <a:noFill/>
        </p:spPr>
        <p:txBody>
          <a:bodyPr wrap="square">
            <a:spAutoFit/>
          </a:bodyPr>
          <a:lstStyle/>
          <a:p>
            <a:r>
              <a:rPr lang="en-GB" b="0" i="0" u="none" strike="noStrike" dirty="0">
                <a:solidFill>
                  <a:srgbClr val="0D47A1"/>
                </a:solidFill>
                <a:effectLst/>
                <a:latin typeface="system-ui"/>
                <a:hlinkClick r:id="rId5"/>
              </a:rPr>
              <a:t>https://machinewithdata.com/2018/06/29/types-of-regression-2/</a:t>
            </a:r>
            <a:endParaRPr lang="en-GB" dirty="0"/>
          </a:p>
        </p:txBody>
      </p:sp>
      <p:sp>
        <p:nvSpPr>
          <p:cNvPr id="12" name="TextBox 11">
            <a:extLst>
              <a:ext uri="{FF2B5EF4-FFF2-40B4-BE49-F238E27FC236}">
                <a16:creationId xmlns:a16="http://schemas.microsoft.com/office/drawing/2014/main" id="{635AF346-F1A0-1C6C-AF86-330DDAE639A5}"/>
              </a:ext>
            </a:extLst>
          </p:cNvPr>
          <p:cNvSpPr txBox="1"/>
          <p:nvPr/>
        </p:nvSpPr>
        <p:spPr>
          <a:xfrm>
            <a:off x="7245626" y="2892784"/>
            <a:ext cx="3259620" cy="923330"/>
          </a:xfrm>
          <a:prstGeom prst="rect">
            <a:avLst/>
          </a:prstGeom>
          <a:noFill/>
        </p:spPr>
        <p:txBody>
          <a:bodyPr wrap="square">
            <a:spAutoFit/>
          </a:bodyPr>
          <a:lstStyle/>
          <a:p>
            <a:r>
              <a:rPr lang="en-GB" b="0" i="0" u="none" strike="noStrike" dirty="0">
                <a:solidFill>
                  <a:srgbClr val="0D47A1"/>
                </a:solidFill>
                <a:effectLst/>
                <a:latin typeface="system-ui"/>
                <a:hlinkClick r:id="rId6"/>
              </a:rPr>
              <a:t>https://www.analyticsvidhya.com/blog/2021/10/understanding-polynomial-regression-model/</a:t>
            </a:r>
            <a:endParaRPr lang="en-GB" dirty="0"/>
          </a:p>
        </p:txBody>
      </p:sp>
    </p:spTree>
    <p:extLst>
      <p:ext uri="{BB962C8B-B14F-4D97-AF65-F5344CB8AC3E}">
        <p14:creationId xmlns:p14="http://schemas.microsoft.com/office/powerpoint/2010/main" val="1262266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B939-45BC-A358-7158-4EF4C60A1075}"/>
              </a:ext>
            </a:extLst>
          </p:cNvPr>
          <p:cNvSpPr>
            <a:spLocks noGrp="1"/>
          </p:cNvSpPr>
          <p:nvPr>
            <p:ph type="title"/>
          </p:nvPr>
        </p:nvSpPr>
        <p:spPr/>
        <p:txBody>
          <a:bodyPr/>
          <a:lstStyle/>
          <a:p>
            <a:r>
              <a:rPr lang="en-GB" dirty="0"/>
              <a:t>Logistic Regression(session 3.8)</a:t>
            </a:r>
          </a:p>
        </p:txBody>
      </p:sp>
      <p:pic>
        <p:nvPicPr>
          <p:cNvPr id="8" name="Content Placeholder 7">
            <a:extLst>
              <a:ext uri="{FF2B5EF4-FFF2-40B4-BE49-F238E27FC236}">
                <a16:creationId xmlns:a16="http://schemas.microsoft.com/office/drawing/2014/main" id="{FD90A6BD-9240-AD0E-F165-E4BD49529EE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1206" y="1352076"/>
            <a:ext cx="10290165" cy="4641219"/>
          </a:xfrm>
        </p:spPr>
      </p:pic>
      <p:sp>
        <p:nvSpPr>
          <p:cNvPr id="4" name="Slide Number Placeholder 3">
            <a:extLst>
              <a:ext uri="{FF2B5EF4-FFF2-40B4-BE49-F238E27FC236}">
                <a16:creationId xmlns:a16="http://schemas.microsoft.com/office/drawing/2014/main" id="{2C46AD26-0FCA-F8BD-2622-2E1BDAC119D0}"/>
              </a:ext>
            </a:extLst>
          </p:cNvPr>
          <p:cNvSpPr>
            <a:spLocks noGrp="1"/>
          </p:cNvSpPr>
          <p:nvPr>
            <p:ph type="sldNum" sz="quarter" idx="12"/>
          </p:nvPr>
        </p:nvSpPr>
        <p:spPr/>
        <p:txBody>
          <a:bodyPr/>
          <a:lstStyle/>
          <a:p>
            <a:fld id="{F74D7E6C-9B20-4593-B18C-8D2C7BEEFCA2}" type="slidenum">
              <a:rPr lang="en-GB" smtClean="0"/>
              <a:t>18</a:t>
            </a:fld>
            <a:endParaRPr lang="en-GB"/>
          </a:p>
        </p:txBody>
      </p:sp>
      <p:sp>
        <p:nvSpPr>
          <p:cNvPr id="6" name="TextBox 5">
            <a:extLst>
              <a:ext uri="{FF2B5EF4-FFF2-40B4-BE49-F238E27FC236}">
                <a16:creationId xmlns:a16="http://schemas.microsoft.com/office/drawing/2014/main" id="{8FB65FC8-C65A-2A55-D7B1-A446BE61FF15}"/>
              </a:ext>
            </a:extLst>
          </p:cNvPr>
          <p:cNvSpPr txBox="1"/>
          <p:nvPr/>
        </p:nvSpPr>
        <p:spPr>
          <a:xfrm>
            <a:off x="571088" y="6211669"/>
            <a:ext cx="10630312" cy="646331"/>
          </a:xfrm>
          <a:prstGeom prst="rect">
            <a:avLst/>
          </a:prstGeom>
          <a:noFill/>
        </p:spPr>
        <p:txBody>
          <a:bodyPr wrap="square">
            <a:spAutoFit/>
          </a:bodyPr>
          <a:lstStyle/>
          <a:p>
            <a:r>
              <a:rPr lang="en-GB" dirty="0">
                <a:hlinkClick r:id="rId4"/>
              </a:rPr>
              <a:t>https://www.analyticsvidhya.com/blog/2021/08/conceptual-understanding-of-logistic-regression-for-data-science-beginners/</a:t>
            </a:r>
            <a:r>
              <a:rPr lang="en-GB" dirty="0"/>
              <a:t> </a:t>
            </a:r>
          </a:p>
        </p:txBody>
      </p:sp>
    </p:spTree>
    <p:extLst>
      <p:ext uri="{BB962C8B-B14F-4D97-AF65-F5344CB8AC3E}">
        <p14:creationId xmlns:p14="http://schemas.microsoft.com/office/powerpoint/2010/main" val="3217911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1F43-8782-5F93-8343-4D7181D8C5AE}"/>
              </a:ext>
            </a:extLst>
          </p:cNvPr>
          <p:cNvSpPr>
            <a:spLocks noGrp="1"/>
          </p:cNvSpPr>
          <p:nvPr>
            <p:ph type="title"/>
          </p:nvPr>
        </p:nvSpPr>
        <p:spPr/>
        <p:txBody>
          <a:bodyPr/>
          <a:lstStyle/>
          <a:p>
            <a:r>
              <a:rPr lang="en-GB" noProof="0">
                <a:ea typeface="+mj-lt"/>
                <a:cs typeface="+mj-lt"/>
              </a:rPr>
              <a:t>Recap, OTJ, next week</a:t>
            </a:r>
            <a:endParaRPr lang="en-GB" noProof="0"/>
          </a:p>
        </p:txBody>
      </p:sp>
      <p:sp>
        <p:nvSpPr>
          <p:cNvPr id="3" name="Text Placeholder 2">
            <a:extLst>
              <a:ext uri="{FF2B5EF4-FFF2-40B4-BE49-F238E27FC236}">
                <a16:creationId xmlns:a16="http://schemas.microsoft.com/office/drawing/2014/main" id="{1C77794C-BB7E-F4AA-975B-60FA34EC2131}"/>
              </a:ext>
            </a:extLst>
          </p:cNvPr>
          <p:cNvSpPr>
            <a:spLocks noGrp="1"/>
          </p:cNvSpPr>
          <p:nvPr>
            <p:ph type="body" idx="1"/>
          </p:nvPr>
        </p:nvSpPr>
        <p:spPr/>
        <p:txBody>
          <a:bodyPr>
            <a:normAutofit/>
          </a:bodyPr>
          <a:lstStyle/>
          <a:p>
            <a:endParaRPr lang="en-GB" noProof="0"/>
          </a:p>
        </p:txBody>
      </p:sp>
      <p:sp>
        <p:nvSpPr>
          <p:cNvPr id="4" name="Slide Number Placeholder 3">
            <a:extLst>
              <a:ext uri="{FF2B5EF4-FFF2-40B4-BE49-F238E27FC236}">
                <a16:creationId xmlns:a16="http://schemas.microsoft.com/office/drawing/2014/main" id="{12D8DC56-91ED-91F3-6436-2A9288096C0B}"/>
              </a:ext>
            </a:extLst>
          </p:cNvPr>
          <p:cNvSpPr>
            <a:spLocks noGrp="1"/>
          </p:cNvSpPr>
          <p:nvPr>
            <p:ph type="sldNum" sz="quarter" idx="12"/>
          </p:nvPr>
        </p:nvSpPr>
        <p:spPr/>
        <p:txBody>
          <a:bodyPr/>
          <a:lstStyle/>
          <a:p>
            <a:fld id="{F74D7E6C-9B20-4593-B18C-8D2C7BEEFCA2}" type="slidenum">
              <a:rPr lang="en-GB" noProof="0" smtClean="0"/>
              <a:t>19</a:t>
            </a:fld>
            <a:endParaRPr lang="en-GB" noProof="0"/>
          </a:p>
        </p:txBody>
      </p:sp>
    </p:spTree>
    <p:extLst>
      <p:ext uri="{BB962C8B-B14F-4D97-AF65-F5344CB8AC3E}">
        <p14:creationId xmlns:p14="http://schemas.microsoft.com/office/powerpoint/2010/main" val="3708047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376D-B6DC-112D-FD18-C9A0D6902837}"/>
              </a:ext>
            </a:extLst>
          </p:cNvPr>
          <p:cNvSpPr>
            <a:spLocks noGrp="1"/>
          </p:cNvSpPr>
          <p:nvPr>
            <p:ph type="title"/>
          </p:nvPr>
        </p:nvSpPr>
        <p:spPr/>
        <p:txBody>
          <a:bodyPr/>
          <a:lstStyle/>
          <a:p>
            <a:r>
              <a:rPr lang="en-GB" noProof="0"/>
              <a:t>Recap of today’s objectives</a:t>
            </a:r>
          </a:p>
        </p:txBody>
      </p:sp>
      <p:sp>
        <p:nvSpPr>
          <p:cNvPr id="4" name="Slide Number Placeholder 3">
            <a:extLst>
              <a:ext uri="{FF2B5EF4-FFF2-40B4-BE49-F238E27FC236}">
                <a16:creationId xmlns:a16="http://schemas.microsoft.com/office/drawing/2014/main" id="{BE990C02-DEAF-8BD2-CA17-F5DAFCF0EA74}"/>
              </a:ext>
            </a:extLst>
          </p:cNvPr>
          <p:cNvSpPr>
            <a:spLocks noGrp="1"/>
          </p:cNvSpPr>
          <p:nvPr>
            <p:ph type="sldNum" sz="quarter" idx="12"/>
          </p:nvPr>
        </p:nvSpPr>
        <p:spPr/>
        <p:txBody>
          <a:bodyPr/>
          <a:lstStyle/>
          <a:p>
            <a:fld id="{F74D7E6C-9B20-4593-B18C-8D2C7BEEFCA2}" type="slidenum">
              <a:rPr lang="en-GB" noProof="0" smtClean="0"/>
              <a:t>20</a:t>
            </a:fld>
            <a:endParaRPr lang="en-GB" noProof="0"/>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F45B26CE-AD2F-69C0-1424-2FA1296A17A1}"/>
                  </a:ext>
                </a:extLst>
              </p:cNvPr>
              <p:cNvGraphicFramePr>
                <a:graphicFrameLocks noChangeAspect="1"/>
              </p:cNvGraphicFramePr>
              <p:nvPr>
                <p:extLst>
                  <p:ext uri="{D42A27DB-BD31-4B8C-83A1-F6EECF244321}">
                    <p14:modId xmlns:p14="http://schemas.microsoft.com/office/powerpoint/2010/main" val="3367745945"/>
                  </p:ext>
                </p:extLst>
              </p:nvPr>
            </p:nvGraphicFramePr>
            <p:xfrm>
              <a:off x="725557" y="1451113"/>
              <a:ext cx="8886687" cy="4998761"/>
            </p:xfrm>
            <a:graphic>
              <a:graphicData uri="http://schemas.microsoft.com/office/powerpoint/2016/slidezoom">
                <pslz:sldZm>
                  <pslz:sldZmObj sldId="456" cId="4227742653">
                    <pslz:zmPr id="{57E221DB-44D4-4D0B-A0FC-689FC1A34BE2}" returnToParent="0" transitionDur="1000">
                      <p166:blipFill xmlns:p166="http://schemas.microsoft.com/office/powerpoint/2016/6/main">
                        <a:blip r:embed="rId2"/>
                        <a:stretch>
                          <a:fillRect/>
                        </a:stretch>
                      </p166:blipFill>
                      <p166:spPr xmlns:p166="http://schemas.microsoft.com/office/powerpoint/2016/6/main">
                        <a:xfrm>
                          <a:off x="0" y="0"/>
                          <a:ext cx="8886687" cy="4998761"/>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F45B26CE-AD2F-69C0-1424-2FA1296A17A1}"/>
                  </a:ext>
                </a:extLst>
              </p:cNvPr>
              <p:cNvPicPr>
                <a:picLocks noGrp="1" noRot="1" noChangeAspect="1" noMove="1" noResize="1" noEditPoints="1" noAdjustHandles="1" noChangeArrowheads="1" noChangeShapeType="1"/>
              </p:cNvPicPr>
              <p:nvPr/>
            </p:nvPicPr>
            <p:blipFill>
              <a:blip r:embed="rId4"/>
              <a:stretch>
                <a:fillRect/>
              </a:stretch>
            </p:blipFill>
            <p:spPr>
              <a:xfrm>
                <a:off x="725557" y="1451113"/>
                <a:ext cx="8886687" cy="4998761"/>
              </a:xfrm>
              <a:prstGeom prst="rect">
                <a:avLst/>
              </a:prstGeom>
              <a:ln w="3175">
                <a:solidFill>
                  <a:prstClr val="ltGray"/>
                </a:solidFill>
              </a:ln>
            </p:spPr>
          </p:pic>
        </mc:Fallback>
      </mc:AlternateContent>
    </p:spTree>
    <p:extLst>
      <p:ext uri="{BB962C8B-B14F-4D97-AF65-F5344CB8AC3E}">
        <p14:creationId xmlns:p14="http://schemas.microsoft.com/office/powerpoint/2010/main" val="2964364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BAE560-9519-03D4-2605-50C0ED4725B4}"/>
              </a:ext>
            </a:extLst>
          </p:cNvPr>
          <p:cNvSpPr>
            <a:spLocks noGrp="1"/>
          </p:cNvSpPr>
          <p:nvPr>
            <p:ph type="title"/>
          </p:nvPr>
        </p:nvSpPr>
        <p:spPr/>
        <p:txBody>
          <a:bodyPr/>
          <a:lstStyle/>
          <a:p>
            <a:r>
              <a:rPr lang="en-GB" dirty="0"/>
              <a:t>OTJ Activity 1</a:t>
            </a:r>
          </a:p>
        </p:txBody>
      </p:sp>
      <p:sp>
        <p:nvSpPr>
          <p:cNvPr id="2" name="Slide Number Placeholder 1">
            <a:extLst>
              <a:ext uri="{FF2B5EF4-FFF2-40B4-BE49-F238E27FC236}">
                <a16:creationId xmlns:a16="http://schemas.microsoft.com/office/drawing/2014/main" id="{4A486511-735F-61C8-36E5-D5146CE56702}"/>
              </a:ext>
            </a:extLst>
          </p:cNvPr>
          <p:cNvSpPr>
            <a:spLocks noGrp="1"/>
          </p:cNvSpPr>
          <p:nvPr>
            <p:ph type="sldNum" sz="quarter" idx="12"/>
          </p:nvPr>
        </p:nvSpPr>
        <p:spPr/>
        <p:txBody>
          <a:bodyPr/>
          <a:lstStyle/>
          <a:p>
            <a:fld id="{F74D7E6C-9B20-4593-B18C-8D2C7BEEFCA2}" type="slidenum">
              <a:rPr lang="en-GB" smtClean="0"/>
              <a:t>21</a:t>
            </a:fld>
            <a:endParaRPr lang="en-GB"/>
          </a:p>
        </p:txBody>
      </p:sp>
      <p:sp>
        <p:nvSpPr>
          <p:cNvPr id="11" name="Content Placeholder 5">
            <a:extLst>
              <a:ext uri="{FF2B5EF4-FFF2-40B4-BE49-F238E27FC236}">
                <a16:creationId xmlns:a16="http://schemas.microsoft.com/office/drawing/2014/main" id="{2C015F95-A982-F0CF-4F36-3909E1F2F3AB}"/>
              </a:ext>
            </a:extLst>
          </p:cNvPr>
          <p:cNvSpPr txBox="1">
            <a:spLocks/>
          </p:cNvSpPr>
          <p:nvPr/>
        </p:nvSpPr>
        <p:spPr>
          <a:xfrm>
            <a:off x="344806" y="1493042"/>
            <a:ext cx="11904344" cy="3238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sz="2400" dirty="0"/>
              <a:t>Continue with the house </a:t>
            </a:r>
            <a:r>
              <a:rPr lang="en-GB" sz="2400"/>
              <a:t>sales project.</a:t>
            </a:r>
            <a:endParaRPr lang="en-GB" sz="2400" dirty="0"/>
          </a:p>
          <a:p>
            <a:pPr marL="457200" indent="-457200">
              <a:buAutoNum type="arabicPeriod"/>
            </a:pPr>
            <a:endParaRPr lang="en-GB" sz="2400" dirty="0"/>
          </a:p>
          <a:p>
            <a:pPr marL="457200" indent="-457200">
              <a:buAutoNum type="arabicPeriod"/>
            </a:pPr>
            <a:r>
              <a:rPr lang="en-GB" sz="2400" dirty="0"/>
              <a:t>Find some time series data at work that you will be able to play around with</a:t>
            </a:r>
          </a:p>
        </p:txBody>
      </p:sp>
    </p:spTree>
    <p:extLst>
      <p:ext uri="{BB962C8B-B14F-4D97-AF65-F5344CB8AC3E}">
        <p14:creationId xmlns:p14="http://schemas.microsoft.com/office/powerpoint/2010/main" val="721836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CB67E-236A-C71A-57B2-E65549A66902}"/>
              </a:ext>
            </a:extLst>
          </p:cNvPr>
          <p:cNvSpPr>
            <a:spLocks noGrp="1"/>
          </p:cNvSpPr>
          <p:nvPr>
            <p:ph type="title"/>
          </p:nvPr>
        </p:nvSpPr>
        <p:spPr/>
        <p:txBody>
          <a:bodyPr/>
          <a:lstStyle/>
          <a:p>
            <a:r>
              <a:rPr lang="en-GB" dirty="0"/>
              <a:t>OTJ Activity(optional)</a:t>
            </a:r>
          </a:p>
        </p:txBody>
      </p:sp>
      <p:sp>
        <p:nvSpPr>
          <p:cNvPr id="4" name="Slide Number Placeholder 3">
            <a:extLst>
              <a:ext uri="{FF2B5EF4-FFF2-40B4-BE49-F238E27FC236}">
                <a16:creationId xmlns:a16="http://schemas.microsoft.com/office/drawing/2014/main" id="{FF5020A3-FB0E-A016-A0E0-3DB4143770E1}"/>
              </a:ext>
            </a:extLst>
          </p:cNvPr>
          <p:cNvSpPr>
            <a:spLocks noGrp="1"/>
          </p:cNvSpPr>
          <p:nvPr>
            <p:ph type="sldNum" sz="quarter" idx="12"/>
          </p:nvPr>
        </p:nvSpPr>
        <p:spPr/>
        <p:txBody>
          <a:bodyPr/>
          <a:lstStyle/>
          <a:p>
            <a:fld id="{F74D7E6C-9B20-4593-B18C-8D2C7BEEFCA2}" type="slidenum">
              <a:rPr lang="en-GB" smtClean="0"/>
              <a:t>22</a:t>
            </a:fld>
            <a:endParaRPr lang="en-GB"/>
          </a:p>
        </p:txBody>
      </p:sp>
      <p:pic>
        <p:nvPicPr>
          <p:cNvPr id="5" name="Content Placeholder 7" descr="A diagram of a software engineering technique&#10;&#10;AI-generated content may be incorrect.">
            <a:extLst>
              <a:ext uri="{FF2B5EF4-FFF2-40B4-BE49-F238E27FC236}">
                <a16:creationId xmlns:a16="http://schemas.microsoft.com/office/drawing/2014/main" id="{735832F1-4084-7B70-38CC-A663C3159A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85495" y="1590261"/>
            <a:ext cx="4614695" cy="4870450"/>
          </a:xfrm>
        </p:spPr>
      </p:pic>
      <p:sp>
        <p:nvSpPr>
          <p:cNvPr id="6" name="Rectangle 5">
            <a:extLst>
              <a:ext uri="{FF2B5EF4-FFF2-40B4-BE49-F238E27FC236}">
                <a16:creationId xmlns:a16="http://schemas.microsoft.com/office/drawing/2014/main" id="{5200F1D1-191B-F5D1-7B1D-46331FEFE8E0}"/>
              </a:ext>
            </a:extLst>
          </p:cNvPr>
          <p:cNvSpPr/>
          <p:nvPr/>
        </p:nvSpPr>
        <p:spPr>
          <a:xfrm>
            <a:off x="7181022" y="2037522"/>
            <a:ext cx="1560443" cy="109827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noFill/>
            </a:endParaRPr>
          </a:p>
        </p:txBody>
      </p:sp>
      <p:sp>
        <p:nvSpPr>
          <p:cNvPr id="7" name="Rectangle 6">
            <a:extLst>
              <a:ext uri="{FF2B5EF4-FFF2-40B4-BE49-F238E27FC236}">
                <a16:creationId xmlns:a16="http://schemas.microsoft.com/office/drawing/2014/main" id="{E1C4FE64-6D39-1287-6B02-3891768DE8EA}"/>
              </a:ext>
            </a:extLst>
          </p:cNvPr>
          <p:cNvSpPr/>
          <p:nvPr/>
        </p:nvSpPr>
        <p:spPr>
          <a:xfrm>
            <a:off x="9140689" y="2037522"/>
            <a:ext cx="1747628" cy="109827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noFill/>
            </a:endParaRPr>
          </a:p>
        </p:txBody>
      </p:sp>
      <p:sp>
        <p:nvSpPr>
          <p:cNvPr id="8" name="Rectangle 7">
            <a:extLst>
              <a:ext uri="{FF2B5EF4-FFF2-40B4-BE49-F238E27FC236}">
                <a16:creationId xmlns:a16="http://schemas.microsoft.com/office/drawing/2014/main" id="{7C5A05DF-EBE0-8333-160D-F29BD0DF8165}"/>
              </a:ext>
            </a:extLst>
          </p:cNvPr>
          <p:cNvSpPr/>
          <p:nvPr/>
        </p:nvSpPr>
        <p:spPr>
          <a:xfrm>
            <a:off x="6932545" y="5211417"/>
            <a:ext cx="1747628" cy="109827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noFill/>
            </a:endParaRPr>
          </a:p>
        </p:txBody>
      </p:sp>
      <p:sp>
        <p:nvSpPr>
          <p:cNvPr id="9" name="Rectangle 8">
            <a:extLst>
              <a:ext uri="{FF2B5EF4-FFF2-40B4-BE49-F238E27FC236}">
                <a16:creationId xmlns:a16="http://schemas.microsoft.com/office/drawing/2014/main" id="{C9C1DE7B-84EE-75A8-76C4-32D6E79C7925}"/>
              </a:ext>
            </a:extLst>
          </p:cNvPr>
          <p:cNvSpPr/>
          <p:nvPr/>
        </p:nvSpPr>
        <p:spPr>
          <a:xfrm>
            <a:off x="6685494" y="4194312"/>
            <a:ext cx="1632351" cy="101710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noFill/>
            </a:endParaRPr>
          </a:p>
        </p:txBody>
      </p:sp>
      <p:sp>
        <p:nvSpPr>
          <p:cNvPr id="10" name="TextBox 9">
            <a:extLst>
              <a:ext uri="{FF2B5EF4-FFF2-40B4-BE49-F238E27FC236}">
                <a16:creationId xmlns:a16="http://schemas.microsoft.com/office/drawing/2014/main" id="{245B650A-533D-D301-3AA3-6F4EB3FBBA98}"/>
              </a:ext>
            </a:extLst>
          </p:cNvPr>
          <p:cNvSpPr txBox="1"/>
          <p:nvPr/>
        </p:nvSpPr>
        <p:spPr>
          <a:xfrm>
            <a:off x="367749" y="1485900"/>
            <a:ext cx="5516216" cy="1477328"/>
          </a:xfrm>
          <a:prstGeom prst="rect">
            <a:avLst/>
          </a:prstGeom>
          <a:noFill/>
        </p:spPr>
        <p:txBody>
          <a:bodyPr wrap="square" rtlCol="0">
            <a:spAutoFit/>
          </a:bodyPr>
          <a:lstStyle/>
          <a:p>
            <a:r>
              <a:rPr lang="en-GB" dirty="0">
                <a:solidFill>
                  <a:schemeClr val="bg1">
                    <a:lumMod val="95000"/>
                  </a:schemeClr>
                </a:solidFill>
              </a:rPr>
              <a:t>Research the following feature engineering techniques:</a:t>
            </a:r>
          </a:p>
          <a:p>
            <a:pPr marL="285750" indent="-285750">
              <a:buFontTx/>
              <a:buChar char="-"/>
            </a:pPr>
            <a:r>
              <a:rPr lang="en-GB" dirty="0">
                <a:solidFill>
                  <a:schemeClr val="bg1">
                    <a:lumMod val="95000"/>
                  </a:schemeClr>
                </a:solidFill>
              </a:rPr>
              <a:t>Handling Outliers</a:t>
            </a:r>
          </a:p>
          <a:p>
            <a:pPr marL="285750" indent="-285750">
              <a:buFontTx/>
              <a:buChar char="-"/>
            </a:pPr>
            <a:r>
              <a:rPr lang="en-GB" dirty="0">
                <a:solidFill>
                  <a:schemeClr val="bg1">
                    <a:lumMod val="95000"/>
                  </a:schemeClr>
                </a:solidFill>
              </a:rPr>
              <a:t>Feature Creation</a:t>
            </a:r>
          </a:p>
          <a:p>
            <a:pPr marL="285750" indent="-285750">
              <a:buFontTx/>
              <a:buChar char="-"/>
            </a:pPr>
            <a:r>
              <a:rPr lang="en-GB" dirty="0">
                <a:solidFill>
                  <a:schemeClr val="bg1">
                    <a:lumMod val="95000"/>
                  </a:schemeClr>
                </a:solidFill>
              </a:rPr>
              <a:t>Handling Missing Values</a:t>
            </a:r>
          </a:p>
          <a:p>
            <a:pPr marL="285750" indent="-285750">
              <a:buFontTx/>
              <a:buChar char="-"/>
            </a:pPr>
            <a:r>
              <a:rPr lang="en-GB" dirty="0">
                <a:solidFill>
                  <a:schemeClr val="bg1">
                    <a:lumMod val="95000"/>
                  </a:schemeClr>
                </a:solidFill>
              </a:rPr>
              <a:t>Feature Interaction</a:t>
            </a:r>
          </a:p>
        </p:txBody>
      </p:sp>
    </p:spTree>
    <p:extLst>
      <p:ext uri="{BB962C8B-B14F-4D97-AF65-F5344CB8AC3E}">
        <p14:creationId xmlns:p14="http://schemas.microsoft.com/office/powerpoint/2010/main" val="733027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D2856-29FA-4324-9598-5BF42BB6FFE8}"/>
              </a:ext>
            </a:extLst>
          </p:cNvPr>
          <p:cNvSpPr>
            <a:spLocks noGrp="1"/>
          </p:cNvSpPr>
          <p:nvPr>
            <p:ph type="title"/>
          </p:nvPr>
        </p:nvSpPr>
        <p:spPr/>
        <p:txBody>
          <a:bodyPr/>
          <a:lstStyle/>
          <a:p>
            <a:r>
              <a:rPr lang="en-GB" dirty="0"/>
              <a:t>Why are outliers important?</a:t>
            </a:r>
            <a:endParaRPr lang="en-GB" dirty="0">
              <a:effectLst/>
            </a:endParaRPr>
          </a:p>
        </p:txBody>
      </p:sp>
      <p:sp>
        <p:nvSpPr>
          <p:cNvPr id="3" name="Content Placeholder 2">
            <a:extLst>
              <a:ext uri="{FF2B5EF4-FFF2-40B4-BE49-F238E27FC236}">
                <a16:creationId xmlns:a16="http://schemas.microsoft.com/office/drawing/2014/main" id="{18AB1195-A6DE-AA7B-7470-29F805012652}"/>
              </a:ext>
            </a:extLst>
          </p:cNvPr>
          <p:cNvSpPr>
            <a:spLocks noGrp="1"/>
          </p:cNvSpPr>
          <p:nvPr>
            <p:ph idx="1"/>
          </p:nvPr>
        </p:nvSpPr>
        <p:spPr>
          <a:xfrm>
            <a:off x="4033556" y="1485900"/>
            <a:ext cx="7853644" cy="2539448"/>
          </a:xfrm>
        </p:spPr>
        <p:txBody>
          <a:bodyPr/>
          <a:lstStyle/>
          <a:p>
            <a:pPr marL="0" indent="0">
              <a:buNone/>
            </a:pPr>
            <a:r>
              <a:rPr lang="en-GB" dirty="0"/>
              <a:t>“The book focuses on the extreme impact of rare and unpredictable </a:t>
            </a:r>
            <a:r>
              <a:rPr lang="en-GB" dirty="0">
                <a:hlinkClick r:id="rId2" tooltip="Outlier"/>
              </a:rPr>
              <a:t>outlier</a:t>
            </a:r>
            <a:r>
              <a:rPr lang="en-GB" dirty="0"/>
              <a:t> events—and the human tendency to find simplistic explanations for these events, retrospectively.”</a:t>
            </a:r>
          </a:p>
          <a:p>
            <a:pPr marL="0" indent="0">
              <a:buNone/>
            </a:pPr>
            <a:r>
              <a:rPr lang="en-GB" sz="1200" dirty="0">
                <a:hlinkClick r:id="rId3"/>
              </a:rPr>
              <a:t>https://en.wikipedia.org/wiki/The_Black_Swan:_The_Impact_of_the_Highly_Improbable</a:t>
            </a:r>
            <a:r>
              <a:rPr lang="en-GB" sz="1200" dirty="0"/>
              <a:t> </a:t>
            </a:r>
          </a:p>
        </p:txBody>
      </p:sp>
      <p:sp>
        <p:nvSpPr>
          <p:cNvPr id="4" name="Slide Number Placeholder 3">
            <a:extLst>
              <a:ext uri="{FF2B5EF4-FFF2-40B4-BE49-F238E27FC236}">
                <a16:creationId xmlns:a16="http://schemas.microsoft.com/office/drawing/2014/main" id="{5312DC1A-2286-D8DE-1924-AE0B99AFBF4C}"/>
              </a:ext>
            </a:extLst>
          </p:cNvPr>
          <p:cNvSpPr>
            <a:spLocks noGrp="1"/>
          </p:cNvSpPr>
          <p:nvPr>
            <p:ph type="sldNum" sz="quarter" idx="12"/>
          </p:nvPr>
        </p:nvSpPr>
        <p:spPr/>
        <p:txBody>
          <a:bodyPr/>
          <a:lstStyle/>
          <a:p>
            <a:fld id="{F74D7E6C-9B20-4593-B18C-8D2C7BEEFCA2}" type="slidenum">
              <a:rPr lang="en-GB" smtClean="0"/>
              <a:t>23</a:t>
            </a:fld>
            <a:endParaRPr lang="en-GB"/>
          </a:p>
        </p:txBody>
      </p:sp>
      <p:pic>
        <p:nvPicPr>
          <p:cNvPr id="6" name="Picture 5">
            <a:extLst>
              <a:ext uri="{FF2B5EF4-FFF2-40B4-BE49-F238E27FC236}">
                <a16:creationId xmlns:a16="http://schemas.microsoft.com/office/drawing/2014/main" id="{67F86DB1-8A95-FFDE-1C15-F89F81FD41BA}"/>
              </a:ext>
            </a:extLst>
          </p:cNvPr>
          <p:cNvPicPr>
            <a:picLocks noChangeAspect="1"/>
          </p:cNvPicPr>
          <p:nvPr/>
        </p:nvPicPr>
        <p:blipFill>
          <a:blip r:embed="rId4"/>
          <a:stretch>
            <a:fillRect/>
          </a:stretch>
        </p:blipFill>
        <p:spPr>
          <a:xfrm>
            <a:off x="506591" y="1469575"/>
            <a:ext cx="3344224" cy="5091457"/>
          </a:xfrm>
          <a:prstGeom prst="rect">
            <a:avLst/>
          </a:prstGeom>
        </p:spPr>
      </p:pic>
      <p:sp>
        <p:nvSpPr>
          <p:cNvPr id="8" name="TextBox 7">
            <a:extLst>
              <a:ext uri="{FF2B5EF4-FFF2-40B4-BE49-F238E27FC236}">
                <a16:creationId xmlns:a16="http://schemas.microsoft.com/office/drawing/2014/main" id="{25F33C89-CB9D-C9CF-843A-E16D9F286A3D}"/>
              </a:ext>
            </a:extLst>
          </p:cNvPr>
          <p:cNvSpPr txBox="1"/>
          <p:nvPr/>
        </p:nvSpPr>
        <p:spPr>
          <a:xfrm>
            <a:off x="4033556" y="4373217"/>
            <a:ext cx="7558709" cy="369332"/>
          </a:xfrm>
          <a:prstGeom prst="rect">
            <a:avLst/>
          </a:prstGeom>
          <a:noFill/>
        </p:spPr>
        <p:txBody>
          <a:bodyPr wrap="square" rtlCol="0">
            <a:spAutoFit/>
          </a:bodyPr>
          <a:lstStyle/>
          <a:p>
            <a:r>
              <a:rPr lang="en-GB" dirty="0">
                <a:solidFill>
                  <a:schemeClr val="bg1">
                    <a:lumMod val="95000"/>
                  </a:schemeClr>
                </a:solidFill>
              </a:rPr>
              <a:t>If you read this book, you can log the time spent on it as OTJ time.</a:t>
            </a:r>
          </a:p>
        </p:txBody>
      </p:sp>
    </p:spTree>
    <p:extLst>
      <p:ext uri="{BB962C8B-B14F-4D97-AF65-F5344CB8AC3E}">
        <p14:creationId xmlns:p14="http://schemas.microsoft.com/office/powerpoint/2010/main" val="2331795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9BD2-DA4C-EDDA-DEAA-9732017A6586}"/>
              </a:ext>
            </a:extLst>
          </p:cNvPr>
          <p:cNvSpPr>
            <a:spLocks noGrp="1"/>
          </p:cNvSpPr>
          <p:nvPr>
            <p:ph type="title"/>
          </p:nvPr>
        </p:nvSpPr>
        <p:spPr/>
        <p:txBody>
          <a:bodyPr/>
          <a:lstStyle/>
          <a:p>
            <a:r>
              <a:rPr lang="en-GB" dirty="0"/>
              <a:t>Next week…</a:t>
            </a:r>
          </a:p>
        </p:txBody>
      </p:sp>
      <p:sp>
        <p:nvSpPr>
          <p:cNvPr id="3" name="Text Placeholder 2">
            <a:extLst>
              <a:ext uri="{FF2B5EF4-FFF2-40B4-BE49-F238E27FC236}">
                <a16:creationId xmlns:a16="http://schemas.microsoft.com/office/drawing/2014/main" id="{430CBFE9-1464-F5C3-DCA1-96BE1F0F8BC0}"/>
              </a:ext>
            </a:extLst>
          </p:cNvPr>
          <p:cNvSpPr>
            <a:spLocks noGrp="1"/>
          </p:cNvSpPr>
          <p:nvPr>
            <p:ph type="body" idx="1"/>
          </p:nvPr>
        </p:nvSpPr>
        <p:spPr/>
        <p:txBody>
          <a:bodyPr>
            <a:noAutofit/>
          </a:bodyPr>
          <a:lstStyle/>
          <a:p>
            <a:r>
              <a:rPr lang="en-GB" sz="2800"/>
              <a:t>How to </a:t>
            </a:r>
            <a:r>
              <a:rPr lang="en-GB" sz="2800" dirty="0"/>
              <a:t>process time series data</a:t>
            </a:r>
          </a:p>
        </p:txBody>
      </p:sp>
      <p:sp>
        <p:nvSpPr>
          <p:cNvPr id="4" name="Slide Number Placeholder 3">
            <a:extLst>
              <a:ext uri="{FF2B5EF4-FFF2-40B4-BE49-F238E27FC236}">
                <a16:creationId xmlns:a16="http://schemas.microsoft.com/office/drawing/2014/main" id="{7CF97331-3A5B-E900-A15B-11ECBC22DD87}"/>
              </a:ext>
            </a:extLst>
          </p:cNvPr>
          <p:cNvSpPr>
            <a:spLocks noGrp="1"/>
          </p:cNvSpPr>
          <p:nvPr>
            <p:ph type="sldNum" sz="quarter" idx="12"/>
          </p:nvPr>
        </p:nvSpPr>
        <p:spPr/>
        <p:txBody>
          <a:bodyPr/>
          <a:lstStyle/>
          <a:p>
            <a:fld id="{F74D7E6C-9B20-4593-B18C-8D2C7BEEFCA2}" type="slidenum">
              <a:rPr lang="en-GB" smtClean="0"/>
              <a:t>24</a:t>
            </a:fld>
            <a:endParaRPr lang="en-GB"/>
          </a:p>
        </p:txBody>
      </p:sp>
    </p:spTree>
    <p:extLst>
      <p:ext uri="{BB962C8B-B14F-4D97-AF65-F5344CB8AC3E}">
        <p14:creationId xmlns:p14="http://schemas.microsoft.com/office/powerpoint/2010/main" val="1635046976"/>
      </p:ext>
    </p:extLst>
  </p:cSld>
  <p:clrMapOvr>
    <a:masterClrMapping/>
  </p:clrMapOvr>
</p:sld>
</file>

<file path=ppt/theme/theme1.xml><?xml version="1.0" encoding="utf-8"?>
<a:theme xmlns:a="http://schemas.openxmlformats.org/drawingml/2006/main" name="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ppt/theme/theme2.xml><?xml version="1.0" encoding="utf-8"?>
<a:theme xmlns:a="http://schemas.openxmlformats.org/drawingml/2006/main" name="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7CDBDE7CAED942A2F703AEE831EDC5" ma:contentTypeVersion="7" ma:contentTypeDescription="Create a new document." ma:contentTypeScope="" ma:versionID="0e12d04cba7bb251e69f82b9ebdf8274">
  <xsd:schema xmlns:xsd="http://www.w3.org/2001/XMLSchema" xmlns:xs="http://www.w3.org/2001/XMLSchema" xmlns:p="http://schemas.microsoft.com/office/2006/metadata/properties" xmlns:ns2="1c3b38b4-e909-4311-a6ff-2b7e57d505da" targetNamespace="http://schemas.microsoft.com/office/2006/metadata/properties" ma:root="true" ma:fieldsID="2e189daeb25f9a78fa63fdb64c917f04" ns2:_="">
    <xsd:import namespace="1c3b38b4-e909-4311-a6ff-2b7e57d505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b38b4-e909-4311-a6ff-2b7e57d505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F326AB-6216-4CA3-88FD-B7B6A4FCA6DE}">
  <ds:schemaRefs>
    <ds:schemaRef ds:uri="http://schemas.microsoft.com/office/2006/documentManagement/types"/>
    <ds:schemaRef ds:uri="9350d5f9-8fc6-4558-b239-55d3978af598"/>
    <ds:schemaRef ds:uri="http://purl.org/dc/dcmitype/"/>
    <ds:schemaRef ds:uri="http://purl.org/dc/elements/1.1/"/>
    <ds:schemaRef ds:uri="http://purl.org/dc/terms/"/>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4AECF29-0F03-49C2-99D2-111CBE3FB1ED}">
  <ds:schemaRefs>
    <ds:schemaRef ds:uri="http://schemas.microsoft.com/sharepoint/v3/contenttype/forms"/>
  </ds:schemaRefs>
</ds:datastoreItem>
</file>

<file path=customXml/itemProps3.xml><?xml version="1.0" encoding="utf-8"?>
<ds:datastoreItem xmlns:ds="http://schemas.openxmlformats.org/officeDocument/2006/customXml" ds:itemID="{01A79FF5-22ED-49E9-BF2D-CF01EC7285E2}"/>
</file>

<file path=docMetadata/LabelInfo.xml><?xml version="1.0" encoding="utf-8"?>
<clbl:labelList xmlns:clbl="http://schemas.microsoft.com/office/2020/mipLabelMetadata">
  <clbl:label id="{2e1397f6-cc90-4634-bb67-5e1f901cf3de}" enabled="0" method="" siteId="{2e1397f6-cc90-4634-bb67-5e1f901cf3de}" removed="1"/>
</clbl:labelList>
</file>

<file path=docProps/app.xml><?xml version="1.0" encoding="utf-8"?>
<Properties xmlns="http://schemas.openxmlformats.org/officeDocument/2006/extended-properties" xmlns:vt="http://schemas.openxmlformats.org/officeDocument/2006/docPropsVTypes">
  <Template>LT01-Orange_on_White</Template>
  <TotalTime>223</TotalTime>
  <Words>1859</Words>
  <Application>Microsoft Office PowerPoint</Application>
  <PresentationFormat>Widescreen</PresentationFormat>
  <Paragraphs>184</Paragraphs>
  <Slides>24</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Aptos</vt:lpstr>
      <vt:lpstr>Arial</vt:lpstr>
      <vt:lpstr>Calibri</vt:lpstr>
      <vt:lpstr>Calibri Light</vt:lpstr>
      <vt:lpstr>Helvetica Neue</vt:lpstr>
      <vt:lpstr>Inter</vt:lpstr>
      <vt:lpstr>system-ui</vt:lpstr>
      <vt:lpstr>LT01-Orange_on_White</vt:lpstr>
      <vt:lpstr>LT01-Orange_on_White</vt:lpstr>
      <vt:lpstr>3.03</vt:lpstr>
      <vt:lpstr>KSBs</vt:lpstr>
      <vt:lpstr>P16</vt:lpstr>
      <vt:lpstr>P9</vt:lpstr>
      <vt:lpstr>D6</vt:lpstr>
      <vt:lpstr>Today’s Objectives</vt:lpstr>
      <vt:lpstr>Recap</vt:lpstr>
      <vt:lpstr>LR Assumptions(Recap)</vt:lpstr>
      <vt:lpstr>Feature Engineering</vt:lpstr>
      <vt:lpstr>Feature engineering techniques</vt:lpstr>
      <vt:lpstr>Feature encoding – One-Hot Encoding(Dummy columns)</vt:lpstr>
      <vt:lpstr>Feature scaling</vt:lpstr>
      <vt:lpstr>Target transformation</vt:lpstr>
      <vt:lpstr>Box-Cox function</vt:lpstr>
      <vt:lpstr>Non-Linear Regression models</vt:lpstr>
      <vt:lpstr>Other Regressions</vt:lpstr>
      <vt:lpstr>Polynomial Regression</vt:lpstr>
      <vt:lpstr>Logistic Regression(session 3.8)</vt:lpstr>
      <vt:lpstr>Recap, OTJ, next week</vt:lpstr>
      <vt:lpstr>Recap of today’s objectives</vt:lpstr>
      <vt:lpstr>OTJ Activity 1</vt:lpstr>
      <vt:lpstr>OTJ Activity(optional)</vt:lpstr>
      <vt:lpstr>Why are outliers important?</vt:lpstr>
      <vt:lpstr>Next week…</vt:lpstr>
    </vt:vector>
  </TitlesOfParts>
  <Company>The ATP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Yates</dc:creator>
  <cp:lastModifiedBy>Georgina Thomas</cp:lastModifiedBy>
  <cp:revision>10</cp:revision>
  <dcterms:created xsi:type="dcterms:W3CDTF">2023-01-10T20:06:08Z</dcterms:created>
  <dcterms:modified xsi:type="dcterms:W3CDTF">2026-03-31T14:30:44Z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18500</vt:r8>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ContentTypeId">
    <vt:lpwstr>0x010100707CDBDE7CAED942A2F703AEE831EDC5</vt:lpwstr>
  </property>
  <property fmtid="{D5CDD505-2E9C-101B-9397-08002B2CF9AE}" pid="11" name="_SourceUrl">
    <vt:lpwstr/>
  </property>
  <property fmtid="{D5CDD505-2E9C-101B-9397-08002B2CF9AE}" pid="12" name="_SharedFileIndex">
    <vt:lpwstr/>
  </property>
</Properties>
</file>