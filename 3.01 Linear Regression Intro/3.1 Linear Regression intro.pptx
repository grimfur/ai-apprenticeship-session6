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4"/>
  </p:sldMasterIdLst>
  <p:notesMasterIdLst>
    <p:notesMasterId r:id="rId52"/>
  </p:notesMasterIdLst>
  <p:sldIdLst>
    <p:sldId id="407" r:id="rId5"/>
    <p:sldId id="355" r:id="rId6"/>
    <p:sldId id="390" r:id="rId7"/>
    <p:sldId id="391" r:id="rId8"/>
    <p:sldId id="394" r:id="rId9"/>
    <p:sldId id="408" r:id="rId10"/>
    <p:sldId id="409" r:id="rId11"/>
    <p:sldId id="410" r:id="rId12"/>
    <p:sldId id="411" r:id="rId13"/>
    <p:sldId id="412" r:id="rId14"/>
    <p:sldId id="256" r:id="rId15"/>
    <p:sldId id="423" r:id="rId16"/>
    <p:sldId id="424" r:id="rId17"/>
    <p:sldId id="425" r:id="rId18"/>
    <p:sldId id="426" r:id="rId19"/>
    <p:sldId id="257" r:id="rId20"/>
    <p:sldId id="396" r:id="rId21"/>
    <p:sldId id="397" r:id="rId22"/>
    <p:sldId id="349" r:id="rId23"/>
    <p:sldId id="358" r:id="rId24"/>
    <p:sldId id="398" r:id="rId25"/>
    <p:sldId id="417" r:id="rId26"/>
    <p:sldId id="418" r:id="rId27"/>
    <p:sldId id="419" r:id="rId28"/>
    <p:sldId id="420" r:id="rId29"/>
    <p:sldId id="421" r:id="rId30"/>
    <p:sldId id="399" r:id="rId31"/>
    <p:sldId id="400" r:id="rId32"/>
    <p:sldId id="401" r:id="rId33"/>
    <p:sldId id="362" r:id="rId34"/>
    <p:sldId id="361" r:id="rId35"/>
    <p:sldId id="402" r:id="rId36"/>
    <p:sldId id="403" r:id="rId37"/>
    <p:sldId id="384" r:id="rId38"/>
    <p:sldId id="427" r:id="rId39"/>
    <p:sldId id="422" r:id="rId40"/>
    <p:sldId id="404" r:id="rId41"/>
    <p:sldId id="405" r:id="rId42"/>
    <p:sldId id="406" r:id="rId43"/>
    <p:sldId id="413" r:id="rId44"/>
    <p:sldId id="416" r:id="rId45"/>
    <p:sldId id="414" r:id="rId46"/>
    <p:sldId id="415" r:id="rId47"/>
    <p:sldId id="273" r:id="rId48"/>
    <p:sldId id="275" r:id="rId49"/>
    <p:sldId id="274" r:id="rId50"/>
    <p:sldId id="283"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cap" id="{C9B90ED1-112F-479C-ACD7-910629EA4B30}">
          <p14:sldIdLst>
            <p14:sldId id="407"/>
            <p14:sldId id="355"/>
            <p14:sldId id="390"/>
            <p14:sldId id="391"/>
            <p14:sldId id="394"/>
            <p14:sldId id="408"/>
            <p14:sldId id="409"/>
            <p14:sldId id="410"/>
            <p14:sldId id="411"/>
            <p14:sldId id="412"/>
            <p14:sldId id="256"/>
            <p14:sldId id="423"/>
            <p14:sldId id="424"/>
            <p14:sldId id="425"/>
            <p14:sldId id="426"/>
            <p14:sldId id="257"/>
            <p14:sldId id="396"/>
            <p14:sldId id="397"/>
            <p14:sldId id="349"/>
            <p14:sldId id="358"/>
            <p14:sldId id="398"/>
            <p14:sldId id="417"/>
            <p14:sldId id="418"/>
            <p14:sldId id="419"/>
            <p14:sldId id="420"/>
            <p14:sldId id="421"/>
            <p14:sldId id="399"/>
            <p14:sldId id="400"/>
            <p14:sldId id="401"/>
            <p14:sldId id="362"/>
            <p14:sldId id="361"/>
            <p14:sldId id="402"/>
            <p14:sldId id="403"/>
            <p14:sldId id="384"/>
            <p14:sldId id="427"/>
            <p14:sldId id="422"/>
            <p14:sldId id="404"/>
            <p14:sldId id="405"/>
            <p14:sldId id="406"/>
            <p14:sldId id="413"/>
            <p14:sldId id="416"/>
            <p14:sldId id="414"/>
            <p14:sldId id="415"/>
            <p14:sldId id="273"/>
            <p14:sldId id="275"/>
            <p14:sldId id="274"/>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CA8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70" autoAdjust="0"/>
    <p:restoredTop sz="76392" autoAdjust="0"/>
  </p:normalViewPr>
  <p:slideViewPr>
    <p:cSldViewPr snapToGrid="0">
      <p:cViewPr varScale="1">
        <p:scale>
          <a:sx n="84" d="100"/>
          <a:sy n="84" d="100"/>
        </p:scale>
        <p:origin x="1434" y="96"/>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gridSpacing cx="360000" cy="3600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1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ina Thomas" userId="d204b9c7-e8b5-4a67-887f-b8d0b5ea9480" providerId="ADAL" clId="{1D9F5611-84BA-4C42-94F5-CA489C817A3A}"/>
    <pc:docChg chg="custSel modSld">
      <pc:chgData name="Georgina Thomas" userId="d204b9c7-e8b5-4a67-887f-b8d0b5ea9480" providerId="ADAL" clId="{1D9F5611-84BA-4C42-94F5-CA489C817A3A}" dt="2026-01-15T12:23:18.074" v="23" actId="368"/>
      <pc:docMkLst>
        <pc:docMk/>
      </pc:docMkLst>
      <pc:sldChg chg="modNotes">
        <pc:chgData name="Georgina Thomas" userId="d204b9c7-e8b5-4a67-887f-b8d0b5ea9480" providerId="ADAL" clId="{1D9F5611-84BA-4C42-94F5-CA489C817A3A}" dt="2026-01-15T12:23:17.996" v="1" actId="368"/>
        <pc:sldMkLst>
          <pc:docMk/>
          <pc:sldMk cId="2273356972" sldId="355"/>
        </pc:sldMkLst>
      </pc:sldChg>
      <pc:sldChg chg="modNotes">
        <pc:chgData name="Georgina Thomas" userId="d204b9c7-e8b5-4a67-887f-b8d0b5ea9480" providerId="ADAL" clId="{1D9F5611-84BA-4C42-94F5-CA489C817A3A}" dt="2026-01-15T12:23:18.051" v="17" actId="368"/>
        <pc:sldMkLst>
          <pc:docMk/>
          <pc:sldMk cId="513753933" sldId="358"/>
        </pc:sldMkLst>
      </pc:sldChg>
      <pc:sldChg chg="modNotes">
        <pc:chgData name="Georgina Thomas" userId="d204b9c7-e8b5-4a67-887f-b8d0b5ea9480" providerId="ADAL" clId="{1D9F5611-84BA-4C42-94F5-CA489C817A3A}" dt="2026-01-15T12:23:18.068" v="21" actId="368"/>
        <pc:sldMkLst>
          <pc:docMk/>
          <pc:sldMk cId="65544244" sldId="384"/>
        </pc:sldMkLst>
      </pc:sldChg>
      <pc:sldChg chg="modNotes">
        <pc:chgData name="Georgina Thomas" userId="d204b9c7-e8b5-4a67-887f-b8d0b5ea9480" providerId="ADAL" clId="{1D9F5611-84BA-4C42-94F5-CA489C817A3A}" dt="2026-01-15T12:23:18.006" v="3" actId="368"/>
        <pc:sldMkLst>
          <pc:docMk/>
          <pc:sldMk cId="3373486538" sldId="390"/>
        </pc:sldMkLst>
      </pc:sldChg>
      <pc:sldChg chg="modNotes">
        <pc:chgData name="Georgina Thomas" userId="d204b9c7-e8b5-4a67-887f-b8d0b5ea9480" providerId="ADAL" clId="{1D9F5611-84BA-4C42-94F5-CA489C817A3A}" dt="2026-01-15T12:23:18.013" v="5" actId="368"/>
        <pc:sldMkLst>
          <pc:docMk/>
          <pc:sldMk cId="3048354446" sldId="391"/>
        </pc:sldMkLst>
      </pc:sldChg>
      <pc:sldChg chg="modNotes">
        <pc:chgData name="Georgina Thomas" userId="d204b9c7-e8b5-4a67-887f-b8d0b5ea9480" providerId="ADAL" clId="{1D9F5611-84BA-4C42-94F5-CA489C817A3A}" dt="2026-01-15T12:23:18.044" v="15" actId="368"/>
        <pc:sldMkLst>
          <pc:docMk/>
          <pc:sldMk cId="1587432414" sldId="397"/>
        </pc:sldMkLst>
      </pc:sldChg>
      <pc:sldChg chg="modNotes">
        <pc:chgData name="Georgina Thomas" userId="d204b9c7-e8b5-4a67-887f-b8d0b5ea9480" providerId="ADAL" clId="{1D9F5611-84BA-4C42-94F5-CA489C817A3A}" dt="2026-01-15T12:23:18.057" v="19" actId="368"/>
        <pc:sldMkLst>
          <pc:docMk/>
          <pc:sldMk cId="704515674" sldId="398"/>
        </pc:sldMkLst>
      </pc:sldChg>
      <pc:sldChg chg="modNotes">
        <pc:chgData name="Georgina Thomas" userId="d204b9c7-e8b5-4a67-887f-b8d0b5ea9480" providerId="ADAL" clId="{1D9F5611-84BA-4C42-94F5-CA489C817A3A}" dt="2026-01-15T12:23:18.018" v="7" actId="368"/>
        <pc:sldMkLst>
          <pc:docMk/>
          <pc:sldMk cId="2900273041" sldId="408"/>
        </pc:sldMkLst>
      </pc:sldChg>
      <pc:sldChg chg="modNotes">
        <pc:chgData name="Georgina Thomas" userId="d204b9c7-e8b5-4a67-887f-b8d0b5ea9480" providerId="ADAL" clId="{1D9F5611-84BA-4C42-94F5-CA489C817A3A}" dt="2026-01-15T12:23:18.024" v="9" actId="368"/>
        <pc:sldMkLst>
          <pc:docMk/>
          <pc:sldMk cId="748029461" sldId="409"/>
        </pc:sldMkLst>
      </pc:sldChg>
      <pc:sldChg chg="modNotes">
        <pc:chgData name="Georgina Thomas" userId="d204b9c7-e8b5-4a67-887f-b8d0b5ea9480" providerId="ADAL" clId="{1D9F5611-84BA-4C42-94F5-CA489C817A3A}" dt="2026-01-15T12:23:18.030" v="11" actId="368"/>
        <pc:sldMkLst>
          <pc:docMk/>
          <pc:sldMk cId="3918644532" sldId="411"/>
        </pc:sldMkLst>
      </pc:sldChg>
      <pc:sldChg chg="modNotes">
        <pc:chgData name="Georgina Thomas" userId="d204b9c7-e8b5-4a67-887f-b8d0b5ea9480" providerId="ADAL" clId="{1D9F5611-84BA-4C42-94F5-CA489C817A3A}" dt="2026-01-15T12:23:18.035" v="13" actId="368"/>
        <pc:sldMkLst>
          <pc:docMk/>
          <pc:sldMk cId="3658722606" sldId="412"/>
        </pc:sldMkLst>
      </pc:sldChg>
      <pc:sldChg chg="modNotes">
        <pc:chgData name="Georgina Thomas" userId="d204b9c7-e8b5-4a67-887f-b8d0b5ea9480" providerId="ADAL" clId="{1D9F5611-84BA-4C42-94F5-CA489C817A3A}" dt="2026-01-15T12:23:18.074" v="23" actId="368"/>
        <pc:sldMkLst>
          <pc:docMk/>
          <pc:sldMk cId="3540242224" sldId="42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594A43-B6C5-44A6-9B31-870D4312C583}" type="datetimeFigureOut">
              <a:rPr lang="en-GB" smtClean="0"/>
              <a:t>15/01/2026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B42C82-B38F-4633-ABD3-369A44C1CA8B}" type="slidenum">
              <a:rPr lang="en-GB" smtClean="0"/>
              <a:t>‹#›</a:t>
            </a:fld>
            <a:endParaRPr lang="en-GB"/>
          </a:p>
        </p:txBody>
      </p:sp>
    </p:spTree>
    <p:extLst>
      <p:ext uri="{BB962C8B-B14F-4D97-AF65-F5344CB8AC3E}">
        <p14:creationId xmlns:p14="http://schemas.microsoft.com/office/powerpoint/2010/main" val="367034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2</a:t>
            </a:fld>
            <a:endParaRPr lang="en-GB"/>
          </a:p>
        </p:txBody>
      </p:sp>
    </p:spTree>
    <p:extLst>
      <p:ext uri="{BB962C8B-B14F-4D97-AF65-F5344CB8AC3E}">
        <p14:creationId xmlns:p14="http://schemas.microsoft.com/office/powerpoint/2010/main" val="662812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3</a:t>
            </a:fld>
            <a:endParaRPr lang="en-GB"/>
          </a:p>
        </p:txBody>
      </p:sp>
    </p:spTree>
    <p:extLst>
      <p:ext uri="{BB962C8B-B14F-4D97-AF65-F5344CB8AC3E}">
        <p14:creationId xmlns:p14="http://schemas.microsoft.com/office/powerpoint/2010/main" val="1600286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4</a:t>
            </a:fld>
            <a:endParaRPr lang="en-GB"/>
          </a:p>
        </p:txBody>
      </p:sp>
    </p:spTree>
    <p:extLst>
      <p:ext uri="{BB962C8B-B14F-4D97-AF65-F5344CB8AC3E}">
        <p14:creationId xmlns:p14="http://schemas.microsoft.com/office/powerpoint/2010/main" val="1838286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6</a:t>
            </a:fld>
            <a:endParaRPr lang="en-GB"/>
          </a:p>
        </p:txBody>
      </p:sp>
    </p:spTree>
    <p:extLst>
      <p:ext uri="{BB962C8B-B14F-4D97-AF65-F5344CB8AC3E}">
        <p14:creationId xmlns:p14="http://schemas.microsoft.com/office/powerpoint/2010/main" val="4287371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7</a:t>
            </a:fld>
            <a:endParaRPr lang="en-GB"/>
          </a:p>
        </p:txBody>
      </p:sp>
    </p:spTree>
    <p:extLst>
      <p:ext uri="{BB962C8B-B14F-4D97-AF65-F5344CB8AC3E}">
        <p14:creationId xmlns:p14="http://schemas.microsoft.com/office/powerpoint/2010/main" val="1844066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9</a:t>
            </a:fld>
            <a:endParaRPr lang="en-GB"/>
          </a:p>
        </p:txBody>
      </p:sp>
    </p:spTree>
    <p:extLst>
      <p:ext uri="{BB962C8B-B14F-4D97-AF65-F5344CB8AC3E}">
        <p14:creationId xmlns:p14="http://schemas.microsoft.com/office/powerpoint/2010/main" val="28940585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10</a:t>
            </a:fld>
            <a:endParaRPr lang="en-GB"/>
          </a:p>
        </p:txBody>
      </p:sp>
    </p:spTree>
    <p:extLst>
      <p:ext uri="{BB962C8B-B14F-4D97-AF65-F5344CB8AC3E}">
        <p14:creationId xmlns:p14="http://schemas.microsoft.com/office/powerpoint/2010/main" val="24998058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18</a:t>
            </a:fld>
            <a:endParaRPr lang="en-GB"/>
          </a:p>
        </p:txBody>
      </p:sp>
    </p:spTree>
    <p:extLst>
      <p:ext uri="{BB962C8B-B14F-4D97-AF65-F5344CB8AC3E}">
        <p14:creationId xmlns:p14="http://schemas.microsoft.com/office/powerpoint/2010/main" val="2895202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20</a:t>
            </a:fld>
            <a:endParaRPr lang="en-GB"/>
          </a:p>
        </p:txBody>
      </p:sp>
    </p:spTree>
    <p:extLst>
      <p:ext uri="{BB962C8B-B14F-4D97-AF65-F5344CB8AC3E}">
        <p14:creationId xmlns:p14="http://schemas.microsoft.com/office/powerpoint/2010/main" val="3412588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21</a:t>
            </a:fld>
            <a:endParaRPr lang="en-GB"/>
          </a:p>
        </p:txBody>
      </p:sp>
    </p:spTree>
    <p:extLst>
      <p:ext uri="{BB962C8B-B14F-4D97-AF65-F5344CB8AC3E}">
        <p14:creationId xmlns:p14="http://schemas.microsoft.com/office/powerpoint/2010/main" val="10181263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34</a:t>
            </a:fld>
            <a:endParaRPr lang="en-GB"/>
          </a:p>
        </p:txBody>
      </p:sp>
    </p:spTree>
    <p:extLst>
      <p:ext uri="{BB962C8B-B14F-4D97-AF65-F5344CB8AC3E}">
        <p14:creationId xmlns:p14="http://schemas.microsoft.com/office/powerpoint/2010/main" val="23412198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B42C82-B38F-4633-ABD3-369A44C1CA8B}" type="slidenum">
              <a:rPr lang="en-GB" smtClean="0"/>
              <a:t>36</a:t>
            </a:fld>
            <a:endParaRPr lang="en-GB"/>
          </a:p>
        </p:txBody>
      </p:sp>
    </p:spTree>
    <p:extLst>
      <p:ext uri="{BB962C8B-B14F-4D97-AF65-F5344CB8AC3E}">
        <p14:creationId xmlns:p14="http://schemas.microsoft.com/office/powerpoint/2010/main" val="28570121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4.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18.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gradFill>
          <a:gsLst>
            <a:gs pos="51000">
              <a:srgbClr val="ED6832"/>
            </a:gs>
            <a:gs pos="0">
              <a:schemeClr val="accent2"/>
            </a:gs>
            <a:gs pos="100000">
              <a:schemeClr val="accent1"/>
            </a:gs>
          </a:gsLst>
          <a:lin ang="0" scaled="0"/>
        </a:gra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93E0A350-4266-A582-6920-5C96BF52237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38749" y="716003"/>
            <a:ext cx="7653251" cy="6149623"/>
          </a:xfrm>
          <a:prstGeom prst="rect">
            <a:avLst/>
          </a:prstGeom>
        </p:spPr>
      </p:pic>
      <p:sp>
        <p:nvSpPr>
          <p:cNvPr id="2" name="Title 1">
            <a:extLst>
              <a:ext uri="{FF2B5EF4-FFF2-40B4-BE49-F238E27FC236}">
                <a16:creationId xmlns:a16="http://schemas.microsoft.com/office/drawing/2014/main" id="{28032C5A-F51C-CBCF-6548-CB3F56DF1C26}"/>
              </a:ext>
            </a:extLst>
          </p:cNvPr>
          <p:cNvSpPr>
            <a:spLocks noGrp="1"/>
          </p:cNvSpPr>
          <p:nvPr>
            <p:ph type="ctrTitle"/>
          </p:nvPr>
        </p:nvSpPr>
        <p:spPr>
          <a:xfrm>
            <a:off x="242587" y="300942"/>
            <a:ext cx="9144000" cy="1513330"/>
          </a:xfrm>
        </p:spPr>
        <p:txBody>
          <a:bodyPr anchor="b"/>
          <a:lstStyle>
            <a:lvl1pPr algn="l">
              <a:defRPr sz="6000" b="1">
                <a:solidFill>
                  <a:schemeClr val="bg1"/>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87F1F307-627B-BC4D-CA13-D474A64153C9}"/>
              </a:ext>
            </a:extLst>
          </p:cNvPr>
          <p:cNvSpPr>
            <a:spLocks noGrp="1"/>
          </p:cNvSpPr>
          <p:nvPr>
            <p:ph type="subTitle" idx="1"/>
          </p:nvPr>
        </p:nvSpPr>
        <p:spPr>
          <a:xfrm>
            <a:off x="242587" y="1814272"/>
            <a:ext cx="9144000" cy="662710"/>
          </a:xfrm>
        </p:spPr>
        <p:txBody>
          <a:bodyPr>
            <a:noAutofit/>
          </a:bodyPr>
          <a:lstStyle>
            <a:lvl1pPr marL="0" indent="0" algn="l">
              <a:buNone/>
              <a:defRPr sz="4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4" name="Date Placeholder 3">
            <a:extLst>
              <a:ext uri="{FF2B5EF4-FFF2-40B4-BE49-F238E27FC236}">
                <a16:creationId xmlns:a16="http://schemas.microsoft.com/office/drawing/2014/main" id="{E6D74298-BC2B-4A63-C754-90CF95F53D5D}"/>
              </a:ext>
            </a:extLst>
          </p:cNvPr>
          <p:cNvSpPr>
            <a:spLocks noGrp="1"/>
          </p:cNvSpPr>
          <p:nvPr>
            <p:ph type="dt" sz="half" idx="10"/>
          </p:nvPr>
        </p:nvSpPr>
        <p:spPr/>
        <p:txBody>
          <a:bodyPr/>
          <a:lstStyle>
            <a:lvl1pPr>
              <a:defRPr>
                <a:solidFill>
                  <a:schemeClr val="tx1"/>
                </a:solidFill>
              </a:defRPr>
            </a:lvl1pPr>
          </a:lstStyle>
          <a:p>
            <a:fld id="{CB29FFA8-3186-4C0E-9F77-F9BCEAB768E7}" type="datetime1">
              <a:rPr lang="en-GB" smtClean="0"/>
              <a:t>15/01/2026</a:t>
            </a:fld>
            <a:endParaRPr lang="en-GB"/>
          </a:p>
        </p:txBody>
      </p:sp>
      <p:sp>
        <p:nvSpPr>
          <p:cNvPr id="5" name="Footer Placeholder 4">
            <a:extLst>
              <a:ext uri="{FF2B5EF4-FFF2-40B4-BE49-F238E27FC236}">
                <a16:creationId xmlns:a16="http://schemas.microsoft.com/office/drawing/2014/main" id="{1EEA0D40-36A9-9796-44E6-FE2E012C399E}"/>
              </a:ext>
            </a:extLst>
          </p:cNvPr>
          <p:cNvSpPr>
            <a:spLocks noGrp="1"/>
          </p:cNvSpPr>
          <p:nvPr>
            <p:ph type="ftr" sz="quarter" idx="11"/>
          </p:nvPr>
        </p:nvSpPr>
        <p:spPr/>
        <p:txBody>
          <a:bodyPr/>
          <a:lstStyle>
            <a:lvl1pPr>
              <a:defRPr>
                <a:solidFill>
                  <a:schemeClr val="tx1"/>
                </a:solidFill>
              </a:defRPr>
            </a:lvl1pPr>
          </a:lstStyle>
          <a:p>
            <a:endParaRPr lang="en-GB"/>
          </a:p>
        </p:txBody>
      </p:sp>
      <p:sp>
        <p:nvSpPr>
          <p:cNvPr id="6" name="Slide Number Placeholder 5">
            <a:extLst>
              <a:ext uri="{FF2B5EF4-FFF2-40B4-BE49-F238E27FC236}">
                <a16:creationId xmlns:a16="http://schemas.microsoft.com/office/drawing/2014/main" id="{0075C5CF-CD0E-984C-F84E-6DCB75E08BEF}"/>
              </a:ext>
            </a:extLst>
          </p:cNvPr>
          <p:cNvSpPr>
            <a:spLocks noGrp="1"/>
          </p:cNvSpPr>
          <p:nvPr>
            <p:ph type="sldNum" sz="quarter" idx="12"/>
          </p:nvPr>
        </p:nvSpPr>
        <p:spPr/>
        <p:txBody>
          <a:bodyPr/>
          <a:lstStyle>
            <a:lvl1pPr>
              <a:defRPr>
                <a:solidFill>
                  <a:schemeClr val="tx1"/>
                </a:solidFill>
              </a:defRPr>
            </a:lvl1pPr>
          </a:lstStyle>
          <a:p>
            <a:fld id="{F74D7E6C-9B20-4593-B18C-8D2C7BEEFCA2}" type="slidenum">
              <a:rPr lang="en-GB" smtClean="0"/>
              <a:pPr/>
              <a:t>‹#›</a:t>
            </a:fld>
            <a:endParaRPr lang="en-GB" dirty="0"/>
          </a:p>
        </p:txBody>
      </p:sp>
      <p:pic>
        <p:nvPicPr>
          <p:cNvPr id="8" name="Picture 7" descr="A picture containing text, clipart&#10;&#10;Description automatically generated">
            <a:extLst>
              <a:ext uri="{FF2B5EF4-FFF2-40B4-BE49-F238E27FC236}">
                <a16:creationId xmlns:a16="http://schemas.microsoft.com/office/drawing/2014/main" id="{0EFCD07B-960A-26DA-7B21-1F6DB4CA6A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01873" y="175672"/>
            <a:ext cx="2588870" cy="651955"/>
          </a:xfrm>
          <a:prstGeom prst="rect">
            <a:avLst/>
          </a:prstGeom>
        </p:spPr>
      </p:pic>
      <p:sp>
        <p:nvSpPr>
          <p:cNvPr id="14" name="Text Placeholder 13">
            <a:extLst>
              <a:ext uri="{FF2B5EF4-FFF2-40B4-BE49-F238E27FC236}">
                <a16:creationId xmlns:a16="http://schemas.microsoft.com/office/drawing/2014/main" id="{16A5BC0E-3BB4-7653-DCF5-D67C5983AA0A}"/>
              </a:ext>
            </a:extLst>
          </p:cNvPr>
          <p:cNvSpPr>
            <a:spLocks noGrp="1"/>
          </p:cNvSpPr>
          <p:nvPr>
            <p:ph type="body" sz="quarter" idx="13" hasCustomPrompt="1"/>
          </p:nvPr>
        </p:nvSpPr>
        <p:spPr>
          <a:xfrm>
            <a:off x="1782502" y="3287944"/>
            <a:ext cx="7534878" cy="365125"/>
          </a:xfrm>
        </p:spPr>
        <p:txBody>
          <a:bodyPr anchor="ctr">
            <a:normAutofit/>
          </a:bodyPr>
          <a:lstStyle>
            <a:lvl1pPr marL="0" indent="0">
              <a:buNone/>
              <a:defRPr sz="2000">
                <a:solidFill>
                  <a:schemeClr val="bg1"/>
                </a:solidFill>
              </a:defRPr>
            </a:lvl1pPr>
            <a:lvl2pPr marL="457200" indent="0">
              <a:buNone/>
              <a:defRPr/>
            </a:lvl2pPr>
          </a:lstStyle>
          <a:p>
            <a:pPr lvl="0"/>
            <a:r>
              <a:rPr lang="en-GB" dirty="0"/>
              <a:t>Insert name of program</a:t>
            </a:r>
          </a:p>
        </p:txBody>
      </p:sp>
      <p:sp>
        <p:nvSpPr>
          <p:cNvPr id="17" name="Rectangle 16">
            <a:extLst>
              <a:ext uri="{FF2B5EF4-FFF2-40B4-BE49-F238E27FC236}">
                <a16:creationId xmlns:a16="http://schemas.microsoft.com/office/drawing/2014/main" id="{B7EB51FB-38DD-5F87-252E-078DE3D46908}"/>
              </a:ext>
            </a:extLst>
          </p:cNvPr>
          <p:cNvSpPr/>
          <p:nvPr/>
        </p:nvSpPr>
        <p:spPr>
          <a:xfrm>
            <a:off x="0" y="3270029"/>
            <a:ext cx="1782502"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000" b="1" dirty="0">
                <a:solidFill>
                  <a:schemeClr val="bg1"/>
                </a:solidFill>
              </a:rPr>
              <a:t>Programme:</a:t>
            </a:r>
          </a:p>
        </p:txBody>
      </p:sp>
      <p:sp>
        <p:nvSpPr>
          <p:cNvPr id="21" name="Rectangle 20">
            <a:extLst>
              <a:ext uri="{FF2B5EF4-FFF2-40B4-BE49-F238E27FC236}">
                <a16:creationId xmlns:a16="http://schemas.microsoft.com/office/drawing/2014/main" id="{F04C0CEA-DE58-C6B3-9B2E-8CE71EA304CA}"/>
              </a:ext>
            </a:extLst>
          </p:cNvPr>
          <p:cNvSpPr/>
          <p:nvPr/>
        </p:nvSpPr>
        <p:spPr>
          <a:xfrm>
            <a:off x="0" y="4638009"/>
            <a:ext cx="1782502" cy="2486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800" b="1" dirty="0">
                <a:solidFill>
                  <a:schemeClr val="bg1"/>
                </a:solidFill>
              </a:rPr>
              <a:t>Email:</a:t>
            </a:r>
          </a:p>
        </p:txBody>
      </p:sp>
      <p:sp>
        <p:nvSpPr>
          <p:cNvPr id="24" name="Rectangle 23">
            <a:extLst>
              <a:ext uri="{FF2B5EF4-FFF2-40B4-BE49-F238E27FC236}">
                <a16:creationId xmlns:a16="http://schemas.microsoft.com/office/drawing/2014/main" id="{3776A4E7-BB84-696F-D69D-16B4AD32FFFF}"/>
              </a:ext>
            </a:extLst>
          </p:cNvPr>
          <p:cNvSpPr/>
          <p:nvPr/>
        </p:nvSpPr>
        <p:spPr>
          <a:xfrm>
            <a:off x="242587" y="5717895"/>
            <a:ext cx="6817970" cy="638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chemeClr val="bg1"/>
                </a:solidFill>
              </a:rPr>
              <a:t>24hr Safeguarding Number: </a:t>
            </a:r>
            <a:r>
              <a:rPr lang="en-GB" sz="2800" dirty="0">
                <a:solidFill>
                  <a:schemeClr val="bg1"/>
                </a:solidFill>
              </a:rPr>
              <a:t>07944 779 769 </a:t>
            </a:r>
          </a:p>
        </p:txBody>
      </p:sp>
      <p:sp>
        <p:nvSpPr>
          <p:cNvPr id="31" name="Rectangle 30">
            <a:extLst>
              <a:ext uri="{FF2B5EF4-FFF2-40B4-BE49-F238E27FC236}">
                <a16:creationId xmlns:a16="http://schemas.microsoft.com/office/drawing/2014/main" id="{05559DE5-06EE-DB80-A45E-181EFC9DE390}"/>
              </a:ext>
            </a:extLst>
          </p:cNvPr>
          <p:cNvSpPr/>
          <p:nvPr/>
        </p:nvSpPr>
        <p:spPr>
          <a:xfrm>
            <a:off x="0" y="3736505"/>
            <a:ext cx="1782502"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000" b="1" dirty="0">
                <a:solidFill>
                  <a:schemeClr val="bg1"/>
                </a:solidFill>
              </a:rPr>
              <a:t>Unit:</a:t>
            </a:r>
          </a:p>
        </p:txBody>
      </p:sp>
      <p:sp>
        <p:nvSpPr>
          <p:cNvPr id="32" name="Rectangle 31">
            <a:extLst>
              <a:ext uri="{FF2B5EF4-FFF2-40B4-BE49-F238E27FC236}">
                <a16:creationId xmlns:a16="http://schemas.microsoft.com/office/drawing/2014/main" id="{E22F305A-C893-369D-A6CB-7A88300DFD88}"/>
              </a:ext>
            </a:extLst>
          </p:cNvPr>
          <p:cNvSpPr/>
          <p:nvPr/>
        </p:nvSpPr>
        <p:spPr>
          <a:xfrm>
            <a:off x="0" y="4201781"/>
            <a:ext cx="1782502"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000" b="1" dirty="0">
                <a:solidFill>
                  <a:schemeClr val="bg1"/>
                </a:solidFill>
              </a:rPr>
              <a:t>Trainer:</a:t>
            </a:r>
          </a:p>
        </p:txBody>
      </p:sp>
      <p:sp>
        <p:nvSpPr>
          <p:cNvPr id="34" name="Rectangle 33">
            <a:extLst>
              <a:ext uri="{FF2B5EF4-FFF2-40B4-BE49-F238E27FC236}">
                <a16:creationId xmlns:a16="http://schemas.microsoft.com/office/drawing/2014/main" id="{EB814D6C-7153-D655-D8DC-C8B21A058C7C}"/>
              </a:ext>
            </a:extLst>
          </p:cNvPr>
          <p:cNvSpPr/>
          <p:nvPr/>
        </p:nvSpPr>
        <p:spPr>
          <a:xfrm>
            <a:off x="0" y="4951958"/>
            <a:ext cx="1782502" cy="2486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800" b="1" dirty="0">
                <a:solidFill>
                  <a:schemeClr val="bg1"/>
                </a:solidFill>
              </a:rPr>
              <a:t>Phone:</a:t>
            </a:r>
          </a:p>
        </p:txBody>
      </p:sp>
      <p:sp>
        <p:nvSpPr>
          <p:cNvPr id="35" name="Text Placeholder 13">
            <a:extLst>
              <a:ext uri="{FF2B5EF4-FFF2-40B4-BE49-F238E27FC236}">
                <a16:creationId xmlns:a16="http://schemas.microsoft.com/office/drawing/2014/main" id="{9EF9BD93-126A-A9E4-9C66-BD0088ED7126}"/>
              </a:ext>
            </a:extLst>
          </p:cNvPr>
          <p:cNvSpPr>
            <a:spLocks noGrp="1"/>
          </p:cNvSpPr>
          <p:nvPr>
            <p:ph type="body" sz="quarter" idx="14" hasCustomPrompt="1"/>
          </p:nvPr>
        </p:nvSpPr>
        <p:spPr>
          <a:xfrm>
            <a:off x="1782502" y="3756825"/>
            <a:ext cx="7534878" cy="365125"/>
          </a:xfrm>
        </p:spPr>
        <p:txBody>
          <a:bodyPr anchor="ctr">
            <a:normAutofit/>
          </a:bodyPr>
          <a:lstStyle>
            <a:lvl1pPr marL="0" indent="0">
              <a:buNone/>
              <a:defRPr sz="2000">
                <a:solidFill>
                  <a:schemeClr val="bg1"/>
                </a:solidFill>
              </a:defRPr>
            </a:lvl1pPr>
            <a:lvl2pPr marL="457200" indent="0">
              <a:buNone/>
              <a:defRPr/>
            </a:lvl2pPr>
          </a:lstStyle>
          <a:p>
            <a:pPr lvl="0"/>
            <a:r>
              <a:rPr lang="en-GB" dirty="0"/>
              <a:t>Insert name of Unit</a:t>
            </a:r>
          </a:p>
        </p:txBody>
      </p:sp>
      <p:sp>
        <p:nvSpPr>
          <p:cNvPr id="36" name="Text Placeholder 13">
            <a:extLst>
              <a:ext uri="{FF2B5EF4-FFF2-40B4-BE49-F238E27FC236}">
                <a16:creationId xmlns:a16="http://schemas.microsoft.com/office/drawing/2014/main" id="{D9ACFA5F-2C2D-14E8-07FD-6DE9BDDAFF76}"/>
              </a:ext>
            </a:extLst>
          </p:cNvPr>
          <p:cNvSpPr>
            <a:spLocks noGrp="1"/>
          </p:cNvSpPr>
          <p:nvPr>
            <p:ph type="body" sz="quarter" idx="15" hasCustomPrompt="1"/>
          </p:nvPr>
        </p:nvSpPr>
        <p:spPr>
          <a:xfrm>
            <a:off x="1782502" y="4222100"/>
            <a:ext cx="7534878" cy="365125"/>
          </a:xfrm>
        </p:spPr>
        <p:txBody>
          <a:bodyPr anchor="ctr">
            <a:normAutofit/>
          </a:bodyPr>
          <a:lstStyle>
            <a:lvl1pPr marL="0" indent="0">
              <a:buNone/>
              <a:defRPr sz="2000">
                <a:solidFill>
                  <a:schemeClr val="bg1"/>
                </a:solidFill>
              </a:defRPr>
            </a:lvl1pPr>
            <a:lvl2pPr marL="457200" indent="0">
              <a:buNone/>
              <a:defRPr/>
            </a:lvl2pPr>
          </a:lstStyle>
          <a:p>
            <a:pPr lvl="0"/>
            <a:r>
              <a:rPr lang="en-GB" dirty="0"/>
              <a:t>Insert name of trainer</a:t>
            </a:r>
          </a:p>
        </p:txBody>
      </p:sp>
      <p:sp>
        <p:nvSpPr>
          <p:cNvPr id="37" name="Text Placeholder 13">
            <a:extLst>
              <a:ext uri="{FF2B5EF4-FFF2-40B4-BE49-F238E27FC236}">
                <a16:creationId xmlns:a16="http://schemas.microsoft.com/office/drawing/2014/main" id="{C7363837-5542-1B29-7760-E94B13175706}"/>
              </a:ext>
            </a:extLst>
          </p:cNvPr>
          <p:cNvSpPr>
            <a:spLocks noGrp="1"/>
          </p:cNvSpPr>
          <p:nvPr>
            <p:ph type="body" sz="quarter" idx="16" hasCustomPrompt="1"/>
          </p:nvPr>
        </p:nvSpPr>
        <p:spPr>
          <a:xfrm>
            <a:off x="1782502" y="4972279"/>
            <a:ext cx="7534878" cy="248622"/>
          </a:xfrm>
        </p:spPr>
        <p:txBody>
          <a:bodyPr anchor="ctr">
            <a:noAutofit/>
          </a:bodyPr>
          <a:lstStyle>
            <a:lvl1pPr marL="0" indent="0">
              <a:buNone/>
              <a:defRPr sz="1800">
                <a:solidFill>
                  <a:schemeClr val="bg1"/>
                </a:solidFill>
              </a:defRPr>
            </a:lvl1pPr>
            <a:lvl2pPr marL="457200" indent="0">
              <a:buNone/>
              <a:defRPr/>
            </a:lvl2pPr>
          </a:lstStyle>
          <a:p>
            <a:pPr lvl="0"/>
            <a:r>
              <a:rPr lang="en-GB" dirty="0"/>
              <a:t>Insert name of trainer</a:t>
            </a:r>
          </a:p>
        </p:txBody>
      </p:sp>
      <p:sp>
        <p:nvSpPr>
          <p:cNvPr id="38" name="Text Placeholder 13">
            <a:extLst>
              <a:ext uri="{FF2B5EF4-FFF2-40B4-BE49-F238E27FC236}">
                <a16:creationId xmlns:a16="http://schemas.microsoft.com/office/drawing/2014/main" id="{4FD5ACC9-C36F-2099-6576-7C1B0F64E717}"/>
              </a:ext>
            </a:extLst>
          </p:cNvPr>
          <p:cNvSpPr>
            <a:spLocks noGrp="1"/>
          </p:cNvSpPr>
          <p:nvPr>
            <p:ph type="body" sz="quarter" idx="17" hasCustomPrompt="1"/>
          </p:nvPr>
        </p:nvSpPr>
        <p:spPr>
          <a:xfrm>
            <a:off x="1782502" y="4633283"/>
            <a:ext cx="7534878" cy="248622"/>
          </a:xfrm>
        </p:spPr>
        <p:txBody>
          <a:bodyPr anchor="ctr">
            <a:noAutofit/>
          </a:bodyPr>
          <a:lstStyle>
            <a:lvl1pPr marL="0" indent="0">
              <a:buNone/>
              <a:defRPr sz="1800">
                <a:solidFill>
                  <a:schemeClr val="bg1"/>
                </a:solidFill>
              </a:defRPr>
            </a:lvl1pPr>
            <a:lvl2pPr marL="457200" indent="0">
              <a:buNone/>
              <a:defRPr/>
            </a:lvl2pPr>
          </a:lstStyle>
          <a:p>
            <a:pPr lvl="0"/>
            <a:r>
              <a:rPr lang="en-GB" dirty="0"/>
              <a:t>Insert name of trainer</a:t>
            </a:r>
          </a:p>
        </p:txBody>
      </p:sp>
    </p:spTree>
    <p:extLst>
      <p:ext uri="{BB962C8B-B14F-4D97-AF65-F5344CB8AC3E}">
        <p14:creationId xmlns:p14="http://schemas.microsoft.com/office/powerpoint/2010/main" val="819377986"/>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a:gsLst>
            <a:gs pos="51000">
              <a:srgbClr val="ED6832"/>
            </a:gs>
            <a:gs pos="0">
              <a:schemeClr val="accent2"/>
            </a:gs>
            <a:gs pos="100000">
              <a:schemeClr val="accent1"/>
            </a:gs>
          </a:gsLst>
          <a:lin ang="0" scaled="0"/>
        </a:gra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C57D128-5BF2-B07A-0992-00BEF2E975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18014" y="1066304"/>
            <a:ext cx="9373985" cy="5791696"/>
          </a:xfrm>
          <a:prstGeom prst="rect">
            <a:avLst/>
          </a:prstGeom>
        </p:spPr>
      </p:pic>
      <p:sp>
        <p:nvSpPr>
          <p:cNvPr id="2" name="Title 1">
            <a:extLst>
              <a:ext uri="{FF2B5EF4-FFF2-40B4-BE49-F238E27FC236}">
                <a16:creationId xmlns:a16="http://schemas.microsoft.com/office/drawing/2014/main" id="{C95211B7-F08F-BA22-815B-1EDF73FE5950}"/>
              </a:ext>
            </a:extLst>
          </p:cNvPr>
          <p:cNvSpPr>
            <a:spLocks noGrp="1"/>
          </p:cNvSpPr>
          <p:nvPr>
            <p:ph type="title"/>
          </p:nvPr>
        </p:nvSpPr>
        <p:spPr>
          <a:xfrm>
            <a:off x="549217" y="1620981"/>
            <a:ext cx="10515600" cy="1736148"/>
          </a:xfrm>
        </p:spPr>
        <p:txBody>
          <a:bodyPr anchor="b"/>
          <a:lstStyle>
            <a:lvl1pPr>
              <a:defRPr sz="6000" b="1">
                <a:solidFill>
                  <a:schemeClr val="bg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C853BF4-954E-9CD2-D750-9930F93D79B9}"/>
              </a:ext>
            </a:extLst>
          </p:cNvPr>
          <p:cNvSpPr>
            <a:spLocks noGrp="1"/>
          </p:cNvSpPr>
          <p:nvPr>
            <p:ph type="body" idx="1"/>
          </p:nvPr>
        </p:nvSpPr>
        <p:spPr>
          <a:xfrm>
            <a:off x="549217" y="3384117"/>
            <a:ext cx="10515600" cy="871999"/>
          </a:xfrm>
        </p:spPr>
        <p:txBody>
          <a:bodyPr>
            <a:normAutofit/>
          </a:bodyPr>
          <a:lstStyle>
            <a:lvl1pPr marL="0" indent="0">
              <a:buNone/>
              <a:defRPr sz="4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92EF50-6D3C-4BE8-B9ED-F2E6957D7C3A}"/>
              </a:ext>
            </a:extLst>
          </p:cNvPr>
          <p:cNvSpPr>
            <a:spLocks noGrp="1"/>
          </p:cNvSpPr>
          <p:nvPr>
            <p:ph type="dt" sz="half" idx="10"/>
          </p:nvPr>
        </p:nvSpPr>
        <p:spPr/>
        <p:txBody>
          <a:bodyPr/>
          <a:lstStyle/>
          <a:p>
            <a:fld id="{BF5A8FCD-1FC5-4A68-813C-1A32677ACBB1}" type="datetime1">
              <a:rPr lang="en-GB" smtClean="0"/>
              <a:t>15/01/2026</a:t>
            </a:fld>
            <a:endParaRPr lang="en-GB"/>
          </a:p>
        </p:txBody>
      </p:sp>
      <p:sp>
        <p:nvSpPr>
          <p:cNvPr id="5" name="Footer Placeholder 4">
            <a:extLst>
              <a:ext uri="{FF2B5EF4-FFF2-40B4-BE49-F238E27FC236}">
                <a16:creationId xmlns:a16="http://schemas.microsoft.com/office/drawing/2014/main" id="{C426139E-AA22-71C3-2734-F5EF6969985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A2CBEA-00A1-966A-DFAA-0244093D5F73}"/>
              </a:ext>
            </a:extLst>
          </p:cNvPr>
          <p:cNvSpPr>
            <a:spLocks noGrp="1"/>
          </p:cNvSpPr>
          <p:nvPr>
            <p:ph type="sldNum" sz="quarter" idx="12"/>
          </p:nvPr>
        </p:nvSpPr>
        <p:spPr/>
        <p:txBody>
          <a:bodyPr/>
          <a:lstStyle/>
          <a:p>
            <a:fld id="{F74D7E6C-9B20-4593-B18C-8D2C7BEEFCA2}" type="slidenum">
              <a:rPr lang="en-GB" smtClean="0"/>
              <a:t>‹#›</a:t>
            </a:fld>
            <a:endParaRPr lang="en-GB"/>
          </a:p>
        </p:txBody>
      </p:sp>
      <p:pic>
        <p:nvPicPr>
          <p:cNvPr id="9" name="Picture 8" descr="A picture containing text, clipart&#10;&#10;Description automatically generated">
            <a:extLst>
              <a:ext uri="{FF2B5EF4-FFF2-40B4-BE49-F238E27FC236}">
                <a16:creationId xmlns:a16="http://schemas.microsoft.com/office/drawing/2014/main" id="{0F7EA940-09F5-1D44-3597-A981F297F2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01873" y="175672"/>
            <a:ext cx="2588870" cy="651955"/>
          </a:xfrm>
          <a:prstGeom prst="rect">
            <a:avLst/>
          </a:prstGeom>
        </p:spPr>
      </p:pic>
      <p:pic>
        <p:nvPicPr>
          <p:cNvPr id="7" name="Graphic 6">
            <a:extLst>
              <a:ext uri="{FF2B5EF4-FFF2-40B4-BE49-F238E27FC236}">
                <a16:creationId xmlns:a16="http://schemas.microsoft.com/office/drawing/2014/main" id="{D2564668-2BB7-0C12-5FC9-C2981688118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18014" y="1066304"/>
            <a:ext cx="9373985" cy="5791696"/>
          </a:xfrm>
          <a:prstGeom prst="rect">
            <a:avLst/>
          </a:prstGeom>
        </p:spPr>
      </p:pic>
      <p:pic>
        <p:nvPicPr>
          <p:cNvPr id="10" name="Picture 9" descr="A picture containing text, clipart&#10;&#10;Description automatically generated">
            <a:extLst>
              <a:ext uri="{FF2B5EF4-FFF2-40B4-BE49-F238E27FC236}">
                <a16:creationId xmlns:a16="http://schemas.microsoft.com/office/drawing/2014/main" id="{C494329D-33F7-6904-8F0D-2C34199FF1A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201873" y="175672"/>
            <a:ext cx="2588870" cy="651955"/>
          </a:xfrm>
          <a:prstGeom prst="rect">
            <a:avLst/>
          </a:prstGeom>
        </p:spPr>
      </p:pic>
    </p:spTree>
    <p:extLst>
      <p:ext uri="{BB962C8B-B14F-4D97-AF65-F5344CB8AC3E}">
        <p14:creationId xmlns:p14="http://schemas.microsoft.com/office/powerpoint/2010/main" val="38815460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FBB1-7F05-2482-17B9-5D3E102C1FE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E2EF955-C4D8-A54D-1D25-AE09A04277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7F252D8-7B67-9F9D-C968-BD34EBFF937F}"/>
              </a:ext>
            </a:extLst>
          </p:cNvPr>
          <p:cNvSpPr>
            <a:spLocks noGrp="1"/>
          </p:cNvSpPr>
          <p:nvPr>
            <p:ph type="dt" sz="half" idx="10"/>
          </p:nvPr>
        </p:nvSpPr>
        <p:spPr/>
        <p:txBody>
          <a:bodyPr/>
          <a:lstStyle/>
          <a:p>
            <a:fld id="{F4B35BB2-7947-4140-A8C3-116BED4CA5DC}" type="datetime1">
              <a:rPr lang="en-GB" smtClean="0"/>
              <a:t>15/01/2026</a:t>
            </a:fld>
            <a:endParaRPr lang="en-GB"/>
          </a:p>
        </p:txBody>
      </p:sp>
      <p:sp>
        <p:nvSpPr>
          <p:cNvPr id="5" name="Footer Placeholder 4">
            <a:extLst>
              <a:ext uri="{FF2B5EF4-FFF2-40B4-BE49-F238E27FC236}">
                <a16:creationId xmlns:a16="http://schemas.microsoft.com/office/drawing/2014/main" id="{E3EE2C8E-6575-FEAA-A330-38F42C45DB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736D39-3A2B-30A0-A76E-75640514FBB4}"/>
              </a:ext>
            </a:extLst>
          </p:cNvPr>
          <p:cNvSpPr>
            <a:spLocks noGrp="1"/>
          </p:cNvSpPr>
          <p:nvPr>
            <p:ph type="sldNum" sz="quarter" idx="12"/>
          </p:nvPr>
        </p:nvSpPr>
        <p:spPr/>
        <p:txBody>
          <a:bodyPr/>
          <a:lstStyle/>
          <a:p>
            <a:fld id="{F74D7E6C-9B20-4593-B18C-8D2C7BEEFCA2}" type="slidenum">
              <a:rPr lang="en-GB" smtClean="0"/>
              <a:t>‹#›</a:t>
            </a:fld>
            <a:endParaRPr lang="en-GB"/>
          </a:p>
        </p:txBody>
      </p:sp>
    </p:spTree>
    <p:extLst>
      <p:ext uri="{BB962C8B-B14F-4D97-AF65-F5344CB8AC3E}">
        <p14:creationId xmlns:p14="http://schemas.microsoft.com/office/powerpoint/2010/main" val="640177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41645-4744-B7A7-A724-65CDD8AFF72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AFA32CB-5DE0-ED19-9E94-007536C36079}"/>
              </a:ext>
            </a:extLst>
          </p:cNvPr>
          <p:cNvSpPr>
            <a:spLocks noGrp="1"/>
          </p:cNvSpPr>
          <p:nvPr>
            <p:ph sz="half" idx="1"/>
          </p:nvPr>
        </p:nvSpPr>
        <p:spPr>
          <a:xfrm>
            <a:off x="323850" y="1493042"/>
            <a:ext cx="5553075" cy="48633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C35558A9-9BCC-9715-1659-EFA886362E40}"/>
              </a:ext>
            </a:extLst>
          </p:cNvPr>
          <p:cNvSpPr>
            <a:spLocks noGrp="1"/>
          </p:cNvSpPr>
          <p:nvPr>
            <p:ph sz="half" idx="2"/>
          </p:nvPr>
        </p:nvSpPr>
        <p:spPr>
          <a:xfrm>
            <a:off x="6315076" y="1493042"/>
            <a:ext cx="5553074" cy="48633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4">
            <a:extLst>
              <a:ext uri="{FF2B5EF4-FFF2-40B4-BE49-F238E27FC236}">
                <a16:creationId xmlns:a16="http://schemas.microsoft.com/office/drawing/2014/main" id="{F719A91C-1FDD-8536-143B-E0D0902CF552}"/>
              </a:ext>
            </a:extLst>
          </p:cNvPr>
          <p:cNvSpPr>
            <a:spLocks noGrp="1"/>
          </p:cNvSpPr>
          <p:nvPr>
            <p:ph type="dt" sz="half" idx="10"/>
          </p:nvPr>
        </p:nvSpPr>
        <p:spPr/>
        <p:txBody>
          <a:bodyPr/>
          <a:lstStyle/>
          <a:p>
            <a:fld id="{F20EA3DD-29FE-42D3-9E6E-DACE172DFB13}" type="datetime1">
              <a:rPr lang="en-GB" smtClean="0"/>
              <a:t>15/01/2026</a:t>
            </a:fld>
            <a:endParaRPr lang="en-GB"/>
          </a:p>
        </p:txBody>
      </p:sp>
      <p:sp>
        <p:nvSpPr>
          <p:cNvPr id="6" name="Footer Placeholder 5">
            <a:extLst>
              <a:ext uri="{FF2B5EF4-FFF2-40B4-BE49-F238E27FC236}">
                <a16:creationId xmlns:a16="http://schemas.microsoft.com/office/drawing/2014/main" id="{78A6CB84-3318-234A-0CFC-46573FF4260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1F1C9F1-7BC5-342F-753E-4925A5D922E6}"/>
              </a:ext>
            </a:extLst>
          </p:cNvPr>
          <p:cNvSpPr>
            <a:spLocks noGrp="1"/>
          </p:cNvSpPr>
          <p:nvPr>
            <p:ph type="sldNum" sz="quarter" idx="12"/>
          </p:nvPr>
        </p:nvSpPr>
        <p:spPr/>
        <p:txBody>
          <a:bodyPr/>
          <a:lstStyle/>
          <a:p>
            <a:fld id="{F74D7E6C-9B20-4593-B18C-8D2C7BEEFCA2}" type="slidenum">
              <a:rPr lang="en-GB" smtClean="0"/>
              <a:t>‹#›</a:t>
            </a:fld>
            <a:endParaRPr lang="en-GB"/>
          </a:p>
        </p:txBody>
      </p:sp>
    </p:spTree>
    <p:extLst>
      <p:ext uri="{BB962C8B-B14F-4D97-AF65-F5344CB8AC3E}">
        <p14:creationId xmlns:p14="http://schemas.microsoft.com/office/powerpoint/2010/main" val="4042800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ingle Question">
    <p:bg>
      <p:bgPr>
        <a:solidFill>
          <a:schemeClr val="bg2">
            <a:lumMod val="25000"/>
          </a:scheme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87948E-B686-3229-0457-44EFE74620B4}"/>
              </a:ext>
            </a:extLst>
          </p:cNvPr>
          <p:cNvSpPr>
            <a:spLocks noGrp="1"/>
          </p:cNvSpPr>
          <p:nvPr>
            <p:ph type="dt" sz="half" idx="10"/>
          </p:nvPr>
        </p:nvSpPr>
        <p:spPr/>
        <p:txBody>
          <a:bodyPr/>
          <a:lstStyle/>
          <a:p>
            <a:fld id="{A9C96DCA-F21B-4262-AF7D-C0A9AA51A343}" type="datetime1">
              <a:rPr lang="en-GB" smtClean="0"/>
              <a:t>15/01/2026</a:t>
            </a:fld>
            <a:endParaRPr lang="en-GB"/>
          </a:p>
        </p:txBody>
      </p:sp>
      <p:sp>
        <p:nvSpPr>
          <p:cNvPr id="3" name="Footer Placeholder 2">
            <a:extLst>
              <a:ext uri="{FF2B5EF4-FFF2-40B4-BE49-F238E27FC236}">
                <a16:creationId xmlns:a16="http://schemas.microsoft.com/office/drawing/2014/main" id="{1CD204DE-59A9-EB73-9091-37A1FE91181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35015B5-13A4-9E6F-092C-64F8E1507024}"/>
              </a:ext>
            </a:extLst>
          </p:cNvPr>
          <p:cNvSpPr>
            <a:spLocks noGrp="1"/>
          </p:cNvSpPr>
          <p:nvPr>
            <p:ph type="sldNum" sz="quarter" idx="12"/>
          </p:nvPr>
        </p:nvSpPr>
        <p:spPr/>
        <p:txBody>
          <a:bodyPr/>
          <a:lstStyle/>
          <a:p>
            <a:fld id="{F74D7E6C-9B20-4593-B18C-8D2C7BEEFCA2}" type="slidenum">
              <a:rPr lang="en-GB" smtClean="0"/>
              <a:t>‹#›</a:t>
            </a:fld>
            <a:endParaRPr lang="en-GB"/>
          </a:p>
        </p:txBody>
      </p:sp>
      <p:pic>
        <p:nvPicPr>
          <p:cNvPr id="6" name="Graphic 5">
            <a:extLst>
              <a:ext uri="{FF2B5EF4-FFF2-40B4-BE49-F238E27FC236}">
                <a16:creationId xmlns:a16="http://schemas.microsoft.com/office/drawing/2014/main" id="{439BA84F-729C-82EC-2A58-1D3190AD2A4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93077" y="1082625"/>
            <a:ext cx="6349721" cy="5775375"/>
          </a:xfrm>
          <a:prstGeom prst="rect">
            <a:avLst/>
          </a:prstGeom>
        </p:spPr>
      </p:pic>
      <p:sp>
        <p:nvSpPr>
          <p:cNvPr id="8" name="Text Placeholder 7">
            <a:extLst>
              <a:ext uri="{FF2B5EF4-FFF2-40B4-BE49-F238E27FC236}">
                <a16:creationId xmlns:a16="http://schemas.microsoft.com/office/drawing/2014/main" id="{7FCE627A-F761-44D6-BDC1-B77CF47DC02C}"/>
              </a:ext>
            </a:extLst>
          </p:cNvPr>
          <p:cNvSpPr>
            <a:spLocks noGrp="1"/>
          </p:cNvSpPr>
          <p:nvPr>
            <p:ph type="body" sz="quarter" idx="13" hasCustomPrompt="1"/>
          </p:nvPr>
        </p:nvSpPr>
        <p:spPr>
          <a:xfrm>
            <a:off x="667260" y="1280160"/>
            <a:ext cx="10857479" cy="1762298"/>
          </a:xfrm>
        </p:spPr>
        <p:txBody>
          <a:bodyPr>
            <a:normAutofit/>
          </a:bodyPr>
          <a:lstStyle>
            <a:lvl1pPr marL="0" indent="0" algn="l">
              <a:buNone/>
              <a:defRPr sz="6600" b="1"/>
            </a:lvl1pPr>
          </a:lstStyle>
          <a:p>
            <a:pPr lvl="0"/>
            <a:r>
              <a:rPr lang="en-GB" dirty="0"/>
              <a:t>Insert your question here</a:t>
            </a:r>
          </a:p>
        </p:txBody>
      </p:sp>
      <p:sp>
        <p:nvSpPr>
          <p:cNvPr id="10" name="Text Placeholder 9">
            <a:extLst>
              <a:ext uri="{FF2B5EF4-FFF2-40B4-BE49-F238E27FC236}">
                <a16:creationId xmlns:a16="http://schemas.microsoft.com/office/drawing/2014/main" id="{2E40453F-B3F6-3134-F92A-D18CCA53BE29}"/>
              </a:ext>
            </a:extLst>
          </p:cNvPr>
          <p:cNvSpPr>
            <a:spLocks noGrp="1"/>
          </p:cNvSpPr>
          <p:nvPr>
            <p:ph type="body" sz="quarter" idx="14" hasCustomPrompt="1"/>
          </p:nvPr>
        </p:nvSpPr>
        <p:spPr>
          <a:xfrm>
            <a:off x="661987" y="3406775"/>
            <a:ext cx="10857479" cy="1834825"/>
          </a:xfrm>
        </p:spPr>
        <p:txBody>
          <a:bodyPr>
            <a:normAutofit/>
          </a:bodyPr>
          <a:lstStyle>
            <a:lvl1pPr marL="0" indent="0" algn="l">
              <a:buNone/>
              <a:defRPr sz="4000"/>
            </a:lvl1pPr>
          </a:lstStyle>
          <a:p>
            <a:pPr lvl="0"/>
            <a:r>
              <a:rPr lang="en-GB" dirty="0"/>
              <a:t>Insert (optional) answer here</a:t>
            </a:r>
          </a:p>
        </p:txBody>
      </p:sp>
      <p:sp>
        <p:nvSpPr>
          <p:cNvPr id="11" name="Rectangle 10">
            <a:extLst>
              <a:ext uri="{FF2B5EF4-FFF2-40B4-BE49-F238E27FC236}">
                <a16:creationId xmlns:a16="http://schemas.microsoft.com/office/drawing/2014/main" id="{0D109AA8-7BF1-F6F9-1EAD-F1E71B99A970}"/>
              </a:ext>
            </a:extLst>
          </p:cNvPr>
          <p:cNvSpPr/>
          <p:nvPr/>
        </p:nvSpPr>
        <p:spPr>
          <a:xfrm>
            <a:off x="667260" y="488475"/>
            <a:ext cx="3479940" cy="67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5400" b="1" dirty="0">
                <a:solidFill>
                  <a:schemeClr val="accent1"/>
                </a:solidFill>
              </a:rPr>
              <a:t>Question:</a:t>
            </a:r>
          </a:p>
        </p:txBody>
      </p:sp>
      <p:pic>
        <p:nvPicPr>
          <p:cNvPr id="5" name="Graphic 4">
            <a:extLst>
              <a:ext uri="{FF2B5EF4-FFF2-40B4-BE49-F238E27FC236}">
                <a16:creationId xmlns:a16="http://schemas.microsoft.com/office/drawing/2014/main" id="{7D358821-B7C8-E1A4-CBD0-28E313CEE14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519731" y="6264067"/>
            <a:ext cx="672269" cy="593932"/>
          </a:xfrm>
          <a:prstGeom prst="rect">
            <a:avLst/>
          </a:prstGeom>
        </p:spPr>
      </p:pic>
      <p:pic>
        <p:nvPicPr>
          <p:cNvPr id="7" name="Graphic 6">
            <a:extLst>
              <a:ext uri="{FF2B5EF4-FFF2-40B4-BE49-F238E27FC236}">
                <a16:creationId xmlns:a16="http://schemas.microsoft.com/office/drawing/2014/main" id="{8605F5D3-9E49-AAF0-A083-D9F506548D7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93077" y="1082625"/>
            <a:ext cx="6349721" cy="5775375"/>
          </a:xfrm>
          <a:prstGeom prst="rect">
            <a:avLst/>
          </a:prstGeom>
        </p:spPr>
      </p:pic>
      <p:sp>
        <p:nvSpPr>
          <p:cNvPr id="9" name="Rectangle 8">
            <a:extLst>
              <a:ext uri="{FF2B5EF4-FFF2-40B4-BE49-F238E27FC236}">
                <a16:creationId xmlns:a16="http://schemas.microsoft.com/office/drawing/2014/main" id="{D3E317F5-63E5-EB03-3994-8939746830F7}"/>
              </a:ext>
            </a:extLst>
          </p:cNvPr>
          <p:cNvSpPr/>
          <p:nvPr userDrawn="1"/>
        </p:nvSpPr>
        <p:spPr>
          <a:xfrm>
            <a:off x="667260" y="488475"/>
            <a:ext cx="3479940" cy="67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5400" b="1" dirty="0">
                <a:solidFill>
                  <a:schemeClr val="accent1"/>
                </a:solidFill>
              </a:rPr>
              <a:t>Question:</a:t>
            </a:r>
          </a:p>
        </p:txBody>
      </p:sp>
    </p:spTree>
    <p:extLst>
      <p:ext uri="{BB962C8B-B14F-4D97-AF65-F5344CB8AC3E}">
        <p14:creationId xmlns:p14="http://schemas.microsoft.com/office/powerpoint/2010/main" val="2511505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 presetClass="entr" presetSubtype="0" fill="hold" nodeType="clickEffect">
                  <p:stCondLst>
                    <p:cond delay="0"/>
                  </p:stCondLst>
                  <p:childTnLst>
                    <p:set>
                      <p:cBhvr>
                        <p:cTn dur="1" fill="hold">
                          <p:stCondLst>
                            <p:cond delay="0"/>
                          </p:stCondLst>
                        </p:cTn>
                        <p:tgtEl>
                          <p:spTgt spid="10"/>
                        </p:tgtEl>
                        <p:attrNameLst>
                          <p:attrName>style.visibility</p:attrName>
                        </p:attrNameLst>
                      </p:cBhvr>
                      <p:to>
                        <p:strVal val="visible"/>
                      </p:to>
                    </p:se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ctivity">
    <p:bg>
      <p:bgPr>
        <a:solidFill>
          <a:schemeClr val="bg2">
            <a:lumMod val="25000"/>
          </a:scheme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87948E-B686-3229-0457-44EFE74620B4}"/>
              </a:ext>
            </a:extLst>
          </p:cNvPr>
          <p:cNvSpPr>
            <a:spLocks noGrp="1"/>
          </p:cNvSpPr>
          <p:nvPr>
            <p:ph type="dt" sz="half" idx="10"/>
          </p:nvPr>
        </p:nvSpPr>
        <p:spPr/>
        <p:txBody>
          <a:bodyPr/>
          <a:lstStyle/>
          <a:p>
            <a:fld id="{1EFA4326-4895-44AC-9425-C7B5345226E8}" type="datetime1">
              <a:rPr lang="en-GB" smtClean="0"/>
              <a:t>15/01/2026</a:t>
            </a:fld>
            <a:endParaRPr lang="en-GB"/>
          </a:p>
        </p:txBody>
      </p:sp>
      <p:sp>
        <p:nvSpPr>
          <p:cNvPr id="3" name="Footer Placeholder 2">
            <a:extLst>
              <a:ext uri="{FF2B5EF4-FFF2-40B4-BE49-F238E27FC236}">
                <a16:creationId xmlns:a16="http://schemas.microsoft.com/office/drawing/2014/main" id="{1CD204DE-59A9-EB73-9091-37A1FE91181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35015B5-13A4-9E6F-092C-64F8E1507024}"/>
              </a:ext>
            </a:extLst>
          </p:cNvPr>
          <p:cNvSpPr>
            <a:spLocks noGrp="1"/>
          </p:cNvSpPr>
          <p:nvPr>
            <p:ph type="sldNum" sz="quarter" idx="12"/>
          </p:nvPr>
        </p:nvSpPr>
        <p:spPr/>
        <p:txBody>
          <a:bodyPr/>
          <a:lstStyle/>
          <a:p>
            <a:fld id="{F74D7E6C-9B20-4593-B18C-8D2C7BEEFCA2}" type="slidenum">
              <a:rPr lang="en-GB" smtClean="0"/>
              <a:t>‹#›</a:t>
            </a:fld>
            <a:endParaRPr lang="en-GB"/>
          </a:p>
        </p:txBody>
      </p:sp>
      <p:sp>
        <p:nvSpPr>
          <p:cNvPr id="8" name="Text Placeholder 7">
            <a:extLst>
              <a:ext uri="{FF2B5EF4-FFF2-40B4-BE49-F238E27FC236}">
                <a16:creationId xmlns:a16="http://schemas.microsoft.com/office/drawing/2014/main" id="{7FCE627A-F761-44D6-BDC1-B77CF47DC02C}"/>
              </a:ext>
            </a:extLst>
          </p:cNvPr>
          <p:cNvSpPr>
            <a:spLocks noGrp="1"/>
          </p:cNvSpPr>
          <p:nvPr>
            <p:ph type="body" sz="quarter" idx="13" hasCustomPrompt="1"/>
          </p:nvPr>
        </p:nvSpPr>
        <p:spPr>
          <a:xfrm>
            <a:off x="667261" y="1284900"/>
            <a:ext cx="10857479" cy="4849500"/>
          </a:xfrm>
        </p:spPr>
        <p:txBody>
          <a:bodyPr>
            <a:normAutofit/>
          </a:bodyPr>
          <a:lstStyle>
            <a:lvl1pPr marL="0" indent="0" algn="l">
              <a:buNone/>
              <a:defRPr sz="4800" b="1"/>
            </a:lvl1pPr>
          </a:lstStyle>
          <a:p>
            <a:pPr lvl="0"/>
            <a:r>
              <a:rPr lang="en-GB" dirty="0"/>
              <a:t>Insert your activity instructions here</a:t>
            </a:r>
          </a:p>
        </p:txBody>
      </p:sp>
      <p:sp>
        <p:nvSpPr>
          <p:cNvPr id="5" name="Rectangle 4">
            <a:extLst>
              <a:ext uri="{FF2B5EF4-FFF2-40B4-BE49-F238E27FC236}">
                <a16:creationId xmlns:a16="http://schemas.microsoft.com/office/drawing/2014/main" id="{5B5B87D8-E650-A843-E391-E5770D5B560C}"/>
              </a:ext>
            </a:extLst>
          </p:cNvPr>
          <p:cNvSpPr/>
          <p:nvPr/>
        </p:nvSpPr>
        <p:spPr>
          <a:xfrm>
            <a:off x="667260" y="488475"/>
            <a:ext cx="3479940" cy="67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5400" b="1" dirty="0">
                <a:solidFill>
                  <a:schemeClr val="accent1"/>
                </a:solidFill>
              </a:rPr>
              <a:t>Activity:</a:t>
            </a:r>
          </a:p>
        </p:txBody>
      </p:sp>
      <p:pic>
        <p:nvPicPr>
          <p:cNvPr id="9" name="Graphic 8">
            <a:extLst>
              <a:ext uri="{FF2B5EF4-FFF2-40B4-BE49-F238E27FC236}">
                <a16:creationId xmlns:a16="http://schemas.microsoft.com/office/drawing/2014/main" id="{68CD7ADB-FB1F-D5B1-69C5-9EC9CFD6FA0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72156" y="488475"/>
            <a:ext cx="5711780" cy="6369525"/>
          </a:xfrm>
          <a:prstGeom prst="rect">
            <a:avLst/>
          </a:prstGeom>
        </p:spPr>
      </p:pic>
      <p:pic>
        <p:nvPicPr>
          <p:cNvPr id="6" name="Graphic 5">
            <a:extLst>
              <a:ext uri="{FF2B5EF4-FFF2-40B4-BE49-F238E27FC236}">
                <a16:creationId xmlns:a16="http://schemas.microsoft.com/office/drawing/2014/main" id="{1DC9C921-7D55-5C0A-2C89-26878770481C}"/>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519731" y="6264067"/>
            <a:ext cx="672269" cy="593932"/>
          </a:xfrm>
          <a:prstGeom prst="rect">
            <a:avLst/>
          </a:prstGeom>
        </p:spPr>
      </p:pic>
      <p:sp>
        <p:nvSpPr>
          <p:cNvPr id="7" name="Rectangle 6">
            <a:extLst>
              <a:ext uri="{FF2B5EF4-FFF2-40B4-BE49-F238E27FC236}">
                <a16:creationId xmlns:a16="http://schemas.microsoft.com/office/drawing/2014/main" id="{4CB56C7A-4924-1DBB-823A-82476D2C9547}"/>
              </a:ext>
            </a:extLst>
          </p:cNvPr>
          <p:cNvSpPr/>
          <p:nvPr userDrawn="1"/>
        </p:nvSpPr>
        <p:spPr>
          <a:xfrm>
            <a:off x="667260" y="488475"/>
            <a:ext cx="3479940" cy="67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5400" b="1" dirty="0">
                <a:solidFill>
                  <a:schemeClr val="accent1"/>
                </a:solidFill>
              </a:rPr>
              <a:t>Activity:</a:t>
            </a:r>
          </a:p>
        </p:txBody>
      </p:sp>
      <p:pic>
        <p:nvPicPr>
          <p:cNvPr id="10" name="Graphic 9">
            <a:extLst>
              <a:ext uri="{FF2B5EF4-FFF2-40B4-BE49-F238E27FC236}">
                <a16:creationId xmlns:a16="http://schemas.microsoft.com/office/drawing/2014/main" id="{4B565EA6-97CE-6D11-AFD0-B7F4B9BDD672}"/>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72156" y="488475"/>
            <a:ext cx="5711780" cy="6369525"/>
          </a:xfrm>
          <a:prstGeom prst="rect">
            <a:avLst/>
          </a:prstGeom>
        </p:spPr>
      </p:pic>
    </p:spTree>
    <p:extLst>
      <p:ext uri="{BB962C8B-B14F-4D97-AF65-F5344CB8AC3E}">
        <p14:creationId xmlns:p14="http://schemas.microsoft.com/office/powerpoint/2010/main" val="1732640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B4C25-5530-ED44-E2F8-57CE545C3E7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B0E5722-1DA3-6763-C076-255D4B78BB8E}"/>
              </a:ext>
            </a:extLst>
          </p:cNvPr>
          <p:cNvSpPr>
            <a:spLocks noGrp="1"/>
          </p:cNvSpPr>
          <p:nvPr>
            <p:ph type="dt" sz="half" idx="10"/>
          </p:nvPr>
        </p:nvSpPr>
        <p:spPr/>
        <p:txBody>
          <a:bodyPr/>
          <a:lstStyle/>
          <a:p>
            <a:fld id="{9313FAF7-3174-4F0E-A596-9B9474D3F723}" type="datetime1">
              <a:rPr lang="en-GB" smtClean="0"/>
              <a:t>15/01/2026</a:t>
            </a:fld>
            <a:endParaRPr lang="en-GB"/>
          </a:p>
        </p:txBody>
      </p:sp>
      <p:sp>
        <p:nvSpPr>
          <p:cNvPr id="4" name="Footer Placeholder 3">
            <a:extLst>
              <a:ext uri="{FF2B5EF4-FFF2-40B4-BE49-F238E27FC236}">
                <a16:creationId xmlns:a16="http://schemas.microsoft.com/office/drawing/2014/main" id="{6E4630BB-9338-5B3C-4554-C11FC9ED3BD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BFC6DC6-CE32-5480-1402-1C7237D14754}"/>
              </a:ext>
            </a:extLst>
          </p:cNvPr>
          <p:cNvSpPr>
            <a:spLocks noGrp="1"/>
          </p:cNvSpPr>
          <p:nvPr>
            <p:ph type="sldNum" sz="quarter" idx="12"/>
          </p:nvPr>
        </p:nvSpPr>
        <p:spPr/>
        <p:txBody>
          <a:bodyPr/>
          <a:lstStyle/>
          <a:p>
            <a:fld id="{F74D7E6C-9B20-4593-B18C-8D2C7BEEFCA2}" type="slidenum">
              <a:rPr lang="en-GB" smtClean="0"/>
              <a:t>‹#›</a:t>
            </a:fld>
            <a:endParaRPr lang="en-GB"/>
          </a:p>
        </p:txBody>
      </p:sp>
    </p:spTree>
    <p:extLst>
      <p:ext uri="{BB962C8B-B14F-4D97-AF65-F5344CB8AC3E}">
        <p14:creationId xmlns:p14="http://schemas.microsoft.com/office/powerpoint/2010/main" val="3124906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87948E-B686-3229-0457-44EFE74620B4}"/>
              </a:ext>
            </a:extLst>
          </p:cNvPr>
          <p:cNvSpPr>
            <a:spLocks noGrp="1"/>
          </p:cNvSpPr>
          <p:nvPr>
            <p:ph type="dt" sz="half" idx="10"/>
          </p:nvPr>
        </p:nvSpPr>
        <p:spPr/>
        <p:txBody>
          <a:bodyPr/>
          <a:lstStyle/>
          <a:p>
            <a:fld id="{A24F3CBB-A976-4321-AB25-FE2E1A6F9EA4}" type="datetime1">
              <a:rPr lang="en-GB" smtClean="0"/>
              <a:t>15/01/2026</a:t>
            </a:fld>
            <a:endParaRPr lang="en-GB"/>
          </a:p>
        </p:txBody>
      </p:sp>
      <p:sp>
        <p:nvSpPr>
          <p:cNvPr id="3" name="Footer Placeholder 2">
            <a:extLst>
              <a:ext uri="{FF2B5EF4-FFF2-40B4-BE49-F238E27FC236}">
                <a16:creationId xmlns:a16="http://schemas.microsoft.com/office/drawing/2014/main" id="{1CD204DE-59A9-EB73-9091-37A1FE91181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35015B5-13A4-9E6F-092C-64F8E1507024}"/>
              </a:ext>
            </a:extLst>
          </p:cNvPr>
          <p:cNvSpPr>
            <a:spLocks noGrp="1"/>
          </p:cNvSpPr>
          <p:nvPr>
            <p:ph type="sldNum" sz="quarter" idx="12"/>
          </p:nvPr>
        </p:nvSpPr>
        <p:spPr/>
        <p:txBody>
          <a:bodyPr/>
          <a:lstStyle/>
          <a:p>
            <a:fld id="{F74D7E6C-9B20-4593-B18C-8D2C7BEEFCA2}" type="slidenum">
              <a:rPr lang="en-GB" smtClean="0"/>
              <a:t>‹#›</a:t>
            </a:fld>
            <a:endParaRPr lang="en-GB"/>
          </a:p>
        </p:txBody>
      </p:sp>
      <p:pic>
        <p:nvPicPr>
          <p:cNvPr id="5" name="Graphic 4">
            <a:extLst>
              <a:ext uri="{FF2B5EF4-FFF2-40B4-BE49-F238E27FC236}">
                <a16:creationId xmlns:a16="http://schemas.microsoft.com/office/drawing/2014/main" id="{EDF2AD44-6ABF-8E9F-04B4-9365644ACF4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19731" y="6264067"/>
            <a:ext cx="672269" cy="593932"/>
          </a:xfrm>
          <a:prstGeom prst="rect">
            <a:avLst/>
          </a:prstGeom>
        </p:spPr>
      </p:pic>
    </p:spTree>
    <p:extLst>
      <p:ext uri="{BB962C8B-B14F-4D97-AF65-F5344CB8AC3E}">
        <p14:creationId xmlns:p14="http://schemas.microsoft.com/office/powerpoint/2010/main" val="4236473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4.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A254F4-F4A4-BF0D-A62A-9D032055A082}"/>
              </a:ext>
            </a:extLst>
          </p:cNvPr>
          <p:cNvSpPr>
            <a:spLocks noGrp="1"/>
          </p:cNvSpPr>
          <p:nvPr>
            <p:ph type="title"/>
          </p:nvPr>
        </p:nvSpPr>
        <p:spPr>
          <a:xfrm>
            <a:off x="323851" y="136526"/>
            <a:ext cx="8286750" cy="920749"/>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982C9BE5-C9D4-CBDC-1B4D-032B1B106E15}"/>
              </a:ext>
            </a:extLst>
          </p:cNvPr>
          <p:cNvSpPr>
            <a:spLocks noGrp="1"/>
          </p:cNvSpPr>
          <p:nvPr>
            <p:ph type="body" idx="1"/>
          </p:nvPr>
        </p:nvSpPr>
        <p:spPr>
          <a:xfrm>
            <a:off x="323850" y="1485900"/>
            <a:ext cx="11563350" cy="487045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DBA8BFF3-79D1-4363-6C02-DE2704634D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29FFA8-3186-4C0E-9F77-F9BCEAB768E7}" type="datetime1">
              <a:rPr lang="en-GB" smtClean="0"/>
              <a:t>15/01/2026</a:t>
            </a:fld>
            <a:endParaRPr lang="en-GB"/>
          </a:p>
        </p:txBody>
      </p:sp>
      <p:sp>
        <p:nvSpPr>
          <p:cNvPr id="5" name="Footer Placeholder 4">
            <a:extLst>
              <a:ext uri="{FF2B5EF4-FFF2-40B4-BE49-F238E27FC236}">
                <a16:creationId xmlns:a16="http://schemas.microsoft.com/office/drawing/2014/main" id="{2C4A972A-FDC7-9B8E-6021-E29884C413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46C8F1D4-537A-8EF6-A731-4CC89C9E3234}"/>
              </a:ext>
            </a:extLst>
          </p:cNvPr>
          <p:cNvSpPr>
            <a:spLocks noGrp="1"/>
          </p:cNvSpPr>
          <p:nvPr>
            <p:ph type="sldNum" sz="quarter" idx="4"/>
          </p:nvPr>
        </p:nvSpPr>
        <p:spPr>
          <a:xfrm>
            <a:off x="11662517" y="6378470"/>
            <a:ext cx="449366"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fld id="{F74D7E6C-9B20-4593-B18C-8D2C7BEEFCA2}" type="slidenum">
              <a:rPr lang="en-GB" smtClean="0"/>
              <a:pPr/>
              <a:t>‹#›</a:t>
            </a:fld>
            <a:endParaRPr lang="en-GB" dirty="0"/>
          </a:p>
        </p:txBody>
      </p:sp>
      <p:pic>
        <p:nvPicPr>
          <p:cNvPr id="10" name="Picture 9" descr="Shape&#10;&#10;Description automatically generated with medium confidence">
            <a:extLst>
              <a:ext uri="{FF2B5EF4-FFF2-40B4-BE49-F238E27FC236}">
                <a16:creationId xmlns:a16="http://schemas.microsoft.com/office/drawing/2014/main" id="{B60792E6-5506-7DB5-3F4B-BC188EC0472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196675" y="190701"/>
            <a:ext cx="2580700" cy="649898"/>
          </a:xfrm>
          <a:prstGeom prst="rect">
            <a:avLst/>
          </a:prstGeom>
        </p:spPr>
      </p:pic>
      <p:pic>
        <p:nvPicPr>
          <p:cNvPr id="12" name="Picture 11">
            <a:extLst>
              <a:ext uri="{FF2B5EF4-FFF2-40B4-BE49-F238E27FC236}">
                <a16:creationId xmlns:a16="http://schemas.microsoft.com/office/drawing/2014/main" id="{77EAE286-FEED-E36D-73C8-4586403B72B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525" y="894774"/>
            <a:ext cx="12192000" cy="438150"/>
          </a:xfrm>
          <a:prstGeom prst="rect">
            <a:avLst/>
          </a:prstGeom>
        </p:spPr>
      </p:pic>
      <p:pic>
        <p:nvPicPr>
          <p:cNvPr id="7" name="Graphic 6">
            <a:extLst>
              <a:ext uri="{FF2B5EF4-FFF2-40B4-BE49-F238E27FC236}">
                <a16:creationId xmlns:a16="http://schemas.microsoft.com/office/drawing/2014/main" id="{FB228458-2276-8AA6-57CC-003822148253}"/>
              </a:ext>
            </a:extLst>
          </p:cNvPr>
          <p:cNvPicPr>
            <a:picLocks noChangeAspect="1"/>
          </p:cNvPicPr>
          <p:nvPr userDrawn="1"/>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1519731" y="6264067"/>
            <a:ext cx="672269" cy="593932"/>
          </a:xfrm>
          <a:prstGeom prst="rect">
            <a:avLst/>
          </a:prstGeom>
        </p:spPr>
      </p:pic>
      <p:pic>
        <p:nvPicPr>
          <p:cNvPr id="8" name="Picture 7">
            <a:extLst>
              <a:ext uri="{FF2B5EF4-FFF2-40B4-BE49-F238E27FC236}">
                <a16:creationId xmlns:a16="http://schemas.microsoft.com/office/drawing/2014/main" id="{14D652FA-A460-9E8F-B2DC-6ECC61DE8659}"/>
              </a:ext>
            </a:extLst>
          </p:cNvPr>
          <p:cNvPicPr>
            <a:picLocks noChangeAspect="1"/>
          </p:cNvPicPr>
          <p:nvPr userDrawn="1"/>
        </p:nvPicPr>
        <p:blipFill>
          <a:blip r:embed="rId14">
            <a:extLst>
              <a:ext uri="{28A0092B-C50C-407E-A947-70E740481C1C}">
                <a14:useLocalDpi xmlns:a14="http://schemas.microsoft.com/office/drawing/2010/main" val="0"/>
              </a:ext>
            </a:extLst>
          </a:blip>
          <a:srcRect/>
          <a:stretch/>
        </p:blipFill>
        <p:spPr>
          <a:xfrm>
            <a:off x="9196675" y="190701"/>
            <a:ext cx="2580699" cy="649898"/>
          </a:xfrm>
          <a:prstGeom prst="rect">
            <a:avLst/>
          </a:prstGeom>
        </p:spPr>
      </p:pic>
      <p:pic>
        <p:nvPicPr>
          <p:cNvPr id="9" name="Picture 8">
            <a:extLst>
              <a:ext uri="{FF2B5EF4-FFF2-40B4-BE49-F238E27FC236}">
                <a16:creationId xmlns:a16="http://schemas.microsoft.com/office/drawing/2014/main" id="{726B5D40-E3E5-B058-3C2B-E1AF3D40036D}"/>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9525" y="894774"/>
            <a:ext cx="12192000" cy="438150"/>
          </a:xfrm>
          <a:prstGeom prst="rect">
            <a:avLst/>
          </a:prstGeom>
        </p:spPr>
      </p:pic>
    </p:spTree>
    <p:extLst>
      <p:ext uri="{BB962C8B-B14F-4D97-AF65-F5344CB8AC3E}">
        <p14:creationId xmlns:p14="http://schemas.microsoft.com/office/powerpoint/2010/main" val="2255860780"/>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Lst>
  <p:hf hdr="0" ftr="0" dt="0"/>
  <p:txStyles>
    <p:titleStyle>
      <a:lvl1pPr algn="l" defTabSz="914400" rtl="0" eaLnBrk="1" latinLnBrk="0" hangingPunct="1">
        <a:lnSpc>
          <a:spcPct val="90000"/>
        </a:lnSpc>
        <a:spcBef>
          <a:spcPct val="0"/>
        </a:spcBef>
        <a:buNone/>
        <a:defRPr sz="4400" kern="1200">
          <a:solidFill>
            <a:schemeClr val="bg1">
              <a:lumMod val="9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6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www.tylervigen.com/spurious-correlations"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keboola.com/blog/linear-regression-machine-learning" TargetMode="External"/><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www.digitalvidya.com/blog/regression-analysis/" TargetMode="External"/><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scikit-learn.org/stable/" TargetMode="Externa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hyperlink" Target="https://stats.stackexchange.com/questions/12900/when-is-r-squared-negative" TargetMode="External"/><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hyperlink" Target="https://www.baeldung.com/cs/ml-underfitting-overfitting" TargetMode="External"/><Relationship Id="rId2" Type="http://schemas.openxmlformats.org/officeDocument/2006/relationships/image" Target="../media/image36.png"/><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chrisjmccormick.wordpress.com/2013/07/31/k-fold-cross-validation-with-matlab-code/" TargetMode="External"/><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307AC-9FDE-FDED-2F40-41A1A9C985B7}"/>
              </a:ext>
            </a:extLst>
          </p:cNvPr>
          <p:cNvSpPr>
            <a:spLocks noGrp="1"/>
          </p:cNvSpPr>
          <p:nvPr>
            <p:ph type="title"/>
          </p:nvPr>
        </p:nvSpPr>
        <p:spPr/>
        <p:txBody>
          <a:bodyPr/>
          <a:lstStyle/>
          <a:p>
            <a:r>
              <a:rPr lang="en-GB" dirty="0"/>
              <a:t>Recap</a:t>
            </a:r>
          </a:p>
        </p:txBody>
      </p:sp>
      <p:sp>
        <p:nvSpPr>
          <p:cNvPr id="3" name="Text Placeholder 2">
            <a:extLst>
              <a:ext uri="{FF2B5EF4-FFF2-40B4-BE49-F238E27FC236}">
                <a16:creationId xmlns:a16="http://schemas.microsoft.com/office/drawing/2014/main" id="{AC8E3DD6-3F9D-A376-91FC-1F078D288C4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2E542A6-A6C0-8649-60AE-5037F49550BF}"/>
              </a:ext>
            </a:extLst>
          </p:cNvPr>
          <p:cNvSpPr>
            <a:spLocks noGrp="1"/>
          </p:cNvSpPr>
          <p:nvPr>
            <p:ph type="sldNum" sz="quarter" idx="12"/>
          </p:nvPr>
        </p:nvSpPr>
        <p:spPr/>
        <p:txBody>
          <a:bodyPr/>
          <a:lstStyle/>
          <a:p>
            <a:fld id="{F74D7E6C-9B20-4593-B18C-8D2C7BEEFCA2}" type="slidenum">
              <a:rPr lang="en-GB" smtClean="0"/>
              <a:t>1</a:t>
            </a:fld>
            <a:endParaRPr lang="en-GB"/>
          </a:p>
        </p:txBody>
      </p:sp>
    </p:spTree>
    <p:extLst>
      <p:ext uri="{BB962C8B-B14F-4D97-AF65-F5344CB8AC3E}">
        <p14:creationId xmlns:p14="http://schemas.microsoft.com/office/powerpoint/2010/main" val="2893130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110D1-6F83-E112-A7E3-A1BEA8FEEB0C}"/>
              </a:ext>
            </a:extLst>
          </p:cNvPr>
          <p:cNvSpPr>
            <a:spLocks noGrp="1"/>
          </p:cNvSpPr>
          <p:nvPr>
            <p:ph type="title"/>
          </p:nvPr>
        </p:nvSpPr>
        <p:spPr/>
        <p:txBody>
          <a:bodyPr/>
          <a:lstStyle/>
          <a:p>
            <a:r>
              <a:rPr lang="en-GB" dirty="0"/>
              <a:t>What is a model?</a:t>
            </a:r>
          </a:p>
        </p:txBody>
      </p:sp>
      <p:sp>
        <p:nvSpPr>
          <p:cNvPr id="4" name="Slide Number Placeholder 3">
            <a:extLst>
              <a:ext uri="{FF2B5EF4-FFF2-40B4-BE49-F238E27FC236}">
                <a16:creationId xmlns:a16="http://schemas.microsoft.com/office/drawing/2014/main" id="{79CC3E28-7D42-C241-F4D6-55939ABC4AFE}"/>
              </a:ext>
            </a:extLst>
          </p:cNvPr>
          <p:cNvSpPr>
            <a:spLocks noGrp="1"/>
          </p:cNvSpPr>
          <p:nvPr>
            <p:ph type="sldNum" sz="quarter" idx="12"/>
          </p:nvPr>
        </p:nvSpPr>
        <p:spPr/>
        <p:txBody>
          <a:bodyPr/>
          <a:lstStyle/>
          <a:p>
            <a:fld id="{F74D7E6C-9B20-4593-B18C-8D2C7BEEFCA2}" type="slidenum">
              <a:rPr lang="en-GB" smtClean="0"/>
              <a:t>2</a:t>
            </a:fld>
            <a:endParaRPr lang="en-GB"/>
          </a:p>
        </p:txBody>
      </p:sp>
      <p:sp>
        <p:nvSpPr>
          <p:cNvPr id="5" name="Rectangle 4">
            <a:extLst>
              <a:ext uri="{FF2B5EF4-FFF2-40B4-BE49-F238E27FC236}">
                <a16:creationId xmlns:a16="http://schemas.microsoft.com/office/drawing/2014/main" id="{DAE55A69-6B38-74FB-847F-C5A79A90FF9E}"/>
              </a:ext>
            </a:extLst>
          </p:cNvPr>
          <p:cNvSpPr/>
          <p:nvPr/>
        </p:nvSpPr>
        <p:spPr>
          <a:xfrm>
            <a:off x="4421670" y="2040636"/>
            <a:ext cx="3149600" cy="175895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lumMod val="95000"/>
                  </a:schemeClr>
                </a:solidFill>
              </a:rPr>
              <a:t>Computer</a:t>
            </a:r>
            <a:endParaRPr lang="en-GB" sz="2800" b="1" dirty="0">
              <a:solidFill>
                <a:schemeClr val="bg1">
                  <a:lumMod val="95000"/>
                </a:schemeClr>
              </a:solidFill>
            </a:endParaRPr>
          </a:p>
        </p:txBody>
      </p:sp>
      <p:sp>
        <p:nvSpPr>
          <p:cNvPr id="6" name="Rectangle 5">
            <a:extLst>
              <a:ext uri="{FF2B5EF4-FFF2-40B4-BE49-F238E27FC236}">
                <a16:creationId xmlns:a16="http://schemas.microsoft.com/office/drawing/2014/main" id="{1325F908-3D05-B75C-21AF-6B013E9363B4}"/>
              </a:ext>
            </a:extLst>
          </p:cNvPr>
          <p:cNvSpPr/>
          <p:nvPr/>
        </p:nvSpPr>
        <p:spPr>
          <a:xfrm>
            <a:off x="4421670" y="5099050"/>
            <a:ext cx="3149600" cy="175895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lumMod val="95000"/>
                  </a:schemeClr>
                </a:solidFill>
              </a:rPr>
              <a:t>Computer</a:t>
            </a:r>
            <a:endParaRPr lang="en-GB" sz="2800" b="1" dirty="0">
              <a:solidFill>
                <a:schemeClr val="bg1">
                  <a:lumMod val="95000"/>
                </a:schemeClr>
              </a:solidFill>
            </a:endParaRPr>
          </a:p>
        </p:txBody>
      </p:sp>
      <p:sp>
        <p:nvSpPr>
          <p:cNvPr id="7" name="TextBox 6">
            <a:extLst>
              <a:ext uri="{FF2B5EF4-FFF2-40B4-BE49-F238E27FC236}">
                <a16:creationId xmlns:a16="http://schemas.microsoft.com/office/drawing/2014/main" id="{904612EB-8AA5-17E8-2B2E-281E1A046930}"/>
              </a:ext>
            </a:extLst>
          </p:cNvPr>
          <p:cNvSpPr txBox="1"/>
          <p:nvPr/>
        </p:nvSpPr>
        <p:spPr>
          <a:xfrm>
            <a:off x="2591925" y="1289889"/>
            <a:ext cx="6680200" cy="523220"/>
          </a:xfrm>
          <a:prstGeom prst="rect">
            <a:avLst/>
          </a:prstGeom>
          <a:noFill/>
        </p:spPr>
        <p:txBody>
          <a:bodyPr wrap="square" rtlCol="0">
            <a:spAutoFit/>
          </a:bodyPr>
          <a:lstStyle/>
          <a:p>
            <a:pPr algn="ctr"/>
            <a:r>
              <a:rPr lang="en-US" sz="2800" dirty="0">
                <a:solidFill>
                  <a:schemeClr val="accent1"/>
                </a:solidFill>
              </a:rPr>
              <a:t>The traditional programming</a:t>
            </a:r>
            <a:endParaRPr lang="en-GB" sz="2800" dirty="0">
              <a:solidFill>
                <a:schemeClr val="accent1"/>
              </a:solidFill>
            </a:endParaRPr>
          </a:p>
        </p:txBody>
      </p:sp>
      <p:sp>
        <p:nvSpPr>
          <p:cNvPr id="9" name="TextBox 8">
            <a:extLst>
              <a:ext uri="{FF2B5EF4-FFF2-40B4-BE49-F238E27FC236}">
                <a16:creationId xmlns:a16="http://schemas.microsoft.com/office/drawing/2014/main" id="{43A0A81D-65A1-8B58-2842-126C127F3CEA}"/>
              </a:ext>
            </a:extLst>
          </p:cNvPr>
          <p:cNvSpPr txBox="1"/>
          <p:nvPr/>
        </p:nvSpPr>
        <p:spPr>
          <a:xfrm>
            <a:off x="2532884" y="4376048"/>
            <a:ext cx="6680200" cy="523220"/>
          </a:xfrm>
          <a:prstGeom prst="rect">
            <a:avLst/>
          </a:prstGeom>
          <a:noFill/>
        </p:spPr>
        <p:txBody>
          <a:bodyPr wrap="square" rtlCol="0">
            <a:spAutoFit/>
          </a:bodyPr>
          <a:lstStyle/>
          <a:p>
            <a:pPr algn="ctr"/>
            <a:r>
              <a:rPr lang="en-US" sz="2800" dirty="0">
                <a:solidFill>
                  <a:schemeClr val="accent1"/>
                </a:solidFill>
              </a:rPr>
              <a:t>Machine Learning</a:t>
            </a:r>
            <a:endParaRPr lang="en-GB" sz="2800" dirty="0">
              <a:solidFill>
                <a:schemeClr val="accent1"/>
              </a:solidFill>
            </a:endParaRPr>
          </a:p>
        </p:txBody>
      </p:sp>
      <p:sp>
        <p:nvSpPr>
          <p:cNvPr id="10" name="TextBox 9">
            <a:extLst>
              <a:ext uri="{FF2B5EF4-FFF2-40B4-BE49-F238E27FC236}">
                <a16:creationId xmlns:a16="http://schemas.microsoft.com/office/drawing/2014/main" id="{F69450FB-0635-1DFC-840E-8B27436792A8}"/>
              </a:ext>
            </a:extLst>
          </p:cNvPr>
          <p:cNvSpPr txBox="1"/>
          <p:nvPr/>
        </p:nvSpPr>
        <p:spPr>
          <a:xfrm>
            <a:off x="80117" y="2040636"/>
            <a:ext cx="1295400" cy="523220"/>
          </a:xfrm>
          <a:prstGeom prst="rect">
            <a:avLst/>
          </a:prstGeom>
          <a:noFill/>
        </p:spPr>
        <p:txBody>
          <a:bodyPr wrap="square" rtlCol="0">
            <a:spAutoFit/>
          </a:bodyPr>
          <a:lstStyle/>
          <a:p>
            <a:r>
              <a:rPr lang="en-US" sz="2800" dirty="0">
                <a:solidFill>
                  <a:schemeClr val="bg1">
                    <a:lumMod val="95000"/>
                  </a:schemeClr>
                </a:solidFill>
              </a:rPr>
              <a:t>Data</a:t>
            </a:r>
            <a:endParaRPr lang="en-GB" sz="2800" dirty="0">
              <a:solidFill>
                <a:schemeClr val="bg1">
                  <a:lumMod val="95000"/>
                </a:schemeClr>
              </a:solidFill>
            </a:endParaRPr>
          </a:p>
        </p:txBody>
      </p:sp>
      <p:sp>
        <p:nvSpPr>
          <p:cNvPr id="11" name="TextBox 10">
            <a:extLst>
              <a:ext uri="{FF2B5EF4-FFF2-40B4-BE49-F238E27FC236}">
                <a16:creationId xmlns:a16="http://schemas.microsoft.com/office/drawing/2014/main" id="{03484761-1118-F604-F0DD-6E0B3132B6B3}"/>
              </a:ext>
            </a:extLst>
          </p:cNvPr>
          <p:cNvSpPr txBox="1"/>
          <p:nvPr/>
        </p:nvSpPr>
        <p:spPr>
          <a:xfrm>
            <a:off x="80117" y="3036492"/>
            <a:ext cx="2349500" cy="523220"/>
          </a:xfrm>
          <a:prstGeom prst="rect">
            <a:avLst/>
          </a:prstGeom>
          <a:noFill/>
        </p:spPr>
        <p:txBody>
          <a:bodyPr wrap="square" rtlCol="0">
            <a:spAutoFit/>
          </a:bodyPr>
          <a:lstStyle/>
          <a:p>
            <a:r>
              <a:rPr lang="en-US" sz="2800" dirty="0">
                <a:solidFill>
                  <a:schemeClr val="bg1">
                    <a:lumMod val="95000"/>
                  </a:schemeClr>
                </a:solidFill>
              </a:rPr>
              <a:t>Program</a:t>
            </a:r>
            <a:endParaRPr lang="en-GB" sz="2800" dirty="0">
              <a:solidFill>
                <a:schemeClr val="bg1">
                  <a:lumMod val="95000"/>
                </a:schemeClr>
              </a:solidFill>
            </a:endParaRPr>
          </a:p>
        </p:txBody>
      </p:sp>
      <p:sp>
        <p:nvSpPr>
          <p:cNvPr id="15" name="TextBox 14">
            <a:extLst>
              <a:ext uri="{FF2B5EF4-FFF2-40B4-BE49-F238E27FC236}">
                <a16:creationId xmlns:a16="http://schemas.microsoft.com/office/drawing/2014/main" id="{D9ECA26B-68AE-A22C-0D40-25AAA3506849}"/>
              </a:ext>
            </a:extLst>
          </p:cNvPr>
          <p:cNvSpPr txBox="1"/>
          <p:nvPr/>
        </p:nvSpPr>
        <p:spPr>
          <a:xfrm>
            <a:off x="10326385" y="2562674"/>
            <a:ext cx="1701800" cy="523220"/>
          </a:xfrm>
          <a:prstGeom prst="rect">
            <a:avLst/>
          </a:prstGeom>
          <a:noFill/>
        </p:spPr>
        <p:txBody>
          <a:bodyPr wrap="square" rtlCol="0">
            <a:spAutoFit/>
          </a:bodyPr>
          <a:lstStyle/>
          <a:p>
            <a:r>
              <a:rPr lang="en-US" sz="2800" dirty="0">
                <a:solidFill>
                  <a:schemeClr val="bg1">
                    <a:lumMod val="95000"/>
                  </a:schemeClr>
                </a:solidFill>
              </a:rPr>
              <a:t>Output</a:t>
            </a:r>
            <a:endParaRPr lang="en-GB" sz="2800" dirty="0">
              <a:solidFill>
                <a:schemeClr val="bg1">
                  <a:lumMod val="95000"/>
                </a:schemeClr>
              </a:solidFill>
            </a:endParaRPr>
          </a:p>
        </p:txBody>
      </p:sp>
      <p:sp>
        <p:nvSpPr>
          <p:cNvPr id="16" name="TextBox 15">
            <a:extLst>
              <a:ext uri="{FF2B5EF4-FFF2-40B4-BE49-F238E27FC236}">
                <a16:creationId xmlns:a16="http://schemas.microsoft.com/office/drawing/2014/main" id="{C21F4C2F-B991-89AE-C962-367A85FEF423}"/>
              </a:ext>
            </a:extLst>
          </p:cNvPr>
          <p:cNvSpPr txBox="1"/>
          <p:nvPr/>
        </p:nvSpPr>
        <p:spPr>
          <a:xfrm>
            <a:off x="473817" y="5230240"/>
            <a:ext cx="1295400" cy="523220"/>
          </a:xfrm>
          <a:prstGeom prst="rect">
            <a:avLst/>
          </a:prstGeom>
          <a:noFill/>
        </p:spPr>
        <p:txBody>
          <a:bodyPr wrap="square" rtlCol="0">
            <a:spAutoFit/>
          </a:bodyPr>
          <a:lstStyle/>
          <a:p>
            <a:r>
              <a:rPr lang="en-US" sz="2800" dirty="0">
                <a:solidFill>
                  <a:schemeClr val="bg1">
                    <a:lumMod val="95000"/>
                  </a:schemeClr>
                </a:solidFill>
              </a:rPr>
              <a:t>Data</a:t>
            </a:r>
            <a:endParaRPr lang="en-GB" sz="2800" dirty="0">
              <a:solidFill>
                <a:schemeClr val="bg1">
                  <a:lumMod val="95000"/>
                </a:schemeClr>
              </a:solidFill>
            </a:endParaRPr>
          </a:p>
        </p:txBody>
      </p:sp>
      <p:sp>
        <p:nvSpPr>
          <p:cNvPr id="18" name="TextBox 17">
            <a:extLst>
              <a:ext uri="{FF2B5EF4-FFF2-40B4-BE49-F238E27FC236}">
                <a16:creationId xmlns:a16="http://schemas.microsoft.com/office/drawing/2014/main" id="{65DBF068-92D6-1E2E-E22E-710613B64E79}"/>
              </a:ext>
            </a:extLst>
          </p:cNvPr>
          <p:cNvSpPr txBox="1"/>
          <p:nvPr/>
        </p:nvSpPr>
        <p:spPr>
          <a:xfrm>
            <a:off x="80117" y="6142951"/>
            <a:ext cx="1689100" cy="523220"/>
          </a:xfrm>
          <a:prstGeom prst="rect">
            <a:avLst/>
          </a:prstGeom>
          <a:noFill/>
        </p:spPr>
        <p:txBody>
          <a:bodyPr wrap="square" rtlCol="0">
            <a:spAutoFit/>
          </a:bodyPr>
          <a:lstStyle/>
          <a:p>
            <a:r>
              <a:rPr lang="en-US" sz="2800" dirty="0">
                <a:solidFill>
                  <a:schemeClr val="bg1">
                    <a:lumMod val="95000"/>
                  </a:schemeClr>
                </a:solidFill>
              </a:rPr>
              <a:t>Output</a:t>
            </a:r>
            <a:endParaRPr lang="en-GB" sz="2800" dirty="0">
              <a:solidFill>
                <a:schemeClr val="bg1">
                  <a:lumMod val="95000"/>
                </a:schemeClr>
              </a:solidFill>
            </a:endParaRPr>
          </a:p>
        </p:txBody>
      </p:sp>
      <p:sp>
        <p:nvSpPr>
          <p:cNvPr id="21" name="TextBox 20">
            <a:extLst>
              <a:ext uri="{FF2B5EF4-FFF2-40B4-BE49-F238E27FC236}">
                <a16:creationId xmlns:a16="http://schemas.microsoft.com/office/drawing/2014/main" id="{5CB7909F-A6AB-BEEE-B5D4-7CCB62795B73}"/>
              </a:ext>
            </a:extLst>
          </p:cNvPr>
          <p:cNvSpPr txBox="1"/>
          <p:nvPr/>
        </p:nvSpPr>
        <p:spPr>
          <a:xfrm>
            <a:off x="10705672" y="5709857"/>
            <a:ext cx="2019300" cy="523220"/>
          </a:xfrm>
          <a:prstGeom prst="rect">
            <a:avLst/>
          </a:prstGeom>
          <a:noFill/>
        </p:spPr>
        <p:txBody>
          <a:bodyPr wrap="square" rtlCol="0">
            <a:spAutoFit/>
          </a:bodyPr>
          <a:lstStyle/>
          <a:p>
            <a:r>
              <a:rPr lang="en-US" sz="2800" dirty="0">
                <a:solidFill>
                  <a:schemeClr val="bg1">
                    <a:lumMod val="95000"/>
                  </a:schemeClr>
                </a:solidFill>
              </a:rPr>
              <a:t>Program</a:t>
            </a:r>
            <a:endParaRPr lang="en-GB" sz="2800" dirty="0">
              <a:solidFill>
                <a:schemeClr val="bg1">
                  <a:lumMod val="95000"/>
                </a:schemeClr>
              </a:solidFill>
            </a:endParaRPr>
          </a:p>
        </p:txBody>
      </p:sp>
      <p:sp>
        <p:nvSpPr>
          <p:cNvPr id="22" name="TextBox 21">
            <a:extLst>
              <a:ext uri="{FF2B5EF4-FFF2-40B4-BE49-F238E27FC236}">
                <a16:creationId xmlns:a16="http://schemas.microsoft.com/office/drawing/2014/main" id="{E5E18D64-9C01-3289-636F-E237A1DC2139}"/>
              </a:ext>
            </a:extLst>
          </p:cNvPr>
          <p:cNvSpPr txBox="1"/>
          <p:nvPr/>
        </p:nvSpPr>
        <p:spPr>
          <a:xfrm>
            <a:off x="1604304" y="1864415"/>
            <a:ext cx="2927012" cy="400110"/>
          </a:xfrm>
          <a:prstGeom prst="rect">
            <a:avLst/>
          </a:prstGeom>
          <a:noFill/>
        </p:spPr>
        <p:txBody>
          <a:bodyPr wrap="square" rtlCol="0">
            <a:spAutoFit/>
          </a:bodyPr>
          <a:lstStyle/>
          <a:p>
            <a:r>
              <a:rPr lang="en-US" sz="2000" dirty="0">
                <a:solidFill>
                  <a:srgbClr val="FCCA8E"/>
                </a:solidFill>
              </a:rPr>
              <a:t>House Surface = 100 sqm </a:t>
            </a:r>
            <a:endParaRPr lang="en-GB" sz="2000" dirty="0">
              <a:solidFill>
                <a:srgbClr val="FCCA8E"/>
              </a:solidFill>
            </a:endParaRPr>
          </a:p>
        </p:txBody>
      </p:sp>
      <p:sp>
        <p:nvSpPr>
          <p:cNvPr id="23" name="TextBox 22">
            <a:extLst>
              <a:ext uri="{FF2B5EF4-FFF2-40B4-BE49-F238E27FC236}">
                <a16:creationId xmlns:a16="http://schemas.microsoft.com/office/drawing/2014/main" id="{2818D271-2C92-AB2C-C731-E90965DCB7DA}"/>
              </a:ext>
            </a:extLst>
          </p:cNvPr>
          <p:cNvSpPr txBox="1"/>
          <p:nvPr/>
        </p:nvSpPr>
        <p:spPr>
          <a:xfrm>
            <a:off x="1218650" y="2803492"/>
            <a:ext cx="3312666" cy="400110"/>
          </a:xfrm>
          <a:prstGeom prst="rect">
            <a:avLst/>
          </a:prstGeom>
          <a:noFill/>
        </p:spPr>
        <p:txBody>
          <a:bodyPr wrap="square" rtlCol="0">
            <a:spAutoFit/>
          </a:bodyPr>
          <a:lstStyle/>
          <a:p>
            <a:r>
              <a:rPr lang="en-US" sz="2000" dirty="0">
                <a:solidFill>
                  <a:srgbClr val="FCCA8E"/>
                </a:solidFill>
              </a:rPr>
              <a:t>5000 x House Surface = Price</a:t>
            </a:r>
            <a:endParaRPr lang="en-GB" sz="2000" dirty="0">
              <a:solidFill>
                <a:srgbClr val="FCCA8E"/>
              </a:solidFill>
            </a:endParaRPr>
          </a:p>
        </p:txBody>
      </p:sp>
      <p:sp>
        <p:nvSpPr>
          <p:cNvPr id="24" name="TextBox 23">
            <a:extLst>
              <a:ext uri="{FF2B5EF4-FFF2-40B4-BE49-F238E27FC236}">
                <a16:creationId xmlns:a16="http://schemas.microsoft.com/office/drawing/2014/main" id="{03E4228C-2BB5-D659-E260-7BD0A46B1AF8}"/>
              </a:ext>
            </a:extLst>
          </p:cNvPr>
          <p:cNvSpPr txBox="1"/>
          <p:nvPr/>
        </p:nvSpPr>
        <p:spPr>
          <a:xfrm>
            <a:off x="7669999" y="2257856"/>
            <a:ext cx="3204252" cy="400110"/>
          </a:xfrm>
          <a:prstGeom prst="rect">
            <a:avLst/>
          </a:prstGeom>
          <a:noFill/>
        </p:spPr>
        <p:txBody>
          <a:bodyPr wrap="square" rtlCol="0">
            <a:spAutoFit/>
          </a:bodyPr>
          <a:lstStyle/>
          <a:p>
            <a:r>
              <a:rPr lang="en-US" sz="2000" dirty="0">
                <a:solidFill>
                  <a:srgbClr val="FCCA8E"/>
                </a:solidFill>
              </a:rPr>
              <a:t>Price = 500 000 Pounds</a:t>
            </a:r>
            <a:endParaRPr lang="en-GB" sz="2000" dirty="0">
              <a:solidFill>
                <a:srgbClr val="FCCA8E"/>
              </a:solidFill>
            </a:endParaRPr>
          </a:p>
        </p:txBody>
      </p:sp>
      <p:sp>
        <p:nvSpPr>
          <p:cNvPr id="25" name="TextBox 24">
            <a:extLst>
              <a:ext uri="{FF2B5EF4-FFF2-40B4-BE49-F238E27FC236}">
                <a16:creationId xmlns:a16="http://schemas.microsoft.com/office/drawing/2014/main" id="{395AB83B-1BB5-BDC8-EF66-2258587D0FA8}"/>
              </a:ext>
            </a:extLst>
          </p:cNvPr>
          <p:cNvSpPr txBox="1"/>
          <p:nvPr/>
        </p:nvSpPr>
        <p:spPr>
          <a:xfrm>
            <a:off x="1604304" y="5102247"/>
            <a:ext cx="2817366" cy="400110"/>
          </a:xfrm>
          <a:prstGeom prst="rect">
            <a:avLst/>
          </a:prstGeom>
          <a:noFill/>
        </p:spPr>
        <p:txBody>
          <a:bodyPr wrap="square" rtlCol="0">
            <a:spAutoFit/>
          </a:bodyPr>
          <a:lstStyle/>
          <a:p>
            <a:r>
              <a:rPr lang="en-US" sz="2000" dirty="0">
                <a:solidFill>
                  <a:srgbClr val="FCCA8E"/>
                </a:solidFill>
              </a:rPr>
              <a:t>House Surface = 100 sqm </a:t>
            </a:r>
            <a:endParaRPr lang="en-GB" sz="2000" dirty="0">
              <a:solidFill>
                <a:srgbClr val="FCCA8E"/>
              </a:solidFill>
            </a:endParaRPr>
          </a:p>
        </p:txBody>
      </p:sp>
      <p:sp>
        <p:nvSpPr>
          <p:cNvPr id="26" name="TextBox 25">
            <a:extLst>
              <a:ext uri="{FF2B5EF4-FFF2-40B4-BE49-F238E27FC236}">
                <a16:creationId xmlns:a16="http://schemas.microsoft.com/office/drawing/2014/main" id="{56F203CF-2362-83F2-5046-310BEF87DBD9}"/>
              </a:ext>
            </a:extLst>
          </p:cNvPr>
          <p:cNvSpPr txBox="1"/>
          <p:nvPr/>
        </p:nvSpPr>
        <p:spPr>
          <a:xfrm>
            <a:off x="1718604" y="6004016"/>
            <a:ext cx="2774534" cy="400110"/>
          </a:xfrm>
          <a:prstGeom prst="rect">
            <a:avLst/>
          </a:prstGeom>
          <a:noFill/>
        </p:spPr>
        <p:txBody>
          <a:bodyPr wrap="square" rtlCol="0">
            <a:spAutoFit/>
          </a:bodyPr>
          <a:lstStyle/>
          <a:p>
            <a:r>
              <a:rPr lang="en-US" sz="2000" dirty="0">
                <a:solidFill>
                  <a:srgbClr val="FCCA8E"/>
                </a:solidFill>
              </a:rPr>
              <a:t>Price = 500 000 Pounds</a:t>
            </a:r>
            <a:endParaRPr lang="en-GB" sz="2000" dirty="0">
              <a:solidFill>
                <a:srgbClr val="FCCA8E"/>
              </a:solidFill>
            </a:endParaRPr>
          </a:p>
        </p:txBody>
      </p:sp>
      <p:sp>
        <p:nvSpPr>
          <p:cNvPr id="27" name="TextBox 26">
            <a:extLst>
              <a:ext uri="{FF2B5EF4-FFF2-40B4-BE49-F238E27FC236}">
                <a16:creationId xmlns:a16="http://schemas.microsoft.com/office/drawing/2014/main" id="{53ED4A90-32A7-2ACF-2B1C-FE245FDAF5EE}"/>
              </a:ext>
            </a:extLst>
          </p:cNvPr>
          <p:cNvSpPr txBox="1"/>
          <p:nvPr/>
        </p:nvSpPr>
        <p:spPr>
          <a:xfrm>
            <a:off x="7571270" y="5425964"/>
            <a:ext cx="3519424" cy="400110"/>
          </a:xfrm>
          <a:prstGeom prst="rect">
            <a:avLst/>
          </a:prstGeom>
          <a:noFill/>
        </p:spPr>
        <p:txBody>
          <a:bodyPr wrap="square" rtlCol="0">
            <a:spAutoFit/>
          </a:bodyPr>
          <a:lstStyle/>
          <a:p>
            <a:r>
              <a:rPr lang="en-US" sz="2000" dirty="0">
                <a:solidFill>
                  <a:srgbClr val="FCCA8E"/>
                </a:solidFill>
              </a:rPr>
              <a:t>5000 x House Surface = Price</a:t>
            </a:r>
            <a:endParaRPr lang="en-GB" sz="2000" dirty="0">
              <a:solidFill>
                <a:srgbClr val="FCCA8E"/>
              </a:solidFill>
            </a:endParaRPr>
          </a:p>
        </p:txBody>
      </p:sp>
      <p:cxnSp>
        <p:nvCxnSpPr>
          <p:cNvPr id="41" name="Straight Arrow Connector 40">
            <a:extLst>
              <a:ext uri="{FF2B5EF4-FFF2-40B4-BE49-F238E27FC236}">
                <a16:creationId xmlns:a16="http://schemas.microsoft.com/office/drawing/2014/main" id="{FD48AFB6-865E-73A1-8679-A7018254097B}"/>
              </a:ext>
            </a:extLst>
          </p:cNvPr>
          <p:cNvCxnSpPr/>
          <p:nvPr/>
        </p:nvCxnSpPr>
        <p:spPr>
          <a:xfrm>
            <a:off x="1530849" y="2352782"/>
            <a:ext cx="289082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4BD2B82A-4465-EA20-17F8-D23B036657A4}"/>
              </a:ext>
            </a:extLst>
          </p:cNvPr>
          <p:cNvCxnSpPr/>
          <p:nvPr/>
        </p:nvCxnSpPr>
        <p:spPr>
          <a:xfrm>
            <a:off x="1530849" y="3328827"/>
            <a:ext cx="289082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C1D502C-07C2-FB83-B2BA-A8AABE655784}"/>
              </a:ext>
            </a:extLst>
          </p:cNvPr>
          <p:cNvCxnSpPr>
            <a:cxnSpLocks/>
          </p:cNvCxnSpPr>
          <p:nvPr/>
        </p:nvCxnSpPr>
        <p:spPr>
          <a:xfrm>
            <a:off x="7782674" y="2856216"/>
            <a:ext cx="254371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610C5E86-E4E2-1A68-810F-BBD237F3975E}"/>
              </a:ext>
            </a:extLst>
          </p:cNvPr>
          <p:cNvCxnSpPr/>
          <p:nvPr/>
        </p:nvCxnSpPr>
        <p:spPr>
          <a:xfrm>
            <a:off x="1530848" y="5501811"/>
            <a:ext cx="289082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4C483C52-EA3A-4F89-57AF-244265316312}"/>
              </a:ext>
            </a:extLst>
          </p:cNvPr>
          <p:cNvCxnSpPr/>
          <p:nvPr/>
        </p:nvCxnSpPr>
        <p:spPr>
          <a:xfrm>
            <a:off x="1530848" y="6477856"/>
            <a:ext cx="289082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A6C195C-ECD2-FC49-6386-668B012BCDB2}"/>
              </a:ext>
            </a:extLst>
          </p:cNvPr>
          <p:cNvCxnSpPr>
            <a:cxnSpLocks/>
          </p:cNvCxnSpPr>
          <p:nvPr/>
        </p:nvCxnSpPr>
        <p:spPr>
          <a:xfrm>
            <a:off x="7736440" y="5978525"/>
            <a:ext cx="2892175"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3356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5" grpId="0"/>
      <p:bldP spid="16" grpId="0"/>
      <p:bldP spid="18" grpId="0"/>
      <p:bldP spid="21" grpId="0"/>
      <p:bldP spid="22" grpId="0"/>
      <p:bldP spid="23" grpId="0"/>
      <p:bldP spid="24" grpId="0"/>
      <p:bldP spid="25" grpId="0"/>
      <p:bldP spid="26" grpId="0"/>
      <p:bldP spid="2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110D1-6F83-E112-A7E3-A1BEA8FEEB0C}"/>
              </a:ext>
            </a:extLst>
          </p:cNvPr>
          <p:cNvSpPr>
            <a:spLocks noGrp="1"/>
          </p:cNvSpPr>
          <p:nvPr>
            <p:ph type="title"/>
          </p:nvPr>
        </p:nvSpPr>
        <p:spPr/>
        <p:txBody>
          <a:bodyPr/>
          <a:lstStyle/>
          <a:p>
            <a:r>
              <a:rPr lang="en-GB" dirty="0"/>
              <a:t>What is a model?</a:t>
            </a:r>
          </a:p>
        </p:txBody>
      </p:sp>
      <p:sp>
        <p:nvSpPr>
          <p:cNvPr id="4" name="Slide Number Placeholder 3">
            <a:extLst>
              <a:ext uri="{FF2B5EF4-FFF2-40B4-BE49-F238E27FC236}">
                <a16:creationId xmlns:a16="http://schemas.microsoft.com/office/drawing/2014/main" id="{79CC3E28-7D42-C241-F4D6-55939ABC4AFE}"/>
              </a:ext>
            </a:extLst>
          </p:cNvPr>
          <p:cNvSpPr>
            <a:spLocks noGrp="1"/>
          </p:cNvSpPr>
          <p:nvPr>
            <p:ph type="sldNum" sz="quarter" idx="12"/>
          </p:nvPr>
        </p:nvSpPr>
        <p:spPr/>
        <p:txBody>
          <a:bodyPr/>
          <a:lstStyle/>
          <a:p>
            <a:fld id="{F74D7E6C-9B20-4593-B18C-8D2C7BEEFCA2}" type="slidenum">
              <a:rPr lang="en-GB" smtClean="0"/>
              <a:t>3</a:t>
            </a:fld>
            <a:endParaRPr lang="en-GB"/>
          </a:p>
        </p:txBody>
      </p:sp>
      <p:sp>
        <p:nvSpPr>
          <p:cNvPr id="3" name="TextBox 2">
            <a:extLst>
              <a:ext uri="{FF2B5EF4-FFF2-40B4-BE49-F238E27FC236}">
                <a16:creationId xmlns:a16="http://schemas.microsoft.com/office/drawing/2014/main" id="{6B4B75D2-8C38-0F61-8097-DD5162CCE754}"/>
              </a:ext>
            </a:extLst>
          </p:cNvPr>
          <p:cNvSpPr txBox="1"/>
          <p:nvPr/>
        </p:nvSpPr>
        <p:spPr>
          <a:xfrm>
            <a:off x="1028700" y="1164045"/>
            <a:ext cx="10134600" cy="5632311"/>
          </a:xfrm>
          <a:prstGeom prst="rect">
            <a:avLst/>
          </a:prstGeom>
          <a:noFill/>
        </p:spPr>
        <p:txBody>
          <a:bodyPr wrap="square" rtlCol="0">
            <a:spAutoFit/>
          </a:bodyPr>
          <a:lstStyle/>
          <a:p>
            <a:pPr algn="ctr"/>
            <a:r>
              <a:rPr lang="en-US" sz="4000" b="1" dirty="0">
                <a:solidFill>
                  <a:schemeClr val="accent1"/>
                </a:solidFill>
              </a:rPr>
              <a:t>Machine Learning </a:t>
            </a:r>
          </a:p>
          <a:p>
            <a:pPr algn="ctr"/>
            <a:r>
              <a:rPr lang="en-US" sz="4000" dirty="0">
                <a:solidFill>
                  <a:schemeClr val="bg1">
                    <a:lumMod val="95000"/>
                  </a:schemeClr>
                </a:solidFill>
              </a:rPr>
              <a:t>is a field devoted to building </a:t>
            </a:r>
            <a:r>
              <a:rPr lang="en-US" sz="4000" dirty="0">
                <a:solidFill>
                  <a:srgbClr val="FCCA8E"/>
                </a:solidFill>
              </a:rPr>
              <a:t>methods/algorithms </a:t>
            </a:r>
            <a:r>
              <a:rPr lang="en-US" sz="4000" dirty="0">
                <a:solidFill>
                  <a:schemeClr val="bg1">
                    <a:lumMod val="95000"/>
                  </a:schemeClr>
                </a:solidFill>
              </a:rPr>
              <a:t>that </a:t>
            </a:r>
          </a:p>
          <a:p>
            <a:pPr algn="ctr"/>
            <a:endParaRPr lang="en-US" sz="4000" dirty="0">
              <a:solidFill>
                <a:schemeClr val="bg1">
                  <a:lumMod val="95000"/>
                </a:schemeClr>
              </a:solidFill>
            </a:endParaRPr>
          </a:p>
          <a:p>
            <a:pPr algn="ctr"/>
            <a:r>
              <a:rPr lang="en-US" sz="4000" b="1" dirty="0">
                <a:solidFill>
                  <a:srgbClr val="00B050"/>
                </a:solidFill>
              </a:rPr>
              <a:t>learn</a:t>
            </a:r>
            <a:r>
              <a:rPr lang="en-US" sz="4000" dirty="0">
                <a:solidFill>
                  <a:schemeClr val="bg1">
                    <a:lumMod val="95000"/>
                  </a:schemeClr>
                </a:solidFill>
              </a:rPr>
              <a:t> </a:t>
            </a:r>
            <a:r>
              <a:rPr lang="en-US" sz="4000" dirty="0">
                <a:solidFill>
                  <a:srgbClr val="92D050"/>
                </a:solidFill>
              </a:rPr>
              <a:t>based on the data </a:t>
            </a:r>
            <a:r>
              <a:rPr lang="en-US" sz="4000" dirty="0">
                <a:solidFill>
                  <a:schemeClr val="bg1">
                    <a:lumMod val="95000"/>
                  </a:schemeClr>
                </a:solidFill>
              </a:rPr>
              <a:t>and </a:t>
            </a:r>
          </a:p>
          <a:p>
            <a:pPr algn="ctr"/>
            <a:r>
              <a:rPr lang="en-US" sz="4000" b="1" dirty="0">
                <a:solidFill>
                  <a:srgbClr val="00B050"/>
                </a:solidFill>
              </a:rPr>
              <a:t>return</a:t>
            </a:r>
            <a:r>
              <a:rPr lang="en-US" sz="4000" dirty="0">
                <a:solidFill>
                  <a:schemeClr val="bg1">
                    <a:lumMod val="95000"/>
                  </a:schemeClr>
                </a:solidFill>
              </a:rPr>
              <a:t> </a:t>
            </a:r>
            <a:r>
              <a:rPr lang="en-US" sz="4000" dirty="0">
                <a:solidFill>
                  <a:srgbClr val="92D050"/>
                </a:solidFill>
              </a:rPr>
              <a:t>a program/model </a:t>
            </a:r>
          </a:p>
          <a:p>
            <a:pPr algn="ctr"/>
            <a:endParaRPr lang="en-US" sz="4000" dirty="0">
              <a:solidFill>
                <a:schemeClr val="bg1">
                  <a:lumMod val="95000"/>
                </a:schemeClr>
              </a:solidFill>
            </a:endParaRPr>
          </a:p>
          <a:p>
            <a:pPr algn="ctr"/>
            <a:r>
              <a:rPr lang="en-US" sz="4000" dirty="0">
                <a:solidFill>
                  <a:schemeClr val="bg1">
                    <a:lumMod val="95000"/>
                  </a:schemeClr>
                </a:solidFill>
              </a:rPr>
              <a:t>that will </a:t>
            </a:r>
            <a:r>
              <a:rPr lang="en-US" sz="4000" dirty="0" err="1">
                <a:solidFill>
                  <a:schemeClr val="bg1">
                    <a:lumMod val="95000"/>
                  </a:schemeClr>
                </a:solidFill>
              </a:rPr>
              <a:t>automatise</a:t>
            </a:r>
            <a:r>
              <a:rPr lang="en-US" sz="4000" dirty="0">
                <a:solidFill>
                  <a:schemeClr val="bg1">
                    <a:lumMod val="95000"/>
                  </a:schemeClr>
                </a:solidFill>
              </a:rPr>
              <a:t> and improve performance on some tasks.</a:t>
            </a:r>
            <a:endParaRPr lang="en-GB" sz="4000" dirty="0">
              <a:solidFill>
                <a:schemeClr val="bg1">
                  <a:lumMod val="95000"/>
                </a:schemeClr>
              </a:solidFill>
            </a:endParaRPr>
          </a:p>
        </p:txBody>
      </p:sp>
    </p:spTree>
    <p:extLst>
      <p:ext uri="{BB962C8B-B14F-4D97-AF65-F5344CB8AC3E}">
        <p14:creationId xmlns:p14="http://schemas.microsoft.com/office/powerpoint/2010/main" val="3373486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110D1-6F83-E112-A7E3-A1BEA8FEEB0C}"/>
              </a:ext>
            </a:extLst>
          </p:cNvPr>
          <p:cNvSpPr>
            <a:spLocks noGrp="1"/>
          </p:cNvSpPr>
          <p:nvPr>
            <p:ph type="title"/>
          </p:nvPr>
        </p:nvSpPr>
        <p:spPr/>
        <p:txBody>
          <a:bodyPr/>
          <a:lstStyle/>
          <a:p>
            <a:r>
              <a:rPr lang="en-GB" dirty="0"/>
              <a:t>Types of learning</a:t>
            </a:r>
          </a:p>
        </p:txBody>
      </p:sp>
      <p:sp>
        <p:nvSpPr>
          <p:cNvPr id="4" name="Slide Number Placeholder 3">
            <a:extLst>
              <a:ext uri="{FF2B5EF4-FFF2-40B4-BE49-F238E27FC236}">
                <a16:creationId xmlns:a16="http://schemas.microsoft.com/office/drawing/2014/main" id="{79CC3E28-7D42-C241-F4D6-55939ABC4AFE}"/>
              </a:ext>
            </a:extLst>
          </p:cNvPr>
          <p:cNvSpPr>
            <a:spLocks noGrp="1"/>
          </p:cNvSpPr>
          <p:nvPr>
            <p:ph type="sldNum" sz="quarter" idx="12"/>
          </p:nvPr>
        </p:nvSpPr>
        <p:spPr/>
        <p:txBody>
          <a:bodyPr/>
          <a:lstStyle/>
          <a:p>
            <a:fld id="{F74D7E6C-9B20-4593-B18C-8D2C7BEEFCA2}" type="slidenum">
              <a:rPr lang="en-GB" smtClean="0"/>
              <a:t>4</a:t>
            </a:fld>
            <a:endParaRPr lang="en-GB"/>
          </a:p>
        </p:txBody>
      </p:sp>
      <p:pic>
        <p:nvPicPr>
          <p:cNvPr id="5" name="Picture 4" descr="Diagram&#10;&#10;Description automatically generated">
            <a:extLst>
              <a:ext uri="{FF2B5EF4-FFF2-40B4-BE49-F238E27FC236}">
                <a16:creationId xmlns:a16="http://schemas.microsoft.com/office/drawing/2014/main" id="{84147D38-B0C5-ADC3-0C03-5F48309547C6}"/>
              </a:ext>
            </a:extLst>
          </p:cNvPr>
          <p:cNvPicPr>
            <a:picLocks noChangeAspect="1"/>
          </p:cNvPicPr>
          <p:nvPr/>
        </p:nvPicPr>
        <p:blipFill>
          <a:blip r:embed="rId3"/>
          <a:stretch>
            <a:fillRect/>
          </a:stretch>
        </p:blipFill>
        <p:spPr>
          <a:xfrm>
            <a:off x="1223285" y="1364282"/>
            <a:ext cx="9745430" cy="5251067"/>
          </a:xfrm>
          <a:prstGeom prst="rect">
            <a:avLst/>
          </a:prstGeom>
        </p:spPr>
      </p:pic>
    </p:spTree>
    <p:extLst>
      <p:ext uri="{BB962C8B-B14F-4D97-AF65-F5344CB8AC3E}">
        <p14:creationId xmlns:p14="http://schemas.microsoft.com/office/powerpoint/2010/main" val="3048354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75433-8519-8CE5-32E8-9D235CD96413}"/>
              </a:ext>
            </a:extLst>
          </p:cNvPr>
          <p:cNvSpPr>
            <a:spLocks noGrp="1"/>
          </p:cNvSpPr>
          <p:nvPr>
            <p:ph type="title"/>
          </p:nvPr>
        </p:nvSpPr>
        <p:spPr/>
        <p:txBody>
          <a:bodyPr/>
          <a:lstStyle/>
          <a:p>
            <a:r>
              <a:rPr lang="en-GB" dirty="0"/>
              <a:t>Types of problems</a:t>
            </a:r>
          </a:p>
        </p:txBody>
      </p:sp>
      <p:sp>
        <p:nvSpPr>
          <p:cNvPr id="4" name="Slide Number Placeholder 3">
            <a:extLst>
              <a:ext uri="{FF2B5EF4-FFF2-40B4-BE49-F238E27FC236}">
                <a16:creationId xmlns:a16="http://schemas.microsoft.com/office/drawing/2014/main" id="{B2054E09-7E53-E3DA-2775-30B87A7FCBC6}"/>
              </a:ext>
            </a:extLst>
          </p:cNvPr>
          <p:cNvSpPr>
            <a:spLocks noGrp="1"/>
          </p:cNvSpPr>
          <p:nvPr>
            <p:ph type="sldNum" sz="quarter" idx="12"/>
          </p:nvPr>
        </p:nvSpPr>
        <p:spPr/>
        <p:txBody>
          <a:bodyPr/>
          <a:lstStyle/>
          <a:p>
            <a:fld id="{F74D7E6C-9B20-4593-B18C-8D2C7BEEFCA2}" type="slidenum">
              <a:rPr lang="en-GB" smtClean="0"/>
              <a:t>5</a:t>
            </a:fld>
            <a:endParaRPr lang="en-GB"/>
          </a:p>
        </p:txBody>
      </p:sp>
      <p:pic>
        <p:nvPicPr>
          <p:cNvPr id="5" name="Picture 4" descr="Graphical user interface, application&#10;&#10;Description automatically generated">
            <a:extLst>
              <a:ext uri="{FF2B5EF4-FFF2-40B4-BE49-F238E27FC236}">
                <a16:creationId xmlns:a16="http://schemas.microsoft.com/office/drawing/2014/main" id="{F6E69D61-5D5A-C315-6026-D4B4BDFB1C06}"/>
              </a:ext>
            </a:extLst>
          </p:cNvPr>
          <p:cNvPicPr>
            <a:picLocks noChangeAspect="1"/>
          </p:cNvPicPr>
          <p:nvPr/>
        </p:nvPicPr>
        <p:blipFill>
          <a:blip r:embed="rId2"/>
          <a:stretch>
            <a:fillRect/>
          </a:stretch>
        </p:blipFill>
        <p:spPr>
          <a:xfrm>
            <a:off x="5355897" y="1253208"/>
            <a:ext cx="6702539" cy="5405273"/>
          </a:xfrm>
          <a:prstGeom prst="rect">
            <a:avLst/>
          </a:prstGeom>
        </p:spPr>
      </p:pic>
      <p:cxnSp>
        <p:nvCxnSpPr>
          <p:cNvPr id="6" name="Straight Connector 5">
            <a:extLst>
              <a:ext uri="{FF2B5EF4-FFF2-40B4-BE49-F238E27FC236}">
                <a16:creationId xmlns:a16="http://schemas.microsoft.com/office/drawing/2014/main" id="{C604434C-D8B6-CF3B-DA73-612130AE22CA}"/>
              </a:ext>
            </a:extLst>
          </p:cNvPr>
          <p:cNvCxnSpPr>
            <a:cxnSpLocks/>
          </p:cNvCxnSpPr>
          <p:nvPr/>
        </p:nvCxnSpPr>
        <p:spPr>
          <a:xfrm>
            <a:off x="380144" y="3955845"/>
            <a:ext cx="11543016" cy="0"/>
          </a:xfrm>
          <a:prstGeom prst="line">
            <a:avLst/>
          </a:prstGeom>
          <a:ln w="5715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A6F4F80-56A0-C943-DFD7-FFF90A771355}"/>
              </a:ext>
            </a:extLst>
          </p:cNvPr>
          <p:cNvSpPr txBox="1"/>
          <p:nvPr/>
        </p:nvSpPr>
        <p:spPr>
          <a:xfrm>
            <a:off x="133564" y="1476809"/>
            <a:ext cx="5114694" cy="2308324"/>
          </a:xfrm>
          <a:prstGeom prst="rect">
            <a:avLst/>
          </a:prstGeom>
          <a:noFill/>
        </p:spPr>
        <p:txBody>
          <a:bodyPr wrap="square" rtlCol="0">
            <a:spAutoFit/>
          </a:bodyPr>
          <a:lstStyle/>
          <a:p>
            <a:pPr algn="ctr"/>
            <a:r>
              <a:rPr lang="en-US" sz="3600" dirty="0">
                <a:solidFill>
                  <a:schemeClr val="accent1"/>
                </a:solidFill>
              </a:rPr>
              <a:t>Regression</a:t>
            </a:r>
            <a:r>
              <a:rPr lang="en-US" sz="3600" dirty="0">
                <a:solidFill>
                  <a:schemeClr val="bg1">
                    <a:lumMod val="95000"/>
                  </a:schemeClr>
                </a:solidFill>
              </a:rPr>
              <a:t> means to predict an output value which </a:t>
            </a:r>
            <a:r>
              <a:rPr lang="en-US" sz="3600" dirty="0">
                <a:solidFill>
                  <a:srgbClr val="FCCA8E"/>
                </a:solidFill>
              </a:rPr>
              <a:t>should be a </a:t>
            </a:r>
            <a:r>
              <a:rPr lang="en-US" sz="3600" b="1" dirty="0">
                <a:solidFill>
                  <a:srgbClr val="FCCA8E"/>
                </a:solidFill>
              </a:rPr>
              <a:t>real number</a:t>
            </a:r>
            <a:r>
              <a:rPr lang="en-US" sz="3600" dirty="0">
                <a:solidFill>
                  <a:schemeClr val="bg1">
                    <a:lumMod val="95000"/>
                  </a:schemeClr>
                </a:solidFill>
              </a:rPr>
              <a:t>.</a:t>
            </a:r>
          </a:p>
        </p:txBody>
      </p:sp>
      <p:sp>
        <p:nvSpPr>
          <p:cNvPr id="8" name="TextBox 7">
            <a:extLst>
              <a:ext uri="{FF2B5EF4-FFF2-40B4-BE49-F238E27FC236}">
                <a16:creationId xmlns:a16="http://schemas.microsoft.com/office/drawing/2014/main" id="{AC7DC434-64F8-E245-B808-4F1CFB1634CF}"/>
              </a:ext>
            </a:extLst>
          </p:cNvPr>
          <p:cNvSpPr txBox="1"/>
          <p:nvPr/>
        </p:nvSpPr>
        <p:spPr>
          <a:xfrm>
            <a:off x="78292" y="4297270"/>
            <a:ext cx="5075674" cy="2308324"/>
          </a:xfrm>
          <a:prstGeom prst="rect">
            <a:avLst/>
          </a:prstGeom>
          <a:noFill/>
        </p:spPr>
        <p:txBody>
          <a:bodyPr wrap="square" rtlCol="0">
            <a:spAutoFit/>
          </a:bodyPr>
          <a:lstStyle/>
          <a:p>
            <a:pPr algn="ctr"/>
            <a:r>
              <a:rPr lang="en-US" sz="3600" dirty="0">
                <a:solidFill>
                  <a:schemeClr val="accent1"/>
                </a:solidFill>
              </a:rPr>
              <a:t>Classification</a:t>
            </a:r>
            <a:r>
              <a:rPr lang="en-US" sz="3600" dirty="0">
                <a:solidFill>
                  <a:schemeClr val="bg1">
                    <a:lumMod val="95000"/>
                  </a:schemeClr>
                </a:solidFill>
              </a:rPr>
              <a:t> means to predict an output value which </a:t>
            </a:r>
            <a:r>
              <a:rPr lang="en-US" sz="3600" dirty="0">
                <a:solidFill>
                  <a:srgbClr val="FCCA8E"/>
                </a:solidFill>
              </a:rPr>
              <a:t>should be a </a:t>
            </a:r>
            <a:r>
              <a:rPr lang="en-US" sz="3600" b="1" dirty="0">
                <a:solidFill>
                  <a:srgbClr val="FCCA8E"/>
                </a:solidFill>
              </a:rPr>
              <a:t>category</a:t>
            </a:r>
            <a:r>
              <a:rPr lang="en-US" sz="3600" dirty="0">
                <a:solidFill>
                  <a:schemeClr val="bg1">
                    <a:lumMod val="95000"/>
                  </a:schemeClr>
                </a:solidFill>
              </a:rPr>
              <a:t>.</a:t>
            </a:r>
          </a:p>
        </p:txBody>
      </p:sp>
    </p:spTree>
    <p:extLst>
      <p:ext uri="{BB962C8B-B14F-4D97-AF65-F5344CB8AC3E}">
        <p14:creationId xmlns:p14="http://schemas.microsoft.com/office/powerpoint/2010/main" val="1447928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Standard Deviation</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6</a:t>
            </a:fld>
            <a:endParaRPr lang="en-GB"/>
          </a:p>
        </p:txBody>
      </p:sp>
      <p:pic>
        <p:nvPicPr>
          <p:cNvPr id="3" name="Picture 2" descr="A picture containing table&#10;&#10;Description automatically generated">
            <a:extLst>
              <a:ext uri="{FF2B5EF4-FFF2-40B4-BE49-F238E27FC236}">
                <a16:creationId xmlns:a16="http://schemas.microsoft.com/office/drawing/2014/main" id="{04C6FAEA-DF5A-6B55-0DBD-9E73A5DE8950}"/>
              </a:ext>
            </a:extLst>
          </p:cNvPr>
          <p:cNvPicPr>
            <a:picLocks noChangeAspect="1"/>
          </p:cNvPicPr>
          <p:nvPr/>
        </p:nvPicPr>
        <p:blipFill>
          <a:blip r:embed="rId3"/>
          <a:stretch>
            <a:fillRect/>
          </a:stretch>
        </p:blipFill>
        <p:spPr>
          <a:xfrm>
            <a:off x="88829" y="2290620"/>
            <a:ext cx="12023054" cy="2971517"/>
          </a:xfrm>
          <a:prstGeom prst="rect">
            <a:avLst/>
          </a:prstGeom>
        </p:spPr>
      </p:pic>
    </p:spTree>
    <p:extLst>
      <p:ext uri="{BB962C8B-B14F-4D97-AF65-F5344CB8AC3E}">
        <p14:creationId xmlns:p14="http://schemas.microsoft.com/office/powerpoint/2010/main" val="2900273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Covariance and Correlation</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7</a:t>
            </a:fld>
            <a:endParaRPr lang="en-GB"/>
          </a:p>
        </p:txBody>
      </p:sp>
      <p:sp>
        <p:nvSpPr>
          <p:cNvPr id="5" name="TextBox 4">
            <a:extLst>
              <a:ext uri="{FF2B5EF4-FFF2-40B4-BE49-F238E27FC236}">
                <a16:creationId xmlns:a16="http://schemas.microsoft.com/office/drawing/2014/main" id="{D99B9B1F-8611-B98D-7A1A-7327BED4C84B}"/>
              </a:ext>
            </a:extLst>
          </p:cNvPr>
          <p:cNvSpPr txBox="1"/>
          <p:nvPr/>
        </p:nvSpPr>
        <p:spPr>
          <a:xfrm>
            <a:off x="146927" y="1488094"/>
            <a:ext cx="11884652" cy="1569660"/>
          </a:xfrm>
          <a:prstGeom prst="rect">
            <a:avLst/>
          </a:prstGeom>
          <a:noFill/>
        </p:spPr>
        <p:txBody>
          <a:bodyPr wrap="square" rtlCol="0">
            <a:spAutoFit/>
          </a:bodyPr>
          <a:lstStyle/>
          <a:p>
            <a:r>
              <a:rPr lang="en-GB" sz="2400" b="0" i="0" dirty="0">
                <a:solidFill>
                  <a:schemeClr val="accent1"/>
                </a:solidFill>
                <a:effectLst/>
                <a:latin typeface="Helvetica Neue"/>
              </a:rPr>
              <a:t>Covariance</a:t>
            </a:r>
            <a:r>
              <a:rPr lang="en-GB" sz="2400" b="0" i="0" dirty="0">
                <a:solidFill>
                  <a:schemeClr val="bg1">
                    <a:lumMod val="95000"/>
                  </a:schemeClr>
                </a:solidFill>
                <a:effectLst/>
                <a:latin typeface="Helvetica Neue"/>
              </a:rPr>
              <a:t> is a measure of two joint variable variances. Suppose the greater values of one variable mainly correspond with the greater values of the other variable, and the same is for the lesser values. In that case, these variables tend to show similar behaviour. Thus, we will say that our covariance is positive.</a:t>
            </a:r>
            <a:endParaRPr lang="en-GB" sz="2400" dirty="0">
              <a:solidFill>
                <a:schemeClr val="bg1">
                  <a:lumMod val="95000"/>
                </a:schemeClr>
              </a:solidFill>
            </a:endParaRPr>
          </a:p>
        </p:txBody>
      </p:sp>
      <p:pic>
        <p:nvPicPr>
          <p:cNvPr id="6" name="Picture 5">
            <a:extLst>
              <a:ext uri="{FF2B5EF4-FFF2-40B4-BE49-F238E27FC236}">
                <a16:creationId xmlns:a16="http://schemas.microsoft.com/office/drawing/2014/main" id="{C7995737-FA0B-066D-687F-9B3D359D6C06}"/>
              </a:ext>
            </a:extLst>
          </p:cNvPr>
          <p:cNvPicPr>
            <a:picLocks noChangeAspect="1"/>
          </p:cNvPicPr>
          <p:nvPr/>
        </p:nvPicPr>
        <p:blipFill>
          <a:blip r:embed="rId3"/>
          <a:stretch>
            <a:fillRect/>
          </a:stretch>
        </p:blipFill>
        <p:spPr>
          <a:xfrm>
            <a:off x="264364" y="4377991"/>
            <a:ext cx="11663271" cy="1367122"/>
          </a:xfrm>
          <a:prstGeom prst="rect">
            <a:avLst/>
          </a:prstGeom>
        </p:spPr>
      </p:pic>
    </p:spTree>
    <p:extLst>
      <p:ext uri="{BB962C8B-B14F-4D97-AF65-F5344CB8AC3E}">
        <p14:creationId xmlns:p14="http://schemas.microsoft.com/office/powerpoint/2010/main" val="748029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Covariance and Correlation</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8</a:t>
            </a:fld>
            <a:endParaRPr lang="en-GB"/>
          </a:p>
        </p:txBody>
      </p:sp>
      <p:sp>
        <p:nvSpPr>
          <p:cNvPr id="3" name="TextBox 2">
            <a:extLst>
              <a:ext uri="{FF2B5EF4-FFF2-40B4-BE49-F238E27FC236}">
                <a16:creationId xmlns:a16="http://schemas.microsoft.com/office/drawing/2014/main" id="{93763323-9248-8830-440D-1933887431B6}"/>
              </a:ext>
            </a:extLst>
          </p:cNvPr>
          <p:cNvSpPr txBox="1"/>
          <p:nvPr/>
        </p:nvSpPr>
        <p:spPr>
          <a:xfrm>
            <a:off x="177569" y="1413486"/>
            <a:ext cx="11934314" cy="3416320"/>
          </a:xfrm>
          <a:prstGeom prst="rect">
            <a:avLst/>
          </a:prstGeom>
          <a:noFill/>
        </p:spPr>
        <p:txBody>
          <a:bodyPr wrap="square" rtlCol="0">
            <a:spAutoFit/>
          </a:bodyPr>
          <a:lstStyle/>
          <a:p>
            <a:pPr algn="l"/>
            <a:r>
              <a:rPr lang="en-GB" sz="2400" b="0" i="0" dirty="0">
                <a:solidFill>
                  <a:schemeClr val="accent1"/>
                </a:solidFill>
                <a:effectLst/>
                <a:latin typeface="+mn-lt"/>
              </a:rPr>
              <a:t>Covariance</a:t>
            </a:r>
            <a:r>
              <a:rPr lang="en-GB" sz="2400" b="0" i="0" dirty="0">
                <a:solidFill>
                  <a:schemeClr val="bg1">
                    <a:lumMod val="95000"/>
                  </a:schemeClr>
                </a:solidFill>
                <a:effectLst/>
                <a:latin typeface="+mn-lt"/>
              </a:rPr>
              <a:t> ranges between negative and positive infinity, and it only tells us when two variables are inversely or positively related. But it isn't easy to know if a relationship between two variables is stronger than the relationship between other pairs of variables. This is where the concept of correlation comes in.</a:t>
            </a:r>
          </a:p>
          <a:p>
            <a:pPr algn="l"/>
            <a:endParaRPr lang="en-GB" sz="2400" b="0" i="0" dirty="0">
              <a:solidFill>
                <a:schemeClr val="bg1">
                  <a:lumMod val="95000"/>
                </a:schemeClr>
              </a:solidFill>
              <a:effectLst/>
              <a:latin typeface="+mn-lt"/>
            </a:endParaRPr>
          </a:p>
          <a:p>
            <a:pPr algn="l"/>
            <a:r>
              <a:rPr lang="en-GB" sz="2400" b="0" i="0" dirty="0">
                <a:solidFill>
                  <a:schemeClr val="accent1"/>
                </a:solidFill>
                <a:effectLst/>
                <a:latin typeface="+mn-lt"/>
              </a:rPr>
              <a:t>Correlation</a:t>
            </a:r>
            <a:r>
              <a:rPr lang="en-GB" sz="2400" b="0" i="0" dirty="0">
                <a:solidFill>
                  <a:schemeClr val="bg1">
                    <a:lumMod val="95000"/>
                  </a:schemeClr>
                </a:solidFill>
                <a:effectLst/>
                <a:latin typeface="+mn-lt"/>
              </a:rPr>
              <a:t> is calculated by standardizing </a:t>
            </a:r>
            <a:r>
              <a:rPr lang="en-GB" sz="2400" b="0" i="0" dirty="0">
                <a:solidFill>
                  <a:schemeClr val="accent1">
                    <a:lumMod val="20000"/>
                    <a:lumOff val="80000"/>
                  </a:schemeClr>
                </a:solidFill>
                <a:effectLst/>
                <a:latin typeface="+mn-lt"/>
              </a:rPr>
              <a:t>covariance</a:t>
            </a:r>
            <a:r>
              <a:rPr lang="en-GB" sz="2400" b="0" i="0" dirty="0">
                <a:solidFill>
                  <a:schemeClr val="bg1">
                    <a:lumMod val="95000"/>
                  </a:schemeClr>
                </a:solidFill>
                <a:effectLst/>
                <a:latin typeface="+mn-lt"/>
              </a:rPr>
              <a:t> by some measure of variability in the data. It produces a quantity that has intuitive interpretations and a consistent scale.</a:t>
            </a:r>
          </a:p>
          <a:p>
            <a:pPr algn="l"/>
            <a:endParaRPr lang="en-GB" sz="2400" b="0" i="0" dirty="0">
              <a:solidFill>
                <a:schemeClr val="bg1">
                  <a:lumMod val="95000"/>
                </a:schemeClr>
              </a:solidFill>
              <a:effectLst/>
              <a:latin typeface="+mn-lt"/>
            </a:endParaRPr>
          </a:p>
          <a:p>
            <a:pPr algn="l"/>
            <a:r>
              <a:rPr lang="en-GB" sz="2400" b="0" i="0" dirty="0">
                <a:solidFill>
                  <a:schemeClr val="bg1">
                    <a:lumMod val="95000"/>
                  </a:schemeClr>
                </a:solidFill>
                <a:effectLst/>
                <a:latin typeface="+mn-lt"/>
              </a:rPr>
              <a:t>There a lot of correlation coefficients, but for now, we will focus on </a:t>
            </a:r>
            <a:r>
              <a:rPr lang="en-GB" sz="2400" b="0" i="0" dirty="0">
                <a:solidFill>
                  <a:schemeClr val="accent1"/>
                </a:solidFill>
                <a:effectLst/>
                <a:latin typeface="+mn-lt"/>
              </a:rPr>
              <a:t>Pearson correlation</a:t>
            </a:r>
            <a:r>
              <a:rPr lang="en-GB" sz="2400" b="0" i="0" dirty="0">
                <a:solidFill>
                  <a:schemeClr val="bg1">
                    <a:lumMod val="95000"/>
                  </a:schemeClr>
                </a:solidFill>
                <a:effectLst/>
                <a:latin typeface="+mn-lt"/>
              </a:rPr>
              <a:t>.</a:t>
            </a:r>
          </a:p>
        </p:txBody>
      </p:sp>
      <p:pic>
        <p:nvPicPr>
          <p:cNvPr id="7" name="Picture 6" descr="Text&#10;&#10;Description automatically generated with medium confidence">
            <a:extLst>
              <a:ext uri="{FF2B5EF4-FFF2-40B4-BE49-F238E27FC236}">
                <a16:creationId xmlns:a16="http://schemas.microsoft.com/office/drawing/2014/main" id="{0BF6C6BA-44FB-40D0-306B-FC123EA36EEC}"/>
              </a:ext>
            </a:extLst>
          </p:cNvPr>
          <p:cNvPicPr>
            <a:picLocks noChangeAspect="1"/>
          </p:cNvPicPr>
          <p:nvPr/>
        </p:nvPicPr>
        <p:blipFill>
          <a:blip r:embed="rId2"/>
          <a:stretch>
            <a:fillRect/>
          </a:stretch>
        </p:blipFill>
        <p:spPr>
          <a:xfrm>
            <a:off x="2783694" y="4981172"/>
            <a:ext cx="6168154" cy="1740302"/>
          </a:xfrm>
          <a:prstGeom prst="rect">
            <a:avLst/>
          </a:prstGeom>
        </p:spPr>
      </p:pic>
    </p:spTree>
    <p:extLst>
      <p:ext uri="{BB962C8B-B14F-4D97-AF65-F5344CB8AC3E}">
        <p14:creationId xmlns:p14="http://schemas.microsoft.com/office/powerpoint/2010/main" val="748904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Covariance and Correlation</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9</a:t>
            </a:fld>
            <a:endParaRPr lang="en-GB"/>
          </a:p>
        </p:txBody>
      </p:sp>
      <p:pic>
        <p:nvPicPr>
          <p:cNvPr id="5" name="Picture 4" descr="Diagram, scatter chart&#10;&#10;Description automatically generated">
            <a:extLst>
              <a:ext uri="{FF2B5EF4-FFF2-40B4-BE49-F238E27FC236}">
                <a16:creationId xmlns:a16="http://schemas.microsoft.com/office/drawing/2014/main" id="{48551C1F-B595-D6A7-415F-3D7E5D7120BC}"/>
              </a:ext>
            </a:extLst>
          </p:cNvPr>
          <p:cNvPicPr>
            <a:picLocks noChangeAspect="1"/>
          </p:cNvPicPr>
          <p:nvPr/>
        </p:nvPicPr>
        <p:blipFill>
          <a:blip r:embed="rId3"/>
          <a:stretch>
            <a:fillRect/>
          </a:stretch>
        </p:blipFill>
        <p:spPr>
          <a:xfrm>
            <a:off x="1179713" y="2070824"/>
            <a:ext cx="9832573" cy="4490208"/>
          </a:xfrm>
          <a:prstGeom prst="rect">
            <a:avLst/>
          </a:prstGeom>
        </p:spPr>
      </p:pic>
      <p:sp>
        <p:nvSpPr>
          <p:cNvPr id="6" name="TextBox 5">
            <a:extLst>
              <a:ext uri="{FF2B5EF4-FFF2-40B4-BE49-F238E27FC236}">
                <a16:creationId xmlns:a16="http://schemas.microsoft.com/office/drawing/2014/main" id="{7D8D3CD4-F320-D2D0-4B1B-EB6450326AC5}"/>
              </a:ext>
            </a:extLst>
          </p:cNvPr>
          <p:cNvSpPr txBox="1"/>
          <p:nvPr/>
        </p:nvSpPr>
        <p:spPr>
          <a:xfrm>
            <a:off x="852854" y="1468315"/>
            <a:ext cx="5380892" cy="523220"/>
          </a:xfrm>
          <a:prstGeom prst="rect">
            <a:avLst/>
          </a:prstGeom>
          <a:noFill/>
        </p:spPr>
        <p:txBody>
          <a:bodyPr wrap="square" rtlCol="0">
            <a:spAutoFit/>
          </a:bodyPr>
          <a:lstStyle/>
          <a:p>
            <a:r>
              <a:rPr lang="en-GB" sz="2800" dirty="0">
                <a:solidFill>
                  <a:schemeClr val="accent1"/>
                </a:solidFill>
              </a:rPr>
              <a:t>Linear and non-linear relationships</a:t>
            </a:r>
          </a:p>
        </p:txBody>
      </p:sp>
    </p:spTree>
    <p:extLst>
      <p:ext uri="{BB962C8B-B14F-4D97-AF65-F5344CB8AC3E}">
        <p14:creationId xmlns:p14="http://schemas.microsoft.com/office/powerpoint/2010/main" val="3918644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Covariance and Correlation</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10</a:t>
            </a:fld>
            <a:endParaRPr lang="en-GB"/>
          </a:p>
        </p:txBody>
      </p:sp>
      <p:sp>
        <p:nvSpPr>
          <p:cNvPr id="6" name="TextBox 5">
            <a:extLst>
              <a:ext uri="{FF2B5EF4-FFF2-40B4-BE49-F238E27FC236}">
                <a16:creationId xmlns:a16="http://schemas.microsoft.com/office/drawing/2014/main" id="{7D8D3CD4-F320-D2D0-4B1B-EB6450326AC5}"/>
              </a:ext>
            </a:extLst>
          </p:cNvPr>
          <p:cNvSpPr txBox="1"/>
          <p:nvPr/>
        </p:nvSpPr>
        <p:spPr>
          <a:xfrm>
            <a:off x="852854" y="1468315"/>
            <a:ext cx="5380892" cy="523220"/>
          </a:xfrm>
          <a:prstGeom prst="rect">
            <a:avLst/>
          </a:prstGeom>
          <a:noFill/>
        </p:spPr>
        <p:txBody>
          <a:bodyPr wrap="square" rtlCol="0">
            <a:spAutoFit/>
          </a:bodyPr>
          <a:lstStyle/>
          <a:p>
            <a:r>
              <a:rPr lang="en-GB" sz="2800" dirty="0">
                <a:solidFill>
                  <a:schemeClr val="accent1"/>
                </a:solidFill>
              </a:rPr>
              <a:t>Correlation is not causation</a:t>
            </a:r>
          </a:p>
        </p:txBody>
      </p:sp>
      <p:sp>
        <p:nvSpPr>
          <p:cNvPr id="3" name="TextBox 2">
            <a:extLst>
              <a:ext uri="{FF2B5EF4-FFF2-40B4-BE49-F238E27FC236}">
                <a16:creationId xmlns:a16="http://schemas.microsoft.com/office/drawing/2014/main" id="{0A4BB4E5-CD6B-3C7C-CFF1-8107621DF0A1}"/>
              </a:ext>
            </a:extLst>
          </p:cNvPr>
          <p:cNvSpPr txBox="1"/>
          <p:nvPr/>
        </p:nvSpPr>
        <p:spPr>
          <a:xfrm>
            <a:off x="395654" y="1942865"/>
            <a:ext cx="11473962" cy="4524315"/>
          </a:xfrm>
          <a:prstGeom prst="rect">
            <a:avLst/>
          </a:prstGeom>
          <a:noFill/>
        </p:spPr>
        <p:txBody>
          <a:bodyPr wrap="square" rtlCol="0">
            <a:spAutoFit/>
          </a:bodyPr>
          <a:lstStyle/>
          <a:p>
            <a:r>
              <a:rPr lang="en-GB" sz="2400" b="0" i="0" dirty="0">
                <a:solidFill>
                  <a:schemeClr val="bg1">
                    <a:lumMod val="95000"/>
                  </a:schemeClr>
                </a:solidFill>
                <a:effectLst/>
                <a:latin typeface="Helvetica Neue"/>
              </a:rPr>
              <a:t>Causation is when any change in the value of one variable leads to a change in the value of another variable, which means one variable causes the change in another, in other words they have a cause-effect relationship.</a:t>
            </a:r>
          </a:p>
          <a:p>
            <a:endParaRPr lang="en-GB" sz="2400" dirty="0">
              <a:solidFill>
                <a:schemeClr val="bg1">
                  <a:lumMod val="95000"/>
                </a:schemeClr>
              </a:solidFill>
              <a:latin typeface="Helvetica Neue"/>
            </a:endParaRPr>
          </a:p>
          <a:p>
            <a:endParaRPr lang="en-GB" sz="2400" dirty="0">
              <a:solidFill>
                <a:schemeClr val="bg1">
                  <a:lumMod val="95000"/>
                </a:schemeClr>
              </a:solidFill>
              <a:latin typeface="Helvetica Neue"/>
            </a:endParaRPr>
          </a:p>
          <a:p>
            <a:r>
              <a:rPr lang="en-GB" sz="2400" b="0" i="0" dirty="0">
                <a:solidFill>
                  <a:schemeClr val="bg1">
                    <a:lumMod val="95000"/>
                  </a:schemeClr>
                </a:solidFill>
                <a:effectLst/>
                <a:latin typeface="Helvetica Neue"/>
              </a:rPr>
              <a:t>Check this website for some insane correlations: </a:t>
            </a:r>
            <a:r>
              <a:rPr lang="en-GB" sz="2400" b="0" i="0" u="sng" dirty="0">
                <a:solidFill>
                  <a:srgbClr val="92D050"/>
                </a:solidFill>
                <a:effectLst/>
                <a:latin typeface="Helvetica Neue"/>
                <a:hlinkClick r:id="rId3">
                  <a:extLst>
                    <a:ext uri="{A12FA001-AC4F-418D-AE19-62706E023703}">
                      <ahyp:hlinkClr xmlns:ahyp="http://schemas.microsoft.com/office/drawing/2018/hyperlinkcolor" val="tx"/>
                    </a:ext>
                  </a:extLst>
                </a:hlinkClick>
              </a:rPr>
              <a:t>https://www.tylervigen.com/spurious-correlations</a:t>
            </a:r>
            <a:endParaRPr lang="en-GB" sz="2400" b="0" i="0" u="sng" dirty="0">
              <a:solidFill>
                <a:srgbClr val="92D050"/>
              </a:solidFill>
              <a:effectLst/>
              <a:latin typeface="Helvetica Neue"/>
            </a:endParaRPr>
          </a:p>
          <a:p>
            <a:endParaRPr lang="en-GB" sz="2400" u="sng" dirty="0">
              <a:solidFill>
                <a:schemeClr val="bg1">
                  <a:lumMod val="95000"/>
                </a:schemeClr>
              </a:solidFill>
              <a:latin typeface="Helvetica Neue"/>
            </a:endParaRPr>
          </a:p>
          <a:p>
            <a:endParaRPr lang="en-GB" sz="2400" u="sng" dirty="0">
              <a:solidFill>
                <a:schemeClr val="bg1">
                  <a:lumMod val="95000"/>
                </a:schemeClr>
              </a:solidFill>
              <a:latin typeface="Helvetica Neue"/>
            </a:endParaRPr>
          </a:p>
          <a:p>
            <a:r>
              <a:rPr lang="en-GB" sz="2400" b="0" i="0" dirty="0">
                <a:solidFill>
                  <a:schemeClr val="bg1">
                    <a:lumMod val="95000"/>
                  </a:schemeClr>
                </a:solidFill>
                <a:effectLst/>
                <a:latin typeface="Helvetica Neue"/>
              </a:rPr>
              <a:t>So we can draw conclusion based just on correlation, this should be just the first step. We should take time to find other underlying factors, verify if they are correct and then conclude.</a:t>
            </a:r>
            <a:endParaRPr lang="en-GB" sz="2400" dirty="0">
              <a:solidFill>
                <a:schemeClr val="bg1">
                  <a:lumMod val="95000"/>
                </a:schemeClr>
              </a:solidFill>
            </a:endParaRPr>
          </a:p>
        </p:txBody>
      </p:sp>
    </p:spTree>
    <p:extLst>
      <p:ext uri="{BB962C8B-B14F-4D97-AF65-F5344CB8AC3E}">
        <p14:creationId xmlns:p14="http://schemas.microsoft.com/office/powerpoint/2010/main" val="3658722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D4FF4-9AE1-FBDE-4167-0B09AA14E1B9}"/>
              </a:ext>
            </a:extLst>
          </p:cNvPr>
          <p:cNvSpPr>
            <a:spLocks noGrp="1"/>
          </p:cNvSpPr>
          <p:nvPr>
            <p:ph type="ctrTitle"/>
          </p:nvPr>
        </p:nvSpPr>
        <p:spPr/>
        <p:txBody>
          <a:bodyPr/>
          <a:lstStyle/>
          <a:p>
            <a:r>
              <a:rPr lang="en-GB" dirty="0"/>
              <a:t>Session 03.01</a:t>
            </a:r>
          </a:p>
        </p:txBody>
      </p:sp>
      <p:sp>
        <p:nvSpPr>
          <p:cNvPr id="3" name="Subtitle 2">
            <a:extLst>
              <a:ext uri="{FF2B5EF4-FFF2-40B4-BE49-F238E27FC236}">
                <a16:creationId xmlns:a16="http://schemas.microsoft.com/office/drawing/2014/main" id="{5A4C2D95-A111-3D35-0560-741656282DDB}"/>
              </a:ext>
            </a:extLst>
          </p:cNvPr>
          <p:cNvSpPr>
            <a:spLocks noGrp="1"/>
          </p:cNvSpPr>
          <p:nvPr>
            <p:ph type="subTitle" idx="1"/>
          </p:nvPr>
        </p:nvSpPr>
        <p:spPr/>
        <p:txBody>
          <a:bodyPr/>
          <a:lstStyle/>
          <a:p>
            <a:r>
              <a:rPr lang="en-GB" dirty="0"/>
              <a:t>Linear Regression intro. </a:t>
            </a:r>
          </a:p>
        </p:txBody>
      </p:sp>
      <p:sp>
        <p:nvSpPr>
          <p:cNvPr id="4" name="Text Placeholder 3">
            <a:extLst>
              <a:ext uri="{FF2B5EF4-FFF2-40B4-BE49-F238E27FC236}">
                <a16:creationId xmlns:a16="http://schemas.microsoft.com/office/drawing/2014/main" id="{515DFD54-5D9F-37B4-55CF-A64B348C5D76}"/>
              </a:ext>
            </a:extLst>
          </p:cNvPr>
          <p:cNvSpPr>
            <a:spLocks noGrp="1"/>
          </p:cNvSpPr>
          <p:nvPr>
            <p:ph type="body" sz="quarter" idx="13"/>
          </p:nvPr>
        </p:nvSpPr>
        <p:spPr/>
        <p:txBody>
          <a:bodyPr>
            <a:normAutofit lnSpcReduction="10000"/>
          </a:bodyPr>
          <a:lstStyle/>
          <a:p>
            <a:r>
              <a:rPr lang="en-GB" dirty="0"/>
              <a:t>Level 7 – AI data specialist</a:t>
            </a:r>
          </a:p>
        </p:txBody>
      </p:sp>
      <p:sp>
        <p:nvSpPr>
          <p:cNvPr id="9" name="Text Placeholder 8">
            <a:extLst>
              <a:ext uri="{FF2B5EF4-FFF2-40B4-BE49-F238E27FC236}">
                <a16:creationId xmlns:a16="http://schemas.microsoft.com/office/drawing/2014/main" id="{DB5C08ED-3435-A1D3-EDE4-25B5F5B11DA5}"/>
              </a:ext>
            </a:extLst>
          </p:cNvPr>
          <p:cNvSpPr>
            <a:spLocks noGrp="1"/>
          </p:cNvSpPr>
          <p:nvPr>
            <p:ph type="body" sz="quarter" idx="14"/>
          </p:nvPr>
        </p:nvSpPr>
        <p:spPr/>
        <p:txBody>
          <a:bodyPr>
            <a:normAutofit fontScale="92500"/>
          </a:bodyPr>
          <a:lstStyle/>
          <a:p>
            <a:r>
              <a:rPr lang="en-GB" dirty="0"/>
              <a:t>3 - Building Machine Learning Models and Data Preprocessing Techniques</a:t>
            </a:r>
          </a:p>
        </p:txBody>
      </p:sp>
      <p:sp>
        <p:nvSpPr>
          <p:cNvPr id="10" name="Text Placeholder 9">
            <a:extLst>
              <a:ext uri="{FF2B5EF4-FFF2-40B4-BE49-F238E27FC236}">
                <a16:creationId xmlns:a16="http://schemas.microsoft.com/office/drawing/2014/main" id="{0AEF73BC-7D9E-FC0B-464F-D16F6AF08263}"/>
              </a:ext>
            </a:extLst>
          </p:cNvPr>
          <p:cNvSpPr>
            <a:spLocks noGrp="1"/>
          </p:cNvSpPr>
          <p:nvPr>
            <p:ph type="body" sz="quarter" idx="15"/>
          </p:nvPr>
        </p:nvSpPr>
        <p:spPr/>
        <p:txBody>
          <a:bodyPr>
            <a:normAutofit lnSpcReduction="10000"/>
          </a:bodyPr>
          <a:lstStyle/>
          <a:p>
            <a:r>
              <a:rPr lang="en-GB" dirty="0"/>
              <a:t>Inesa Lisnic</a:t>
            </a:r>
          </a:p>
        </p:txBody>
      </p:sp>
      <p:sp>
        <p:nvSpPr>
          <p:cNvPr id="11" name="Text Placeholder 10">
            <a:extLst>
              <a:ext uri="{FF2B5EF4-FFF2-40B4-BE49-F238E27FC236}">
                <a16:creationId xmlns:a16="http://schemas.microsoft.com/office/drawing/2014/main" id="{285DD44B-97B0-F484-F8BC-6DE17806523A}"/>
              </a:ext>
            </a:extLst>
          </p:cNvPr>
          <p:cNvSpPr>
            <a:spLocks noGrp="1"/>
          </p:cNvSpPr>
          <p:nvPr>
            <p:ph type="body" sz="quarter" idx="16"/>
          </p:nvPr>
        </p:nvSpPr>
        <p:spPr/>
        <p:txBody>
          <a:bodyPr>
            <a:normAutofit fontScale="70000" lnSpcReduction="20000"/>
          </a:bodyPr>
          <a:lstStyle/>
          <a:p>
            <a:r>
              <a:rPr lang="en-GB" dirty="0"/>
              <a:t>07432137361</a:t>
            </a:r>
          </a:p>
        </p:txBody>
      </p:sp>
      <p:sp>
        <p:nvSpPr>
          <p:cNvPr id="12" name="Text Placeholder 11">
            <a:extLst>
              <a:ext uri="{FF2B5EF4-FFF2-40B4-BE49-F238E27FC236}">
                <a16:creationId xmlns:a16="http://schemas.microsoft.com/office/drawing/2014/main" id="{928B8A29-DADE-4DC9-CF89-80B0A3E22460}"/>
              </a:ext>
            </a:extLst>
          </p:cNvPr>
          <p:cNvSpPr>
            <a:spLocks noGrp="1"/>
          </p:cNvSpPr>
          <p:nvPr>
            <p:ph type="body" sz="quarter" idx="17"/>
          </p:nvPr>
        </p:nvSpPr>
        <p:spPr/>
        <p:txBody>
          <a:bodyPr>
            <a:normAutofit fontScale="70000" lnSpcReduction="20000"/>
          </a:bodyPr>
          <a:lstStyle/>
          <a:p>
            <a:r>
              <a:rPr lang="en-GB" dirty="0"/>
              <a:t>i.lisnic@learn-tech.com</a:t>
            </a:r>
          </a:p>
        </p:txBody>
      </p:sp>
    </p:spTree>
    <p:extLst>
      <p:ext uri="{BB962C8B-B14F-4D97-AF65-F5344CB8AC3E}">
        <p14:creationId xmlns:p14="http://schemas.microsoft.com/office/powerpoint/2010/main" val="3346246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A721E-ED50-2466-CE6F-5AE585ECBC7E}"/>
              </a:ext>
            </a:extLst>
          </p:cNvPr>
          <p:cNvSpPr>
            <a:spLocks noGrp="1"/>
          </p:cNvSpPr>
          <p:nvPr>
            <p:ph type="title"/>
          </p:nvPr>
        </p:nvSpPr>
        <p:spPr/>
        <p:txBody>
          <a:bodyPr/>
          <a:lstStyle/>
          <a:p>
            <a:r>
              <a:rPr lang="en-GB" dirty="0"/>
              <a:t>KSBs</a:t>
            </a:r>
          </a:p>
        </p:txBody>
      </p:sp>
      <p:sp>
        <p:nvSpPr>
          <p:cNvPr id="3" name="Content Placeholder 2">
            <a:extLst>
              <a:ext uri="{FF2B5EF4-FFF2-40B4-BE49-F238E27FC236}">
                <a16:creationId xmlns:a16="http://schemas.microsoft.com/office/drawing/2014/main" id="{1849E1F3-09C1-5C77-3C26-3A0BE6E7E340}"/>
              </a:ext>
            </a:extLst>
          </p:cNvPr>
          <p:cNvSpPr>
            <a:spLocks noGrp="1"/>
          </p:cNvSpPr>
          <p:nvPr>
            <p:ph idx="1"/>
          </p:nvPr>
        </p:nvSpPr>
        <p:spPr/>
        <p:txBody>
          <a:bodyPr numCol="2">
            <a:normAutofit lnSpcReduction="10000"/>
          </a:bodyPr>
          <a:lstStyle/>
          <a:p>
            <a:r>
              <a:rPr lang="en-GB" dirty="0"/>
              <a:t>K1: How to use AI and machine learning methodologies such as data-mining, supervised/unsupervised machine learning, natural language processing, machine vision to meet business objectives</a:t>
            </a:r>
          </a:p>
          <a:p>
            <a:r>
              <a:rPr lang="en-GB" dirty="0"/>
              <a:t>K19:  The principles and properties behind statistical and machine learning methods</a:t>
            </a:r>
          </a:p>
          <a:p>
            <a:r>
              <a:rPr lang="en-GB" dirty="0"/>
              <a:t>K23: The use of different performance and accuracy metrics for model validation in AI projects</a:t>
            </a:r>
          </a:p>
          <a:p>
            <a:r>
              <a:rPr lang="en-GB" dirty="0"/>
              <a:t>S2:  Independently analyse test data, interpret results and evaluate the suitability of proposed solutions, considering current and future business requirements</a:t>
            </a:r>
          </a:p>
          <a:p>
            <a:endParaRPr lang="en-GB" dirty="0"/>
          </a:p>
          <a:p>
            <a:pPr marL="0" indent="0">
              <a:buNone/>
            </a:pPr>
            <a:endParaRPr lang="en-GB" dirty="0"/>
          </a:p>
          <a:p>
            <a:endParaRPr lang="en-GB" dirty="0"/>
          </a:p>
          <a:p>
            <a:endParaRPr lang="en-GB" dirty="0"/>
          </a:p>
          <a:p>
            <a:endParaRPr lang="en-GB" dirty="0"/>
          </a:p>
        </p:txBody>
      </p:sp>
      <p:sp>
        <p:nvSpPr>
          <p:cNvPr id="4" name="Slide Number Placeholder 3">
            <a:extLst>
              <a:ext uri="{FF2B5EF4-FFF2-40B4-BE49-F238E27FC236}">
                <a16:creationId xmlns:a16="http://schemas.microsoft.com/office/drawing/2014/main" id="{0ABB0592-7D6B-8E2E-A034-174FADA72910}"/>
              </a:ext>
            </a:extLst>
          </p:cNvPr>
          <p:cNvSpPr>
            <a:spLocks noGrp="1"/>
          </p:cNvSpPr>
          <p:nvPr>
            <p:ph type="sldNum" sz="quarter" idx="12"/>
          </p:nvPr>
        </p:nvSpPr>
        <p:spPr/>
        <p:txBody>
          <a:bodyPr/>
          <a:lstStyle/>
          <a:p>
            <a:fld id="{F74D7E6C-9B20-4593-B18C-8D2C7BEEFCA2}" type="slidenum">
              <a:rPr lang="en-GB" smtClean="0"/>
              <a:t>12</a:t>
            </a:fld>
            <a:endParaRPr lang="en-GB"/>
          </a:p>
        </p:txBody>
      </p:sp>
    </p:spTree>
    <p:extLst>
      <p:ext uri="{BB962C8B-B14F-4D97-AF65-F5344CB8AC3E}">
        <p14:creationId xmlns:p14="http://schemas.microsoft.com/office/powerpoint/2010/main" val="2139647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EDABB-D7D7-E27B-A2DE-A0E838001292}"/>
              </a:ext>
            </a:extLst>
          </p:cNvPr>
          <p:cNvSpPr>
            <a:spLocks noGrp="1"/>
          </p:cNvSpPr>
          <p:nvPr>
            <p:ph type="title"/>
          </p:nvPr>
        </p:nvSpPr>
        <p:spPr/>
        <p:txBody>
          <a:bodyPr/>
          <a:lstStyle/>
          <a:p>
            <a:r>
              <a:rPr lang="en-GB" dirty="0"/>
              <a:t>P17</a:t>
            </a:r>
          </a:p>
        </p:txBody>
      </p:sp>
      <p:sp>
        <p:nvSpPr>
          <p:cNvPr id="3" name="Content Placeholder 2">
            <a:extLst>
              <a:ext uri="{FF2B5EF4-FFF2-40B4-BE49-F238E27FC236}">
                <a16:creationId xmlns:a16="http://schemas.microsoft.com/office/drawing/2014/main" id="{6680301A-0D1E-D056-5266-5072D6FD8BEE}"/>
              </a:ext>
            </a:extLst>
          </p:cNvPr>
          <p:cNvSpPr>
            <a:spLocks noGrp="1"/>
          </p:cNvSpPr>
          <p:nvPr>
            <p:ph idx="1"/>
          </p:nvPr>
        </p:nvSpPr>
        <p:spPr/>
        <p:txBody>
          <a:bodyPr numCol="2">
            <a:normAutofit fontScale="40000" lnSpcReduction="20000"/>
          </a:bodyPr>
          <a:lstStyle/>
          <a:p>
            <a:r>
              <a:rPr lang="en-GB" dirty="0"/>
              <a:t>P17: Pass criterion: Describes how to use statistical, AI and machine learning methodologies such as data- mining, supervised/unsupervised machine learning, natural language processing and machine vision to meet business objectives.</a:t>
            </a:r>
          </a:p>
          <a:p>
            <a:r>
              <a:rPr lang="en-GB" dirty="0"/>
              <a:t>This assessment criterion requires the apprentice to demonstrate their understanding and application of various statistical, AI, and machine learning methodologies to achieve business objectives, examples may include:</a:t>
            </a:r>
          </a:p>
          <a:p>
            <a:r>
              <a:rPr lang="en-GB" dirty="0"/>
              <a:t>Key Methodologies</a:t>
            </a:r>
          </a:p>
          <a:p>
            <a:r>
              <a:rPr lang="en-GB" dirty="0"/>
              <a:t>1. Statistical Methods:</a:t>
            </a:r>
          </a:p>
          <a:p>
            <a:pPr lvl="0"/>
            <a:r>
              <a:rPr lang="en-GB" dirty="0"/>
              <a:t>Descriptive Statistics</a:t>
            </a:r>
          </a:p>
          <a:p>
            <a:pPr lvl="0"/>
            <a:r>
              <a:rPr lang="en-GB" dirty="0"/>
              <a:t>Inferential Statistics</a:t>
            </a:r>
          </a:p>
          <a:p>
            <a:r>
              <a:rPr lang="en-GB" dirty="0"/>
              <a:t>2. Data Mining:</a:t>
            </a:r>
          </a:p>
          <a:p>
            <a:pPr lvl="0"/>
            <a:r>
              <a:rPr lang="en-GB" dirty="0"/>
              <a:t>Purpose: Discover patterns and relationships in large datasets.</a:t>
            </a:r>
          </a:p>
          <a:p>
            <a:pPr lvl="0"/>
            <a:r>
              <a:rPr lang="en-GB" dirty="0"/>
              <a:t>Techniques: Clustering, association rule mining, and anomaly detection.</a:t>
            </a:r>
          </a:p>
          <a:p>
            <a:pPr lvl="0"/>
            <a:r>
              <a:rPr lang="en-GB" dirty="0"/>
              <a:t>Application.</a:t>
            </a:r>
          </a:p>
          <a:p>
            <a:r>
              <a:rPr lang="en-GB" dirty="0"/>
              <a:t>3. Supervised Machine Learning:</a:t>
            </a:r>
          </a:p>
          <a:p>
            <a:pPr lvl="0"/>
            <a:r>
              <a:rPr lang="en-GB" dirty="0"/>
              <a:t>Purpose: Train models on labelled data to make predictions or classifications.</a:t>
            </a:r>
          </a:p>
          <a:p>
            <a:pPr lvl="0"/>
            <a:r>
              <a:rPr lang="en-GB" dirty="0"/>
              <a:t>Techniques: Linear regression, logistic regression, decision trees, random forests,</a:t>
            </a:r>
          </a:p>
          <a:p>
            <a:pPr lvl="0"/>
            <a:r>
              <a:rPr lang="en-GB" dirty="0"/>
              <a:t>and support vector machines.</a:t>
            </a:r>
          </a:p>
          <a:p>
            <a:pPr lvl="0"/>
            <a:r>
              <a:rPr lang="en-GB" dirty="0"/>
              <a:t>Application.</a:t>
            </a:r>
          </a:p>
          <a:p>
            <a:r>
              <a:rPr lang="en-GB" dirty="0"/>
              <a:t>4. Unsupervised Machine Learning:</a:t>
            </a:r>
          </a:p>
          <a:p>
            <a:pPr lvl="0"/>
            <a:r>
              <a:rPr lang="en-GB" dirty="0"/>
              <a:t>Purpose: Find hidden patterns or intrinsic structures in unlabelled data.</a:t>
            </a:r>
          </a:p>
          <a:p>
            <a:pPr lvl="0"/>
            <a:r>
              <a:rPr lang="en-GB" dirty="0"/>
              <a:t>Techniques: K-means clustering, hierarchical clustering, and principal component</a:t>
            </a:r>
          </a:p>
          <a:p>
            <a:pPr lvl="0"/>
            <a:r>
              <a:rPr lang="en-GB" dirty="0"/>
              <a:t>analysis (PCA).</a:t>
            </a:r>
          </a:p>
          <a:p>
            <a:pPr lvl="0"/>
            <a:r>
              <a:rPr lang="en-GB" dirty="0"/>
              <a:t>Application</a:t>
            </a:r>
          </a:p>
          <a:p>
            <a:r>
              <a:rPr lang="en-GB" dirty="0"/>
              <a:t>5. Natural Language Processing (NLP):</a:t>
            </a:r>
          </a:p>
          <a:p>
            <a:pPr lvl="0"/>
            <a:r>
              <a:rPr lang="en-GB" dirty="0"/>
              <a:t>Purpose: Enable machines to understand and interpret human language.</a:t>
            </a:r>
          </a:p>
          <a:p>
            <a:pPr lvl="0"/>
            <a:r>
              <a:rPr lang="en-GB" dirty="0"/>
              <a:t>Techniques: Tokenisation, sentiment analysis, named entity recognition (NER), and</a:t>
            </a:r>
          </a:p>
          <a:p>
            <a:pPr lvl="0"/>
            <a:r>
              <a:rPr lang="en-GB" dirty="0"/>
              <a:t>topic modelling.</a:t>
            </a:r>
          </a:p>
          <a:p>
            <a:pPr lvl="0"/>
            <a:r>
              <a:rPr lang="en-GB" dirty="0"/>
              <a:t>Application.</a:t>
            </a:r>
          </a:p>
          <a:p>
            <a:r>
              <a:rPr lang="en-GB" dirty="0"/>
              <a:t>6. Machine Vision:</a:t>
            </a:r>
          </a:p>
          <a:p>
            <a:pPr lvl="0"/>
            <a:r>
              <a:rPr lang="en-GB" dirty="0"/>
              <a:t>Purpose: Enable machines to interpret and understand visual information.</a:t>
            </a:r>
          </a:p>
          <a:p>
            <a:pPr lvl="0"/>
            <a:r>
              <a:rPr lang="en-GB" dirty="0"/>
              <a:t>Techniques: Image classification, object detection, and image segmentation.</a:t>
            </a:r>
          </a:p>
          <a:p>
            <a:pPr lvl="0"/>
            <a:r>
              <a:rPr lang="en-GB" dirty="0"/>
              <a:t>Application.</a:t>
            </a:r>
          </a:p>
          <a:p>
            <a:r>
              <a:rPr lang="en-GB" dirty="0"/>
              <a:t>Meeting Business Objectives, such as:</a:t>
            </a:r>
          </a:p>
          <a:p>
            <a:r>
              <a:rPr lang="en-GB" dirty="0"/>
              <a:t>1. Improving Customer Retention</a:t>
            </a:r>
          </a:p>
          <a:p>
            <a:r>
              <a:rPr lang="en-GB" dirty="0"/>
              <a:t>2. Enhancing Customer Experience</a:t>
            </a:r>
          </a:p>
          <a:p>
            <a:r>
              <a:rPr lang="en-GB" dirty="0"/>
              <a:t>3. Optimising Operations</a:t>
            </a:r>
          </a:p>
          <a:p>
            <a:r>
              <a:rPr lang="en-GB" dirty="0"/>
              <a:t>4. Increasing Sales and Marketing Effectiveness</a:t>
            </a:r>
          </a:p>
          <a:p>
            <a:r>
              <a:rPr lang="en-GB" dirty="0"/>
              <a:t>5. Fraud Detection</a:t>
            </a:r>
          </a:p>
          <a:p>
            <a:endParaRPr lang="en-GB" dirty="0"/>
          </a:p>
        </p:txBody>
      </p:sp>
      <p:sp>
        <p:nvSpPr>
          <p:cNvPr id="4" name="Slide Number Placeholder 3">
            <a:extLst>
              <a:ext uri="{FF2B5EF4-FFF2-40B4-BE49-F238E27FC236}">
                <a16:creationId xmlns:a16="http://schemas.microsoft.com/office/drawing/2014/main" id="{1C7D0F76-61E2-66CD-F990-7D5CC726E74F}"/>
              </a:ext>
            </a:extLst>
          </p:cNvPr>
          <p:cNvSpPr>
            <a:spLocks noGrp="1"/>
          </p:cNvSpPr>
          <p:nvPr>
            <p:ph type="sldNum" sz="quarter" idx="12"/>
          </p:nvPr>
        </p:nvSpPr>
        <p:spPr/>
        <p:txBody>
          <a:bodyPr/>
          <a:lstStyle/>
          <a:p>
            <a:fld id="{F74D7E6C-9B20-4593-B18C-8D2C7BEEFCA2}" type="slidenum">
              <a:rPr lang="en-GB" smtClean="0"/>
              <a:t>13</a:t>
            </a:fld>
            <a:endParaRPr lang="en-GB"/>
          </a:p>
        </p:txBody>
      </p:sp>
    </p:spTree>
    <p:extLst>
      <p:ext uri="{BB962C8B-B14F-4D97-AF65-F5344CB8AC3E}">
        <p14:creationId xmlns:p14="http://schemas.microsoft.com/office/powerpoint/2010/main" val="741162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488C-060B-C6F7-5A5E-0B9644CFD9E8}"/>
              </a:ext>
            </a:extLst>
          </p:cNvPr>
          <p:cNvSpPr>
            <a:spLocks noGrp="1"/>
          </p:cNvSpPr>
          <p:nvPr>
            <p:ph type="title"/>
          </p:nvPr>
        </p:nvSpPr>
        <p:spPr/>
        <p:txBody>
          <a:bodyPr/>
          <a:lstStyle/>
          <a:p>
            <a:r>
              <a:rPr lang="en-GB" dirty="0"/>
              <a:t>P19</a:t>
            </a:r>
          </a:p>
        </p:txBody>
      </p:sp>
      <p:sp>
        <p:nvSpPr>
          <p:cNvPr id="3" name="Content Placeholder 2">
            <a:extLst>
              <a:ext uri="{FF2B5EF4-FFF2-40B4-BE49-F238E27FC236}">
                <a16:creationId xmlns:a16="http://schemas.microsoft.com/office/drawing/2014/main" id="{015C8B66-F969-2BA9-E6A1-BA4F36A13609}"/>
              </a:ext>
            </a:extLst>
          </p:cNvPr>
          <p:cNvSpPr>
            <a:spLocks noGrp="1"/>
          </p:cNvSpPr>
          <p:nvPr>
            <p:ph idx="1"/>
          </p:nvPr>
        </p:nvSpPr>
        <p:spPr/>
        <p:txBody>
          <a:bodyPr numCol="2">
            <a:normAutofit fontScale="25000" lnSpcReduction="20000"/>
          </a:bodyPr>
          <a:lstStyle/>
          <a:p>
            <a:r>
              <a:rPr lang="en-GB" dirty="0"/>
              <a:t>P19: Pass criterion: Describes the relationship between mathematical principles and core techniques in AI and data science within the organisational context.</a:t>
            </a:r>
          </a:p>
          <a:p>
            <a:r>
              <a:rPr lang="en-GB" dirty="0"/>
              <a:t>Clarification: This assessment criterion requires the apprentice to explain how they use mathematical principles to underpin and explain the core techniques, their use of AI and data science, and how these techniques are relevant to the context of their organisation.</a:t>
            </a:r>
          </a:p>
          <a:p>
            <a:r>
              <a:rPr lang="en-GB" dirty="0"/>
              <a:t>This could include:</a:t>
            </a:r>
          </a:p>
          <a:p>
            <a:r>
              <a:rPr lang="en-GB" dirty="0"/>
              <a:t>Mathematical Principles</a:t>
            </a:r>
          </a:p>
          <a:p>
            <a:pPr lvl="0"/>
            <a:r>
              <a:rPr lang="en-GB" dirty="0"/>
              <a:t>Linear Algebra:</a:t>
            </a:r>
          </a:p>
          <a:p>
            <a:pPr lvl="1"/>
            <a:r>
              <a:rPr lang="en-GB" sz="2800" dirty="0"/>
              <a:t>Vectors and Matrices: Fundamental for representing data and operations in machine learning algorithms. Used in techniques like Principal Component Analysis (PCA) for dimensionality reduction. </a:t>
            </a:r>
          </a:p>
          <a:p>
            <a:pPr lvl="1"/>
            <a:r>
              <a:rPr lang="en-GB" sz="2800" dirty="0"/>
              <a:t>Matrix Decompositions: Techniques such as Singular Value Decomposition (SVD) are used in recommendation systems and image compression.</a:t>
            </a:r>
          </a:p>
          <a:p>
            <a:pPr lvl="0"/>
            <a:r>
              <a:rPr lang="en-GB" dirty="0"/>
              <a:t>Calculus:</a:t>
            </a:r>
          </a:p>
          <a:p>
            <a:pPr lvl="1"/>
            <a:r>
              <a:rPr lang="en-GB" sz="2800" dirty="0"/>
              <a:t>Differentiation and Integration: Essential for understanding and optimising machine learning models. Gradient descent, a key optimisation algorithm, relies on calculus to minimise the loss function.</a:t>
            </a:r>
          </a:p>
          <a:p>
            <a:pPr lvl="1"/>
            <a:r>
              <a:rPr lang="en-GB" sz="2800" dirty="0"/>
              <a:t>Partial Derivatives: Used in back propagation for training neural networks.</a:t>
            </a:r>
          </a:p>
          <a:p>
            <a:pPr lvl="0"/>
            <a:r>
              <a:rPr lang="en-GB" dirty="0"/>
              <a:t>Probability and Statistics:		</a:t>
            </a:r>
          </a:p>
          <a:p>
            <a:pPr lvl="1"/>
            <a:r>
              <a:rPr lang="en-GB" sz="2800" dirty="0"/>
              <a:t>Probability Distributions: Used to model uncertainties and make predictions.</a:t>
            </a:r>
          </a:p>
          <a:p>
            <a:pPr lvl="1"/>
            <a:r>
              <a:rPr lang="en-GB" sz="2800" dirty="0"/>
              <a:t>Techniques like Bayesian inference rely on probability theory.</a:t>
            </a:r>
          </a:p>
          <a:p>
            <a:pPr lvl="1"/>
            <a:r>
              <a:rPr lang="en-GB" sz="2800" dirty="0"/>
              <a:t>Statistical Methods: Hypothesis testing, confidence intervals, and regression analysis are used to infer patterns and relationships in data.</a:t>
            </a:r>
          </a:p>
          <a:p>
            <a:pPr lvl="0"/>
            <a:r>
              <a:rPr lang="en-GB" dirty="0"/>
              <a:t>Optimisation:</a:t>
            </a:r>
          </a:p>
          <a:p>
            <a:pPr lvl="1"/>
            <a:r>
              <a:rPr lang="en-GB" sz="2800" dirty="0"/>
              <a:t>Convex Optimisation: Many machine learning algorithms, such as support vector machines (SVMs), rely on convex optimisation techniques to find the best parameters.</a:t>
            </a:r>
          </a:p>
          <a:p>
            <a:pPr lvl="1"/>
            <a:r>
              <a:rPr lang="en-GB" sz="2800" dirty="0"/>
              <a:t>Stochastic Optimisation: Methods like stochastic gradient descent (SGD) are used to handle large datasets efficiently.</a:t>
            </a:r>
          </a:p>
          <a:p>
            <a:r>
              <a:rPr lang="en-GB" dirty="0"/>
              <a:t> </a:t>
            </a:r>
          </a:p>
          <a:p>
            <a:r>
              <a:rPr lang="en-GB" dirty="0"/>
              <a:t>Core Techniques in AI and Data Science</a:t>
            </a:r>
          </a:p>
          <a:p>
            <a:pPr lvl="0"/>
            <a:r>
              <a:rPr lang="en-GB" dirty="0"/>
              <a:t>Supervised Learning:</a:t>
            </a:r>
          </a:p>
          <a:p>
            <a:pPr lvl="1"/>
            <a:r>
              <a:rPr lang="en-GB" sz="2800" dirty="0"/>
              <a:t>Regression and Classification: Techniques like linear regression, logistic regression, decision trees, random forests, and support vector machines are used to predict outcomes based on labelled data.</a:t>
            </a:r>
          </a:p>
          <a:p>
            <a:pPr lvl="1"/>
            <a:r>
              <a:rPr lang="en-GB" sz="2800" dirty="0"/>
              <a:t>Neural Networks: Deep learning models that use multiple layers to learn complex patterns in data.</a:t>
            </a:r>
          </a:p>
          <a:p>
            <a:pPr lvl="0"/>
            <a:r>
              <a:rPr lang="en-GB" dirty="0"/>
              <a:t>Unsupervised Learning:</a:t>
            </a:r>
          </a:p>
          <a:p>
            <a:pPr lvl="1"/>
            <a:r>
              <a:rPr lang="en-GB" sz="2800" dirty="0"/>
              <a:t>Clustering: Techniques like K-means and hierarchical clustering are used to group similar data points.</a:t>
            </a:r>
          </a:p>
          <a:p>
            <a:pPr lvl="1"/>
            <a:r>
              <a:rPr lang="en-GB" sz="2800" dirty="0"/>
              <a:t>Dimensionality Reduction: Methods like PCA and t-SNE reduce the number of features while preserving important information.</a:t>
            </a:r>
          </a:p>
          <a:p>
            <a:pPr lvl="0"/>
            <a:r>
              <a:rPr lang="en-GB" dirty="0"/>
              <a:t>Natural Language Processing (NLP):</a:t>
            </a:r>
          </a:p>
          <a:p>
            <a:pPr lvl="1"/>
            <a:r>
              <a:rPr lang="en-GB" sz="2800" dirty="0"/>
              <a:t>Text Analysis: Techniques like tokenisation, sentiment analysis, and named entity recognition (NER) are used to process and analyse textual data.</a:t>
            </a:r>
          </a:p>
          <a:p>
            <a:pPr lvl="1"/>
            <a:r>
              <a:rPr lang="en-GB" sz="2800" dirty="0"/>
              <a:t>Language Models: Models like BERT and GPT are used for tasks such as text generation and translation.</a:t>
            </a:r>
          </a:p>
          <a:p>
            <a:pPr lvl="0"/>
            <a:r>
              <a:rPr lang="en-GB" dirty="0"/>
              <a:t>Machine Vision:</a:t>
            </a:r>
          </a:p>
          <a:p>
            <a:pPr lvl="1"/>
            <a:r>
              <a:rPr lang="en-GB" sz="2800" dirty="0"/>
              <a:t>Image Processing: Techniques like convolutional neural networks (CNNs) are used for image classification, object detection, and segmentation.</a:t>
            </a:r>
          </a:p>
          <a:p>
            <a:r>
              <a:rPr lang="en-GB" dirty="0"/>
              <a:t>Application in Organisational Context</a:t>
            </a:r>
          </a:p>
          <a:p>
            <a:pPr lvl="0"/>
            <a:r>
              <a:rPr lang="en-GB" dirty="0"/>
              <a:t>Business Decision-Making:				</a:t>
            </a:r>
          </a:p>
          <a:p>
            <a:pPr lvl="1"/>
            <a:r>
              <a:rPr lang="en-GB" sz="2800" dirty="0"/>
              <a:t>Predictive Analytics: Using regression models and neural networks to forecast sales, customer behaviour, and market trends.</a:t>
            </a:r>
          </a:p>
          <a:p>
            <a:pPr lvl="1"/>
            <a:r>
              <a:rPr lang="en-GB" sz="2800" dirty="0"/>
              <a:t>Risk Management: Applying statistical methods and machine learning to identify and mitigate risks.</a:t>
            </a:r>
          </a:p>
          <a:p>
            <a:pPr lvl="0"/>
            <a:r>
              <a:rPr lang="en-GB" dirty="0"/>
              <a:t>Operational Efficiency:</a:t>
            </a:r>
          </a:p>
          <a:p>
            <a:pPr lvl="1"/>
            <a:r>
              <a:rPr lang="en-GB" sz="2800" dirty="0"/>
              <a:t>Process Automation: Implementing AI-driven automation for repetitive tasks, such as data entry and customer service.</a:t>
            </a:r>
          </a:p>
          <a:p>
            <a:pPr lvl="1"/>
            <a:r>
              <a:rPr lang="en-GB" sz="2800" dirty="0"/>
              <a:t>Quality Control: Using machine vision to detect defects in manufacturing processes.</a:t>
            </a:r>
          </a:p>
          <a:p>
            <a:pPr lvl="0"/>
            <a:r>
              <a:rPr lang="en-GB" dirty="0"/>
              <a:t>Customer Insights:</a:t>
            </a:r>
          </a:p>
          <a:p>
            <a:pPr lvl="1"/>
            <a:r>
              <a:rPr lang="en-GB" sz="2800" dirty="0"/>
              <a:t>Segmentation and Targeting: Using clustering techniques to segment customers and tailor marketing strategies.</a:t>
            </a:r>
          </a:p>
          <a:p>
            <a:pPr lvl="1"/>
            <a:r>
              <a:rPr lang="en-GB" sz="2800" dirty="0"/>
              <a:t>Sentiment Analysis: Applying NLP to analyse customer feedback and improve products and services.</a:t>
            </a:r>
          </a:p>
          <a:p>
            <a:pPr lvl="0"/>
            <a:r>
              <a:rPr lang="en-GB" dirty="0"/>
              <a:t>Innovation and Development:</a:t>
            </a:r>
          </a:p>
          <a:p>
            <a:pPr lvl="1"/>
            <a:r>
              <a:rPr lang="en-GB" sz="2800" dirty="0"/>
              <a:t>Product Development: Leveraging AI to design and test new products, such as using generative models for design optimisation.</a:t>
            </a:r>
          </a:p>
          <a:p>
            <a:pPr lvl="1"/>
            <a:r>
              <a:rPr lang="en-GB" sz="2800" dirty="0"/>
              <a:t>Research and Development: Using data mining and machine learning to discover new insights and drive innovation.</a:t>
            </a:r>
          </a:p>
          <a:p>
            <a:endParaRPr lang="en-GB" dirty="0"/>
          </a:p>
        </p:txBody>
      </p:sp>
      <p:sp>
        <p:nvSpPr>
          <p:cNvPr id="4" name="Slide Number Placeholder 3">
            <a:extLst>
              <a:ext uri="{FF2B5EF4-FFF2-40B4-BE49-F238E27FC236}">
                <a16:creationId xmlns:a16="http://schemas.microsoft.com/office/drawing/2014/main" id="{AB72A96E-2643-86BF-23F2-3B7A0ABB443B}"/>
              </a:ext>
            </a:extLst>
          </p:cNvPr>
          <p:cNvSpPr>
            <a:spLocks noGrp="1"/>
          </p:cNvSpPr>
          <p:nvPr>
            <p:ph type="sldNum" sz="quarter" idx="12"/>
          </p:nvPr>
        </p:nvSpPr>
        <p:spPr/>
        <p:txBody>
          <a:bodyPr/>
          <a:lstStyle/>
          <a:p>
            <a:fld id="{F74D7E6C-9B20-4593-B18C-8D2C7BEEFCA2}" type="slidenum">
              <a:rPr lang="en-GB" smtClean="0"/>
              <a:t>14</a:t>
            </a:fld>
            <a:endParaRPr lang="en-GB"/>
          </a:p>
        </p:txBody>
      </p:sp>
    </p:spTree>
    <p:extLst>
      <p:ext uri="{BB962C8B-B14F-4D97-AF65-F5344CB8AC3E}">
        <p14:creationId xmlns:p14="http://schemas.microsoft.com/office/powerpoint/2010/main" val="1366968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140BB-27D1-CA2A-C6D0-D23DA24F96D8}"/>
              </a:ext>
            </a:extLst>
          </p:cNvPr>
          <p:cNvSpPr>
            <a:spLocks noGrp="1"/>
          </p:cNvSpPr>
          <p:nvPr>
            <p:ph type="title"/>
          </p:nvPr>
        </p:nvSpPr>
        <p:spPr/>
        <p:txBody>
          <a:bodyPr/>
          <a:lstStyle/>
          <a:p>
            <a:r>
              <a:rPr lang="en-GB" dirty="0"/>
              <a:t>D09</a:t>
            </a:r>
          </a:p>
        </p:txBody>
      </p:sp>
      <p:sp>
        <p:nvSpPr>
          <p:cNvPr id="3" name="Content Placeholder 2">
            <a:extLst>
              <a:ext uri="{FF2B5EF4-FFF2-40B4-BE49-F238E27FC236}">
                <a16:creationId xmlns:a16="http://schemas.microsoft.com/office/drawing/2014/main" id="{BDC04191-FC95-D521-9692-B4C842FC91DA}"/>
              </a:ext>
            </a:extLst>
          </p:cNvPr>
          <p:cNvSpPr>
            <a:spLocks noGrp="1"/>
          </p:cNvSpPr>
          <p:nvPr>
            <p:ph idx="1"/>
          </p:nvPr>
        </p:nvSpPr>
        <p:spPr/>
        <p:txBody>
          <a:bodyPr>
            <a:normAutofit fontScale="77500" lnSpcReduction="20000"/>
          </a:bodyPr>
          <a:lstStyle/>
          <a:p>
            <a:r>
              <a:rPr lang="en-GB" dirty="0"/>
              <a:t>D9: Distinction criterion: Explains when they have challenged the norm through investigating and proposing a solution and the impact this had.</a:t>
            </a:r>
          </a:p>
          <a:p>
            <a:pPr marL="0" indent="0">
              <a:buNone/>
            </a:pPr>
            <a:r>
              <a:rPr lang="en-GB" dirty="0"/>
              <a:t>Clarification: This distinction level assessment criterion is asking the apprentice to demonstrate their ability to think critically and innovate by challenging established practices or norms.</a:t>
            </a:r>
          </a:p>
          <a:p>
            <a:pPr marL="0" lvl="0" indent="0">
              <a:buNone/>
            </a:pPr>
            <a:r>
              <a:rPr lang="en-GB" dirty="0"/>
              <a:t>Challenging the Norm: Describe a situation where they identified an existing practice, process, or belief that they felt needed improvement or change. This could be in any context, such as a business process, a technical approach, or a team dynamic.</a:t>
            </a:r>
          </a:p>
          <a:p>
            <a:pPr marL="0" lvl="0" indent="0">
              <a:buNone/>
            </a:pPr>
            <a:r>
              <a:rPr lang="en-GB" dirty="0"/>
              <a:t>Investigating: Explain how they conducted research or gathered data to understand the issue better. This might involve analysing data, consulting with experts, or reviewing relevant literature. The goal is to show that their challenge was based on informed insights rather than assumptions.</a:t>
            </a:r>
          </a:p>
          <a:p>
            <a:pPr marL="0" lvl="0" indent="0">
              <a:buNone/>
            </a:pPr>
            <a:r>
              <a:rPr lang="en-GB" dirty="0"/>
              <a:t>Proposing a Solution: Detail the solution they proposed to address the issue. Highlight the innovative aspects of their solution and how it differed from the existing norm. This could include new methodologies, technologies, or strategies.</a:t>
            </a:r>
          </a:p>
          <a:p>
            <a:pPr marL="0" lvl="0" indent="0">
              <a:buNone/>
            </a:pPr>
            <a:r>
              <a:rPr lang="en-GB" dirty="0"/>
              <a:t>Impact: Discuss the impact of their proposed solution. This could involve improvements in efficiency, cost savings, enhanced performance, or other measurable benefits. Be specific about the positive outcomes and how they validated their approach.</a:t>
            </a:r>
          </a:p>
          <a:p>
            <a:endParaRPr lang="en-GB" dirty="0"/>
          </a:p>
        </p:txBody>
      </p:sp>
      <p:sp>
        <p:nvSpPr>
          <p:cNvPr id="4" name="Slide Number Placeholder 3">
            <a:extLst>
              <a:ext uri="{FF2B5EF4-FFF2-40B4-BE49-F238E27FC236}">
                <a16:creationId xmlns:a16="http://schemas.microsoft.com/office/drawing/2014/main" id="{CADABFF6-70DD-1FD6-5F2E-C35278159098}"/>
              </a:ext>
            </a:extLst>
          </p:cNvPr>
          <p:cNvSpPr>
            <a:spLocks noGrp="1"/>
          </p:cNvSpPr>
          <p:nvPr>
            <p:ph type="sldNum" sz="quarter" idx="12"/>
          </p:nvPr>
        </p:nvSpPr>
        <p:spPr/>
        <p:txBody>
          <a:bodyPr/>
          <a:lstStyle/>
          <a:p>
            <a:fld id="{F74D7E6C-9B20-4593-B18C-8D2C7BEEFCA2}" type="slidenum">
              <a:rPr lang="en-GB" smtClean="0"/>
              <a:t>15</a:t>
            </a:fld>
            <a:endParaRPr lang="en-GB"/>
          </a:p>
        </p:txBody>
      </p:sp>
    </p:spTree>
    <p:extLst>
      <p:ext uri="{BB962C8B-B14F-4D97-AF65-F5344CB8AC3E}">
        <p14:creationId xmlns:p14="http://schemas.microsoft.com/office/powerpoint/2010/main" val="3505472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2376D-B6DC-112D-FD18-C9A0D6902837}"/>
              </a:ext>
            </a:extLst>
          </p:cNvPr>
          <p:cNvSpPr>
            <a:spLocks noGrp="1"/>
          </p:cNvSpPr>
          <p:nvPr>
            <p:ph type="title"/>
          </p:nvPr>
        </p:nvSpPr>
        <p:spPr/>
        <p:txBody>
          <a:bodyPr/>
          <a:lstStyle/>
          <a:p>
            <a:r>
              <a:rPr lang="en-GB" dirty="0"/>
              <a:t>Today’s Objectives</a:t>
            </a:r>
          </a:p>
        </p:txBody>
      </p:sp>
      <p:sp>
        <p:nvSpPr>
          <p:cNvPr id="3" name="Content Placeholder 2">
            <a:extLst>
              <a:ext uri="{FF2B5EF4-FFF2-40B4-BE49-F238E27FC236}">
                <a16:creationId xmlns:a16="http://schemas.microsoft.com/office/drawing/2014/main" id="{FE326B8B-F3DD-9A69-43C7-AC47F9B159E8}"/>
              </a:ext>
            </a:extLst>
          </p:cNvPr>
          <p:cNvSpPr>
            <a:spLocks noGrp="1"/>
          </p:cNvSpPr>
          <p:nvPr>
            <p:ph idx="1"/>
          </p:nvPr>
        </p:nvSpPr>
        <p:spPr>
          <a:xfrm>
            <a:off x="400050" y="1846926"/>
            <a:ext cx="11563350" cy="4020474"/>
          </a:xfrm>
        </p:spPr>
        <p:txBody>
          <a:bodyPr>
            <a:normAutofit lnSpcReduction="10000"/>
          </a:bodyPr>
          <a:lstStyle/>
          <a:p>
            <a:r>
              <a:rPr lang="en-GB" sz="3600" dirty="0"/>
              <a:t>Understand and follow the ML model design workflow for supervised learning</a:t>
            </a:r>
          </a:p>
          <a:p>
            <a:r>
              <a:rPr lang="en-GB" sz="3600" dirty="0"/>
              <a:t>Understand the linear function</a:t>
            </a:r>
          </a:p>
          <a:p>
            <a:r>
              <a:rPr lang="en-GB" sz="3600" dirty="0"/>
              <a:t>Know how to create a linear model with scikit-learn library</a:t>
            </a:r>
          </a:p>
          <a:p>
            <a:r>
              <a:rPr lang="en-GB" sz="3600" dirty="0"/>
              <a:t>Know how to predict with a model the target values for new instances</a:t>
            </a:r>
          </a:p>
          <a:p>
            <a:r>
              <a:rPr lang="en-GB" sz="3600" dirty="0"/>
              <a:t>Know how to evaluate the model performance</a:t>
            </a:r>
          </a:p>
          <a:p>
            <a:endParaRPr lang="en-GB" sz="3600" dirty="0"/>
          </a:p>
          <a:p>
            <a:pPr algn="r"/>
            <a:endParaRPr lang="en-GB" sz="3600" dirty="0">
              <a:solidFill>
                <a:schemeClr val="bg1">
                  <a:lumMod val="75000"/>
                </a:schemeClr>
              </a:solidFill>
            </a:endParaRPr>
          </a:p>
          <a:p>
            <a:pPr algn="r"/>
            <a:endParaRPr lang="en-GB" sz="3600" dirty="0">
              <a:solidFill>
                <a:schemeClr val="bg1">
                  <a:lumMod val="75000"/>
                </a:schemeClr>
              </a:solidFill>
            </a:endParaRPr>
          </a:p>
          <a:p>
            <a:pPr algn="r"/>
            <a:endParaRPr lang="en-GB" sz="3600" dirty="0">
              <a:solidFill>
                <a:schemeClr val="bg1">
                  <a:lumMod val="75000"/>
                </a:schemeClr>
              </a:solidFill>
            </a:endParaRPr>
          </a:p>
          <a:p>
            <a:pPr algn="r"/>
            <a:endParaRPr lang="en-GB" sz="3600" dirty="0">
              <a:solidFill>
                <a:schemeClr val="bg1">
                  <a:lumMod val="75000"/>
                </a:schemeClr>
              </a:solidFill>
            </a:endParaRPr>
          </a:p>
        </p:txBody>
      </p:sp>
      <p:sp>
        <p:nvSpPr>
          <p:cNvPr id="4" name="Slide Number Placeholder 3">
            <a:extLst>
              <a:ext uri="{FF2B5EF4-FFF2-40B4-BE49-F238E27FC236}">
                <a16:creationId xmlns:a16="http://schemas.microsoft.com/office/drawing/2014/main" id="{FE12ABB5-903B-640E-C3CB-C7A28E6D2624}"/>
              </a:ext>
            </a:extLst>
          </p:cNvPr>
          <p:cNvSpPr>
            <a:spLocks noGrp="1"/>
          </p:cNvSpPr>
          <p:nvPr>
            <p:ph type="sldNum" sz="quarter" idx="12"/>
          </p:nvPr>
        </p:nvSpPr>
        <p:spPr/>
        <p:txBody>
          <a:bodyPr/>
          <a:lstStyle/>
          <a:p>
            <a:fld id="{F74D7E6C-9B20-4593-B18C-8D2C7BEEFCA2}" type="slidenum">
              <a:rPr lang="en-GB" smtClean="0"/>
              <a:t>16</a:t>
            </a:fld>
            <a:endParaRPr lang="en-GB"/>
          </a:p>
        </p:txBody>
      </p:sp>
    </p:spTree>
    <p:extLst>
      <p:ext uri="{BB962C8B-B14F-4D97-AF65-F5344CB8AC3E}">
        <p14:creationId xmlns:p14="http://schemas.microsoft.com/office/powerpoint/2010/main" val="42277426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4B4C5-586E-8C76-CDDE-FAC68DF36ADF}"/>
              </a:ext>
            </a:extLst>
          </p:cNvPr>
          <p:cNvSpPr>
            <a:spLocks noGrp="1"/>
          </p:cNvSpPr>
          <p:nvPr>
            <p:ph type="title"/>
          </p:nvPr>
        </p:nvSpPr>
        <p:spPr/>
        <p:txBody>
          <a:bodyPr/>
          <a:lstStyle/>
          <a:p>
            <a:r>
              <a:rPr lang="en-GB" dirty="0"/>
              <a:t>ML model design workflow</a:t>
            </a:r>
          </a:p>
        </p:txBody>
      </p:sp>
      <p:sp>
        <p:nvSpPr>
          <p:cNvPr id="3" name="Text Placeholder 2">
            <a:extLst>
              <a:ext uri="{FF2B5EF4-FFF2-40B4-BE49-F238E27FC236}">
                <a16:creationId xmlns:a16="http://schemas.microsoft.com/office/drawing/2014/main" id="{16B1685B-BFA1-C941-4BE1-E81A2BBCE14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CC6FB0B-4680-1812-8C57-185552962393}"/>
              </a:ext>
            </a:extLst>
          </p:cNvPr>
          <p:cNvSpPr>
            <a:spLocks noGrp="1"/>
          </p:cNvSpPr>
          <p:nvPr>
            <p:ph type="sldNum" sz="quarter" idx="12"/>
          </p:nvPr>
        </p:nvSpPr>
        <p:spPr/>
        <p:txBody>
          <a:bodyPr/>
          <a:lstStyle/>
          <a:p>
            <a:fld id="{F74D7E6C-9B20-4593-B18C-8D2C7BEEFCA2}" type="slidenum">
              <a:rPr lang="en-GB" smtClean="0"/>
              <a:t>17</a:t>
            </a:fld>
            <a:endParaRPr lang="en-GB"/>
          </a:p>
        </p:txBody>
      </p:sp>
    </p:spTree>
    <p:extLst>
      <p:ext uri="{BB962C8B-B14F-4D97-AF65-F5344CB8AC3E}">
        <p14:creationId xmlns:p14="http://schemas.microsoft.com/office/powerpoint/2010/main" val="1190776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71420-09BE-2EF9-45CD-AFB54F195C6D}"/>
              </a:ext>
            </a:extLst>
          </p:cNvPr>
          <p:cNvSpPr>
            <a:spLocks noGrp="1"/>
          </p:cNvSpPr>
          <p:nvPr>
            <p:ph type="title"/>
          </p:nvPr>
        </p:nvSpPr>
        <p:spPr>
          <a:xfrm>
            <a:off x="323851" y="136526"/>
            <a:ext cx="8814086" cy="920749"/>
          </a:xfrm>
        </p:spPr>
        <p:txBody>
          <a:bodyPr>
            <a:normAutofit fontScale="90000"/>
          </a:bodyPr>
          <a:lstStyle/>
          <a:p>
            <a:r>
              <a:rPr lang="en-GB" dirty="0"/>
              <a:t>ML model design workflow for supervised learning</a:t>
            </a:r>
          </a:p>
        </p:txBody>
      </p:sp>
      <p:sp>
        <p:nvSpPr>
          <p:cNvPr id="4" name="Slide Number Placeholder 3">
            <a:extLst>
              <a:ext uri="{FF2B5EF4-FFF2-40B4-BE49-F238E27FC236}">
                <a16:creationId xmlns:a16="http://schemas.microsoft.com/office/drawing/2014/main" id="{97B65350-904A-5583-3858-63BDCCAFA941}"/>
              </a:ext>
            </a:extLst>
          </p:cNvPr>
          <p:cNvSpPr>
            <a:spLocks noGrp="1"/>
          </p:cNvSpPr>
          <p:nvPr>
            <p:ph type="sldNum" sz="quarter" idx="12"/>
          </p:nvPr>
        </p:nvSpPr>
        <p:spPr/>
        <p:txBody>
          <a:bodyPr/>
          <a:lstStyle/>
          <a:p>
            <a:fld id="{F74D7E6C-9B20-4593-B18C-8D2C7BEEFCA2}" type="slidenum">
              <a:rPr lang="en-GB" smtClean="0"/>
              <a:t>18</a:t>
            </a:fld>
            <a:endParaRPr lang="en-GB"/>
          </a:p>
        </p:txBody>
      </p:sp>
      <p:sp>
        <p:nvSpPr>
          <p:cNvPr id="5" name="TextBox 4">
            <a:extLst>
              <a:ext uri="{FF2B5EF4-FFF2-40B4-BE49-F238E27FC236}">
                <a16:creationId xmlns:a16="http://schemas.microsoft.com/office/drawing/2014/main" id="{F0DCBF75-CDE7-C7E2-3459-CBFAC2B1E233}"/>
              </a:ext>
            </a:extLst>
          </p:cNvPr>
          <p:cNvSpPr txBox="1"/>
          <p:nvPr/>
        </p:nvSpPr>
        <p:spPr>
          <a:xfrm>
            <a:off x="776802" y="1839128"/>
            <a:ext cx="1510302" cy="840230"/>
          </a:xfrm>
          <a:prstGeom prst="rect">
            <a:avLst/>
          </a:prstGeom>
          <a:solidFill>
            <a:srgbClr val="7030A0"/>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9pPr>
          </a:lstStyle>
          <a:p>
            <a:pPr algn="ctr"/>
            <a:r>
              <a:rPr lang="en-US" sz="1620" dirty="0">
                <a:solidFill>
                  <a:schemeClr val="bg1"/>
                </a:solidFill>
              </a:rPr>
              <a:t>1. Understand the business problem</a:t>
            </a:r>
          </a:p>
        </p:txBody>
      </p:sp>
      <p:sp>
        <p:nvSpPr>
          <p:cNvPr id="6" name="TextBox 5">
            <a:extLst>
              <a:ext uri="{FF2B5EF4-FFF2-40B4-BE49-F238E27FC236}">
                <a16:creationId xmlns:a16="http://schemas.microsoft.com/office/drawing/2014/main" id="{ACCD093B-7DB7-BDE7-4A86-F2FADB89F78C}"/>
              </a:ext>
            </a:extLst>
          </p:cNvPr>
          <p:cNvSpPr txBox="1"/>
          <p:nvPr/>
        </p:nvSpPr>
        <p:spPr>
          <a:xfrm>
            <a:off x="774058" y="3485306"/>
            <a:ext cx="1513046" cy="1588127"/>
          </a:xfrm>
          <a:prstGeom prst="rect">
            <a:avLst/>
          </a:prstGeom>
          <a:solidFill>
            <a:srgbClr val="7030A0"/>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9pPr>
          </a:lstStyle>
          <a:p>
            <a:pPr algn="ctr"/>
            <a:r>
              <a:rPr lang="en-US" sz="1620" dirty="0">
                <a:solidFill>
                  <a:schemeClr val="bg1"/>
                </a:solidFill>
              </a:rPr>
              <a:t>2. Understand the data and decide the tools and methods to use</a:t>
            </a:r>
          </a:p>
        </p:txBody>
      </p:sp>
      <p:sp>
        <p:nvSpPr>
          <p:cNvPr id="7" name="TextBox 6">
            <a:extLst>
              <a:ext uri="{FF2B5EF4-FFF2-40B4-BE49-F238E27FC236}">
                <a16:creationId xmlns:a16="http://schemas.microsoft.com/office/drawing/2014/main" id="{C4401A96-5968-1F7C-9FC4-D3673968EFE3}"/>
              </a:ext>
            </a:extLst>
          </p:cNvPr>
          <p:cNvSpPr txBox="1"/>
          <p:nvPr/>
        </p:nvSpPr>
        <p:spPr>
          <a:xfrm>
            <a:off x="2520195" y="6152664"/>
            <a:ext cx="1363028" cy="590931"/>
          </a:xfrm>
          <a:prstGeom prst="rect">
            <a:avLst/>
          </a:prstGeom>
          <a:solidFill>
            <a:srgbClr val="0070C0"/>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9pPr>
          </a:lstStyle>
          <a:p>
            <a:pPr algn="ctr"/>
            <a:r>
              <a:rPr lang="en-US" sz="1620" dirty="0">
                <a:solidFill>
                  <a:schemeClr val="bg1"/>
                </a:solidFill>
              </a:rPr>
              <a:t>3. Extract the data</a:t>
            </a:r>
          </a:p>
        </p:txBody>
      </p:sp>
      <p:sp>
        <p:nvSpPr>
          <p:cNvPr id="8" name="TextBox 7">
            <a:extLst>
              <a:ext uri="{FF2B5EF4-FFF2-40B4-BE49-F238E27FC236}">
                <a16:creationId xmlns:a16="http://schemas.microsoft.com/office/drawing/2014/main" id="{5E78CD7D-FAEF-D1EA-ACEA-C19707DD3483}"/>
              </a:ext>
            </a:extLst>
          </p:cNvPr>
          <p:cNvSpPr txBox="1"/>
          <p:nvPr/>
        </p:nvSpPr>
        <p:spPr>
          <a:xfrm>
            <a:off x="2515900" y="4354502"/>
            <a:ext cx="1367323" cy="1089529"/>
          </a:xfrm>
          <a:prstGeom prst="rect">
            <a:avLst/>
          </a:prstGeom>
          <a:solidFill>
            <a:srgbClr val="0070C0"/>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9pPr>
          </a:lstStyle>
          <a:p>
            <a:pPr algn="ctr"/>
            <a:r>
              <a:rPr lang="en-US" sz="1620" dirty="0">
                <a:solidFill>
                  <a:schemeClr val="bg1"/>
                </a:solidFill>
              </a:rPr>
              <a:t>4. Perform an initial investigation of the data</a:t>
            </a:r>
          </a:p>
        </p:txBody>
      </p:sp>
      <p:sp>
        <p:nvSpPr>
          <p:cNvPr id="9" name="TextBox 8">
            <a:extLst>
              <a:ext uri="{FF2B5EF4-FFF2-40B4-BE49-F238E27FC236}">
                <a16:creationId xmlns:a16="http://schemas.microsoft.com/office/drawing/2014/main" id="{49145879-6E28-BD77-5228-9A7C22045AF9}"/>
              </a:ext>
            </a:extLst>
          </p:cNvPr>
          <p:cNvSpPr txBox="1"/>
          <p:nvPr/>
        </p:nvSpPr>
        <p:spPr>
          <a:xfrm>
            <a:off x="2515900" y="3174451"/>
            <a:ext cx="1367323" cy="840230"/>
          </a:xfrm>
          <a:prstGeom prst="rect">
            <a:avLst/>
          </a:prstGeom>
          <a:solidFill>
            <a:srgbClr val="0070C0"/>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9pPr>
          </a:lstStyle>
          <a:p>
            <a:pPr algn="ctr"/>
            <a:r>
              <a:rPr lang="en-US" sz="1620" dirty="0">
                <a:solidFill>
                  <a:schemeClr val="bg1"/>
                </a:solidFill>
              </a:rPr>
              <a:t>5. Perform data cleaning</a:t>
            </a:r>
          </a:p>
        </p:txBody>
      </p:sp>
      <p:sp>
        <p:nvSpPr>
          <p:cNvPr id="10" name="TextBox 9">
            <a:extLst>
              <a:ext uri="{FF2B5EF4-FFF2-40B4-BE49-F238E27FC236}">
                <a16:creationId xmlns:a16="http://schemas.microsoft.com/office/drawing/2014/main" id="{8403331E-A5E6-2528-B30C-33E4A02AD5FB}"/>
              </a:ext>
            </a:extLst>
          </p:cNvPr>
          <p:cNvSpPr txBox="1"/>
          <p:nvPr/>
        </p:nvSpPr>
        <p:spPr>
          <a:xfrm>
            <a:off x="5710681" y="6293521"/>
            <a:ext cx="3847360" cy="341632"/>
          </a:xfrm>
          <a:prstGeom prst="rect">
            <a:avLst/>
          </a:prstGeom>
          <a:solidFill>
            <a:srgbClr val="92D050"/>
          </a:solidFill>
          <a:ln w="28575">
            <a:solidFill>
              <a:srgbClr val="00B050"/>
            </a:solidFill>
          </a:ln>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9pPr>
          </a:lstStyle>
          <a:p>
            <a:pPr algn="ctr"/>
            <a:r>
              <a:rPr lang="en-US" sz="1620" dirty="0">
                <a:solidFill>
                  <a:schemeClr val="bg1">
                    <a:lumMod val="95000"/>
                  </a:schemeClr>
                </a:solidFill>
              </a:rPr>
              <a:t>14. Interpret the results</a:t>
            </a:r>
          </a:p>
        </p:txBody>
      </p:sp>
      <p:sp>
        <p:nvSpPr>
          <p:cNvPr id="11" name="TextBox 10">
            <a:extLst>
              <a:ext uri="{FF2B5EF4-FFF2-40B4-BE49-F238E27FC236}">
                <a16:creationId xmlns:a16="http://schemas.microsoft.com/office/drawing/2014/main" id="{F4F3E765-E4E4-865A-FB74-0A8EF8C5E2C6}"/>
              </a:ext>
            </a:extLst>
          </p:cNvPr>
          <p:cNvSpPr txBox="1"/>
          <p:nvPr/>
        </p:nvSpPr>
        <p:spPr>
          <a:xfrm>
            <a:off x="2520196" y="1516716"/>
            <a:ext cx="1361778" cy="1338828"/>
          </a:xfrm>
          <a:prstGeom prst="rect">
            <a:avLst/>
          </a:prstGeom>
          <a:solidFill>
            <a:srgbClr val="0070C0"/>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9pPr>
          </a:lstStyle>
          <a:p>
            <a:pPr algn="ctr"/>
            <a:r>
              <a:rPr lang="en-US" sz="1620" dirty="0">
                <a:solidFill>
                  <a:schemeClr val="bg1"/>
                </a:solidFill>
              </a:rPr>
              <a:t>6. Perform the Exploratory Data Analysis</a:t>
            </a:r>
          </a:p>
        </p:txBody>
      </p:sp>
      <p:sp>
        <p:nvSpPr>
          <p:cNvPr id="12" name="Oval 11">
            <a:extLst>
              <a:ext uri="{FF2B5EF4-FFF2-40B4-BE49-F238E27FC236}">
                <a16:creationId xmlns:a16="http://schemas.microsoft.com/office/drawing/2014/main" id="{71A3F1FD-CEED-E939-A3B8-871C6E1BA150}"/>
              </a:ext>
            </a:extLst>
          </p:cNvPr>
          <p:cNvSpPr/>
          <p:nvPr/>
        </p:nvSpPr>
        <p:spPr>
          <a:xfrm>
            <a:off x="6291409" y="3911886"/>
            <a:ext cx="1429618" cy="1429618"/>
          </a:xfrm>
          <a:prstGeom prst="ellipse">
            <a:avLst/>
          </a:prstGeom>
          <a:solidFill>
            <a:srgbClr val="00B0F0"/>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9pPr>
          </a:lstStyle>
          <a:p>
            <a:pPr algn="ctr"/>
            <a:endParaRPr lang="en-US" sz="1215" dirty="0">
              <a:solidFill>
                <a:schemeClr val="bg1">
                  <a:lumMod val="95000"/>
                </a:schemeClr>
              </a:solidFill>
            </a:endParaRPr>
          </a:p>
          <a:p>
            <a:pPr algn="ctr"/>
            <a:r>
              <a:rPr lang="en-US" sz="1215" dirty="0">
                <a:solidFill>
                  <a:schemeClr val="bg1">
                    <a:lumMod val="95000"/>
                  </a:schemeClr>
                </a:solidFill>
              </a:rPr>
              <a:t>13.Feature engineering</a:t>
            </a:r>
          </a:p>
          <a:p>
            <a:pPr algn="ctr"/>
            <a:endParaRPr lang="en-GB" sz="1215" dirty="0">
              <a:solidFill>
                <a:schemeClr val="bg1">
                  <a:lumMod val="95000"/>
                </a:schemeClr>
              </a:solidFill>
            </a:endParaRPr>
          </a:p>
        </p:txBody>
      </p:sp>
      <p:sp>
        <p:nvSpPr>
          <p:cNvPr id="13" name="Oval 12">
            <a:extLst>
              <a:ext uri="{FF2B5EF4-FFF2-40B4-BE49-F238E27FC236}">
                <a16:creationId xmlns:a16="http://schemas.microsoft.com/office/drawing/2014/main" id="{E78BFC04-D021-07AD-4ED6-F5C9F640879F}"/>
              </a:ext>
            </a:extLst>
          </p:cNvPr>
          <p:cNvSpPr/>
          <p:nvPr/>
        </p:nvSpPr>
        <p:spPr>
          <a:xfrm>
            <a:off x="7895690" y="4393790"/>
            <a:ext cx="1307940" cy="1339441"/>
          </a:xfrm>
          <a:prstGeom prst="ellipse">
            <a:avLst/>
          </a:prstGeom>
          <a:noFill/>
          <a:ln w="38100">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9pPr>
          </a:lstStyle>
          <a:p>
            <a:pPr algn="ctr"/>
            <a:r>
              <a:rPr lang="en-US" sz="1000" dirty="0">
                <a:solidFill>
                  <a:schemeClr val="bg1">
                    <a:lumMod val="95000"/>
                  </a:schemeClr>
                </a:solidFill>
              </a:rPr>
              <a:t>Check the model assumptions (if any)</a:t>
            </a:r>
            <a:endParaRPr lang="en-GB" sz="1000" dirty="0">
              <a:solidFill>
                <a:schemeClr val="bg1">
                  <a:lumMod val="95000"/>
                </a:schemeClr>
              </a:solidFill>
            </a:endParaRPr>
          </a:p>
        </p:txBody>
      </p:sp>
      <p:sp>
        <p:nvSpPr>
          <p:cNvPr id="14" name="Oval 13">
            <a:extLst>
              <a:ext uri="{FF2B5EF4-FFF2-40B4-BE49-F238E27FC236}">
                <a16:creationId xmlns:a16="http://schemas.microsoft.com/office/drawing/2014/main" id="{AC01B5DB-4FDA-38A9-0B16-B7AB513EDB1E}"/>
              </a:ext>
            </a:extLst>
          </p:cNvPr>
          <p:cNvSpPr/>
          <p:nvPr/>
        </p:nvSpPr>
        <p:spPr>
          <a:xfrm>
            <a:off x="4307979" y="1563031"/>
            <a:ext cx="1169630" cy="1169630"/>
          </a:xfrm>
          <a:prstGeom prst="ellipse">
            <a:avLst/>
          </a:prstGeom>
          <a:solidFill>
            <a:srgbClr val="ADA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9pPr>
          </a:lstStyle>
          <a:p>
            <a:pPr algn="ctr"/>
            <a:r>
              <a:rPr lang="en-US" sz="1350" dirty="0">
                <a:solidFill>
                  <a:schemeClr val="bg1">
                    <a:lumMod val="95000"/>
                  </a:schemeClr>
                </a:solidFill>
              </a:rPr>
              <a:t>7. Define the target</a:t>
            </a:r>
          </a:p>
          <a:p>
            <a:pPr algn="ctr"/>
            <a:endParaRPr lang="en-GB" sz="1350" dirty="0">
              <a:solidFill>
                <a:schemeClr val="bg1">
                  <a:lumMod val="95000"/>
                </a:schemeClr>
              </a:solidFill>
            </a:endParaRPr>
          </a:p>
        </p:txBody>
      </p:sp>
      <p:sp>
        <p:nvSpPr>
          <p:cNvPr id="15" name="Oval 14">
            <a:extLst>
              <a:ext uri="{FF2B5EF4-FFF2-40B4-BE49-F238E27FC236}">
                <a16:creationId xmlns:a16="http://schemas.microsoft.com/office/drawing/2014/main" id="{B4DF09DF-0845-49E0-54FA-CC4EA640583A}"/>
              </a:ext>
            </a:extLst>
          </p:cNvPr>
          <p:cNvSpPr/>
          <p:nvPr/>
        </p:nvSpPr>
        <p:spPr>
          <a:xfrm>
            <a:off x="6268227" y="2649350"/>
            <a:ext cx="1136223" cy="1136223"/>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9pPr>
          </a:lstStyle>
          <a:p>
            <a:pPr algn="ctr"/>
            <a:r>
              <a:rPr lang="en-US" sz="1350" dirty="0">
                <a:solidFill>
                  <a:schemeClr val="bg1">
                    <a:lumMod val="95000"/>
                  </a:schemeClr>
                </a:solidFill>
              </a:rPr>
              <a:t>8. Select the features</a:t>
            </a:r>
          </a:p>
          <a:p>
            <a:pPr algn="ctr"/>
            <a:endParaRPr lang="en-GB" sz="1350" dirty="0">
              <a:solidFill>
                <a:schemeClr val="bg1">
                  <a:lumMod val="95000"/>
                </a:schemeClr>
              </a:solidFill>
            </a:endParaRPr>
          </a:p>
        </p:txBody>
      </p:sp>
      <p:sp>
        <p:nvSpPr>
          <p:cNvPr id="16" name="Oval 15">
            <a:extLst>
              <a:ext uri="{FF2B5EF4-FFF2-40B4-BE49-F238E27FC236}">
                <a16:creationId xmlns:a16="http://schemas.microsoft.com/office/drawing/2014/main" id="{161ABA05-CED3-247D-7371-651E5A294B66}"/>
              </a:ext>
            </a:extLst>
          </p:cNvPr>
          <p:cNvSpPr/>
          <p:nvPr/>
        </p:nvSpPr>
        <p:spPr>
          <a:xfrm>
            <a:off x="7014236" y="1459127"/>
            <a:ext cx="1271462" cy="127146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9pPr>
          </a:lstStyle>
          <a:p>
            <a:pPr algn="ctr"/>
            <a:endParaRPr lang="en-US" sz="1350" dirty="0">
              <a:solidFill>
                <a:schemeClr val="bg1">
                  <a:lumMod val="95000"/>
                </a:schemeClr>
              </a:solidFill>
            </a:endParaRPr>
          </a:p>
          <a:p>
            <a:pPr algn="ctr"/>
            <a:r>
              <a:rPr lang="en-US" sz="1350" dirty="0">
                <a:solidFill>
                  <a:schemeClr val="bg1">
                    <a:lumMod val="95000"/>
                  </a:schemeClr>
                </a:solidFill>
              </a:rPr>
              <a:t>9. Split data into train and test dataset</a:t>
            </a:r>
          </a:p>
          <a:p>
            <a:pPr algn="ctr"/>
            <a:endParaRPr lang="en-GB" sz="1350" dirty="0">
              <a:solidFill>
                <a:schemeClr val="bg1">
                  <a:lumMod val="95000"/>
                </a:schemeClr>
              </a:solidFill>
            </a:endParaRPr>
          </a:p>
        </p:txBody>
      </p:sp>
      <p:sp>
        <p:nvSpPr>
          <p:cNvPr id="17" name="Oval 16">
            <a:extLst>
              <a:ext uri="{FF2B5EF4-FFF2-40B4-BE49-F238E27FC236}">
                <a16:creationId xmlns:a16="http://schemas.microsoft.com/office/drawing/2014/main" id="{EBE8E865-101C-8374-686B-4A4DEB84BA06}"/>
              </a:ext>
            </a:extLst>
          </p:cNvPr>
          <p:cNvSpPr/>
          <p:nvPr/>
        </p:nvSpPr>
        <p:spPr>
          <a:xfrm>
            <a:off x="8526304" y="1369953"/>
            <a:ext cx="1434682" cy="143468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9pPr>
          </a:lstStyle>
          <a:p>
            <a:pPr algn="ctr"/>
            <a:endParaRPr lang="en-US" sz="1350" dirty="0">
              <a:solidFill>
                <a:schemeClr val="bg1">
                  <a:lumMod val="95000"/>
                </a:schemeClr>
              </a:solidFill>
            </a:endParaRPr>
          </a:p>
          <a:p>
            <a:pPr algn="ctr"/>
            <a:r>
              <a:rPr lang="en-US" sz="1350" dirty="0">
                <a:solidFill>
                  <a:schemeClr val="bg1">
                    <a:lumMod val="95000"/>
                  </a:schemeClr>
                </a:solidFill>
              </a:rPr>
              <a:t>10. Build and train the model on the train dataset</a:t>
            </a:r>
          </a:p>
          <a:p>
            <a:pPr algn="ctr"/>
            <a:endParaRPr lang="en-GB" sz="1350" dirty="0">
              <a:solidFill>
                <a:schemeClr val="bg1">
                  <a:lumMod val="95000"/>
                </a:schemeClr>
              </a:solidFill>
            </a:endParaRPr>
          </a:p>
        </p:txBody>
      </p:sp>
      <p:sp>
        <p:nvSpPr>
          <p:cNvPr id="18" name="Oval 17">
            <a:extLst>
              <a:ext uri="{FF2B5EF4-FFF2-40B4-BE49-F238E27FC236}">
                <a16:creationId xmlns:a16="http://schemas.microsoft.com/office/drawing/2014/main" id="{527820E7-86D6-2314-3517-F65D40007C1B}"/>
              </a:ext>
            </a:extLst>
          </p:cNvPr>
          <p:cNvSpPr/>
          <p:nvPr/>
        </p:nvSpPr>
        <p:spPr>
          <a:xfrm>
            <a:off x="9534105" y="2467773"/>
            <a:ext cx="1434682" cy="143468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9pPr>
          </a:lstStyle>
          <a:p>
            <a:pPr algn="ctr"/>
            <a:r>
              <a:rPr lang="en-US" sz="1350" dirty="0">
                <a:solidFill>
                  <a:schemeClr val="bg1">
                    <a:lumMod val="95000"/>
                  </a:schemeClr>
                </a:solidFill>
              </a:rPr>
              <a:t>11. Evaluate the model on the test dataset</a:t>
            </a:r>
          </a:p>
          <a:p>
            <a:pPr algn="ctr"/>
            <a:endParaRPr lang="en-GB" sz="1350" dirty="0">
              <a:solidFill>
                <a:schemeClr val="bg1">
                  <a:lumMod val="95000"/>
                </a:schemeClr>
              </a:solidFill>
            </a:endParaRPr>
          </a:p>
        </p:txBody>
      </p:sp>
      <p:sp>
        <p:nvSpPr>
          <p:cNvPr id="19" name="Oval 18">
            <a:extLst>
              <a:ext uri="{FF2B5EF4-FFF2-40B4-BE49-F238E27FC236}">
                <a16:creationId xmlns:a16="http://schemas.microsoft.com/office/drawing/2014/main" id="{F8C6EAF5-32C2-26AE-0D72-E2F3B474A849}"/>
              </a:ext>
            </a:extLst>
          </p:cNvPr>
          <p:cNvSpPr/>
          <p:nvPr/>
        </p:nvSpPr>
        <p:spPr>
          <a:xfrm>
            <a:off x="9376170" y="4135568"/>
            <a:ext cx="1169631" cy="116963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10" b="0" i="0" u="none" strike="noStrike" cap="none">
                <a:solidFill>
                  <a:srgbClr val="000000"/>
                </a:solidFill>
                <a:latin typeface="Arial"/>
                <a:ea typeface="Arial"/>
                <a:cs typeface="Arial"/>
                <a:sym typeface="Arial"/>
              </a:defRPr>
            </a:lvl9pPr>
          </a:lstStyle>
          <a:p>
            <a:pPr algn="ctr"/>
            <a:r>
              <a:rPr lang="en-US" sz="1350" dirty="0">
                <a:solidFill>
                  <a:schemeClr val="bg1">
                    <a:lumMod val="95000"/>
                  </a:schemeClr>
                </a:solidFill>
              </a:rPr>
              <a:t>12. Validate the model</a:t>
            </a:r>
          </a:p>
          <a:p>
            <a:pPr algn="ctr"/>
            <a:endParaRPr lang="en-GB" sz="1350" dirty="0">
              <a:solidFill>
                <a:schemeClr val="bg1">
                  <a:lumMod val="95000"/>
                </a:schemeClr>
              </a:solidFill>
            </a:endParaRPr>
          </a:p>
        </p:txBody>
      </p:sp>
      <p:cxnSp>
        <p:nvCxnSpPr>
          <p:cNvPr id="21" name="Connector: Curved 20">
            <a:extLst>
              <a:ext uri="{FF2B5EF4-FFF2-40B4-BE49-F238E27FC236}">
                <a16:creationId xmlns:a16="http://schemas.microsoft.com/office/drawing/2014/main" id="{1B7C5596-CAE6-CAFC-B6FF-15CD4C8B6D8C}"/>
              </a:ext>
            </a:extLst>
          </p:cNvPr>
          <p:cNvCxnSpPr>
            <a:stCxn id="6" idx="2"/>
            <a:endCxn id="7" idx="1"/>
          </p:cNvCxnSpPr>
          <p:nvPr/>
        </p:nvCxnSpPr>
        <p:spPr>
          <a:xfrm rot="16200000" flipH="1">
            <a:off x="1338040" y="5265974"/>
            <a:ext cx="1374697" cy="989614"/>
          </a:xfrm>
          <a:prstGeom prst="curvedConnector2">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DFCDA2F-87E2-1E58-02DD-2B15632F50C4}"/>
              </a:ext>
            </a:extLst>
          </p:cNvPr>
          <p:cNvCxnSpPr>
            <a:stCxn id="7" idx="0"/>
            <a:endCxn id="8" idx="2"/>
          </p:cNvCxnSpPr>
          <p:nvPr/>
        </p:nvCxnSpPr>
        <p:spPr>
          <a:xfrm flipH="1" flipV="1">
            <a:off x="3199562" y="5444031"/>
            <a:ext cx="2147" cy="708633"/>
          </a:xfrm>
          <a:prstGeom prst="straightConnector1">
            <a:avLst/>
          </a:prstGeom>
          <a:ln w="38100">
            <a:solidFill>
              <a:srgbClr val="0070C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A8CDF81-4659-900C-7AB7-1A66201D3A16}"/>
              </a:ext>
            </a:extLst>
          </p:cNvPr>
          <p:cNvCxnSpPr>
            <a:stCxn id="8" idx="0"/>
            <a:endCxn id="9" idx="2"/>
          </p:cNvCxnSpPr>
          <p:nvPr/>
        </p:nvCxnSpPr>
        <p:spPr>
          <a:xfrm flipV="1">
            <a:off x="3199562" y="4014681"/>
            <a:ext cx="0" cy="339821"/>
          </a:xfrm>
          <a:prstGeom prst="straightConnector1">
            <a:avLst/>
          </a:prstGeom>
          <a:ln w="38100">
            <a:solidFill>
              <a:srgbClr val="0070C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0F03317-D7FD-2713-82E1-863582E2F0C5}"/>
              </a:ext>
            </a:extLst>
          </p:cNvPr>
          <p:cNvCxnSpPr>
            <a:stCxn id="9" idx="0"/>
            <a:endCxn id="11" idx="2"/>
          </p:cNvCxnSpPr>
          <p:nvPr/>
        </p:nvCxnSpPr>
        <p:spPr>
          <a:xfrm flipV="1">
            <a:off x="3199562" y="2855544"/>
            <a:ext cx="1523" cy="318907"/>
          </a:xfrm>
          <a:prstGeom prst="straightConnector1">
            <a:avLst/>
          </a:prstGeom>
          <a:ln w="38100">
            <a:solidFill>
              <a:srgbClr val="0070C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Connector: Curved 25">
            <a:extLst>
              <a:ext uri="{FF2B5EF4-FFF2-40B4-BE49-F238E27FC236}">
                <a16:creationId xmlns:a16="http://schemas.microsoft.com/office/drawing/2014/main" id="{2ADC28CC-C69E-E736-D286-83DCB9E49D9B}"/>
              </a:ext>
            </a:extLst>
          </p:cNvPr>
          <p:cNvCxnSpPr>
            <a:cxnSpLocks/>
            <a:stCxn id="15" idx="0"/>
            <a:endCxn id="16" idx="2"/>
          </p:cNvCxnSpPr>
          <p:nvPr/>
        </p:nvCxnSpPr>
        <p:spPr>
          <a:xfrm rot="5400000" flipH="1" flipV="1">
            <a:off x="6648041" y="2283155"/>
            <a:ext cx="554492" cy="177898"/>
          </a:xfrm>
          <a:prstGeom prst="curvedConnector2">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or: Curved 26">
            <a:extLst>
              <a:ext uri="{FF2B5EF4-FFF2-40B4-BE49-F238E27FC236}">
                <a16:creationId xmlns:a16="http://schemas.microsoft.com/office/drawing/2014/main" id="{0822C03E-49E3-232B-BCA8-ACF9B42F5D9E}"/>
              </a:ext>
            </a:extLst>
          </p:cNvPr>
          <p:cNvCxnSpPr>
            <a:stCxn id="16" idx="0"/>
            <a:endCxn id="17" idx="0"/>
          </p:cNvCxnSpPr>
          <p:nvPr/>
        </p:nvCxnSpPr>
        <p:spPr>
          <a:xfrm rot="5400000" flipH="1" flipV="1">
            <a:off x="8402220" y="617701"/>
            <a:ext cx="89174" cy="1593678"/>
          </a:xfrm>
          <a:prstGeom prst="curvedConnector3">
            <a:avLst>
              <a:gd name="adj1" fmla="val 273039"/>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or: Curved 27">
            <a:extLst>
              <a:ext uri="{FF2B5EF4-FFF2-40B4-BE49-F238E27FC236}">
                <a16:creationId xmlns:a16="http://schemas.microsoft.com/office/drawing/2014/main" id="{816363F7-DF75-7210-07F2-493FE19C289C}"/>
              </a:ext>
            </a:extLst>
          </p:cNvPr>
          <p:cNvCxnSpPr>
            <a:cxnSpLocks/>
            <a:stCxn id="17" idx="6"/>
            <a:endCxn id="18" idx="7"/>
          </p:cNvCxnSpPr>
          <p:nvPr/>
        </p:nvCxnSpPr>
        <p:spPr>
          <a:xfrm>
            <a:off x="9960986" y="2087295"/>
            <a:ext cx="797696" cy="590582"/>
          </a:xfrm>
          <a:prstGeom prst="curvedConnector2">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Curved 28">
            <a:extLst>
              <a:ext uri="{FF2B5EF4-FFF2-40B4-BE49-F238E27FC236}">
                <a16:creationId xmlns:a16="http://schemas.microsoft.com/office/drawing/2014/main" id="{0312087C-0F30-BD69-8600-71DCE966D6FC}"/>
              </a:ext>
            </a:extLst>
          </p:cNvPr>
          <p:cNvCxnSpPr>
            <a:cxnSpLocks/>
          </p:cNvCxnSpPr>
          <p:nvPr/>
        </p:nvCxnSpPr>
        <p:spPr>
          <a:xfrm rot="5400000">
            <a:off x="10175789" y="4099927"/>
            <a:ext cx="1028034" cy="212881"/>
          </a:xfrm>
          <a:prstGeom prst="curvedConnector2">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Curved 29">
            <a:extLst>
              <a:ext uri="{FF2B5EF4-FFF2-40B4-BE49-F238E27FC236}">
                <a16:creationId xmlns:a16="http://schemas.microsoft.com/office/drawing/2014/main" id="{B54C0701-6F7D-BE97-AF54-9819F4135868}"/>
              </a:ext>
            </a:extLst>
          </p:cNvPr>
          <p:cNvCxnSpPr>
            <a:cxnSpLocks/>
            <a:stCxn id="19" idx="4"/>
            <a:endCxn id="13" idx="6"/>
          </p:cNvCxnSpPr>
          <p:nvPr/>
        </p:nvCxnSpPr>
        <p:spPr>
          <a:xfrm rot="5400000" flipH="1">
            <a:off x="9461464" y="4805677"/>
            <a:ext cx="241688" cy="757356"/>
          </a:xfrm>
          <a:prstGeom prst="curvedConnector4">
            <a:avLst>
              <a:gd name="adj1" fmla="val -94585"/>
              <a:gd name="adj2" fmla="val 88609"/>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F1079263-0B7E-64D1-AE84-509F0A8A8A8D}"/>
              </a:ext>
            </a:extLst>
          </p:cNvPr>
          <p:cNvCxnSpPr>
            <a:cxnSpLocks/>
            <a:stCxn id="19" idx="5"/>
            <a:endCxn id="10" idx="0"/>
          </p:cNvCxnSpPr>
          <p:nvPr/>
        </p:nvCxnSpPr>
        <p:spPr>
          <a:xfrm rot="5400000">
            <a:off x="8424632" y="4343640"/>
            <a:ext cx="1159610" cy="2740152"/>
          </a:xfrm>
          <a:prstGeom prst="curvedConnector3">
            <a:avLst>
              <a:gd name="adj1" fmla="val 75694"/>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Curved 31">
            <a:extLst>
              <a:ext uri="{FF2B5EF4-FFF2-40B4-BE49-F238E27FC236}">
                <a16:creationId xmlns:a16="http://schemas.microsoft.com/office/drawing/2014/main" id="{951B4768-F487-F49E-EF32-2A75CD2CF451}"/>
              </a:ext>
            </a:extLst>
          </p:cNvPr>
          <p:cNvCxnSpPr>
            <a:cxnSpLocks/>
            <a:stCxn id="13" idx="0"/>
            <a:endCxn id="12" idx="6"/>
          </p:cNvCxnSpPr>
          <p:nvPr/>
        </p:nvCxnSpPr>
        <p:spPr>
          <a:xfrm rot="16200000" flipH="1" flipV="1">
            <a:off x="8018891" y="4095925"/>
            <a:ext cx="232905" cy="828633"/>
          </a:xfrm>
          <a:prstGeom prst="curvedConnector4">
            <a:avLst>
              <a:gd name="adj1" fmla="val -98152"/>
              <a:gd name="adj2" fmla="val 8946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1E22A11F-B613-A422-B16E-14824C665B50}"/>
              </a:ext>
            </a:extLst>
          </p:cNvPr>
          <p:cNvCxnSpPr>
            <a:cxnSpLocks/>
            <a:stCxn id="12" idx="2"/>
            <a:endCxn id="15" idx="2"/>
          </p:cNvCxnSpPr>
          <p:nvPr/>
        </p:nvCxnSpPr>
        <p:spPr>
          <a:xfrm rot="10800000">
            <a:off x="6268227" y="3217463"/>
            <a:ext cx="23182" cy="1409233"/>
          </a:xfrm>
          <a:prstGeom prst="curvedConnector3">
            <a:avLst>
              <a:gd name="adj1" fmla="val 1086110"/>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or: Curved 33">
            <a:extLst>
              <a:ext uri="{FF2B5EF4-FFF2-40B4-BE49-F238E27FC236}">
                <a16:creationId xmlns:a16="http://schemas.microsoft.com/office/drawing/2014/main" id="{F5F63D47-E2EB-2FC3-5176-BA85CA7A0DD9}"/>
              </a:ext>
            </a:extLst>
          </p:cNvPr>
          <p:cNvCxnSpPr>
            <a:cxnSpLocks/>
            <a:stCxn id="19" idx="1"/>
            <a:endCxn id="12" idx="7"/>
          </p:cNvCxnSpPr>
          <p:nvPr/>
        </p:nvCxnSpPr>
        <p:spPr>
          <a:xfrm rot="16200000" flipV="1">
            <a:off x="8436758" y="3196156"/>
            <a:ext cx="185607" cy="2035794"/>
          </a:xfrm>
          <a:prstGeom prst="curvedConnector3">
            <a:avLst>
              <a:gd name="adj1" fmla="val 335963"/>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Curved 34">
            <a:extLst>
              <a:ext uri="{FF2B5EF4-FFF2-40B4-BE49-F238E27FC236}">
                <a16:creationId xmlns:a16="http://schemas.microsoft.com/office/drawing/2014/main" id="{EA481996-7551-378A-11EB-01750FC426D2}"/>
              </a:ext>
            </a:extLst>
          </p:cNvPr>
          <p:cNvCxnSpPr>
            <a:cxnSpLocks/>
            <a:stCxn id="13" idx="3"/>
            <a:endCxn id="6" idx="2"/>
          </p:cNvCxnSpPr>
          <p:nvPr/>
        </p:nvCxnSpPr>
        <p:spPr>
          <a:xfrm rot="5400000" flipH="1">
            <a:off x="4577086" y="2026928"/>
            <a:ext cx="463641" cy="6556652"/>
          </a:xfrm>
          <a:prstGeom prst="curvedConnector3">
            <a:avLst>
              <a:gd name="adj1" fmla="val -91613"/>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6" name="Connector: Curved 35">
            <a:extLst>
              <a:ext uri="{FF2B5EF4-FFF2-40B4-BE49-F238E27FC236}">
                <a16:creationId xmlns:a16="http://schemas.microsoft.com/office/drawing/2014/main" id="{5D2B7CBF-1527-AB2B-4BA6-DC99E678D7AA}"/>
              </a:ext>
            </a:extLst>
          </p:cNvPr>
          <p:cNvCxnSpPr>
            <a:cxnSpLocks/>
            <a:stCxn id="19" idx="4"/>
            <a:endCxn id="6" idx="2"/>
          </p:cNvCxnSpPr>
          <p:nvPr/>
        </p:nvCxnSpPr>
        <p:spPr>
          <a:xfrm rot="5400000" flipH="1">
            <a:off x="5629901" y="974114"/>
            <a:ext cx="231766" cy="8430405"/>
          </a:xfrm>
          <a:prstGeom prst="curvedConnector3">
            <a:avLst>
              <a:gd name="adj1" fmla="val -351313"/>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3" name="Connector: Curved 42">
            <a:extLst>
              <a:ext uri="{FF2B5EF4-FFF2-40B4-BE49-F238E27FC236}">
                <a16:creationId xmlns:a16="http://schemas.microsoft.com/office/drawing/2014/main" id="{1C6A6550-9532-3EBB-C0D2-C18180C9D83F}"/>
              </a:ext>
            </a:extLst>
          </p:cNvPr>
          <p:cNvCxnSpPr>
            <a:stCxn id="6" idx="2"/>
            <a:endCxn id="7" idx="1"/>
          </p:cNvCxnSpPr>
          <p:nvPr/>
        </p:nvCxnSpPr>
        <p:spPr>
          <a:xfrm rot="16200000" flipH="1">
            <a:off x="1338040" y="5265974"/>
            <a:ext cx="1374697" cy="989614"/>
          </a:xfrm>
          <a:prstGeom prst="curvedConnector2">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Curved 60">
            <a:extLst>
              <a:ext uri="{FF2B5EF4-FFF2-40B4-BE49-F238E27FC236}">
                <a16:creationId xmlns:a16="http://schemas.microsoft.com/office/drawing/2014/main" id="{BC99D54C-808B-B414-F7AE-5ACED29C1477}"/>
              </a:ext>
            </a:extLst>
          </p:cNvPr>
          <p:cNvCxnSpPr>
            <a:stCxn id="11" idx="0"/>
            <a:endCxn id="14" idx="0"/>
          </p:cNvCxnSpPr>
          <p:nvPr/>
        </p:nvCxnSpPr>
        <p:spPr>
          <a:xfrm rot="16200000" flipH="1">
            <a:off x="4023781" y="694019"/>
            <a:ext cx="46315" cy="1691709"/>
          </a:xfrm>
          <a:prstGeom prst="curvedConnector3">
            <a:avLst>
              <a:gd name="adj1" fmla="val -493577"/>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1A9B88A5-018D-E61C-6842-585AF41E2075}"/>
              </a:ext>
            </a:extLst>
          </p:cNvPr>
          <p:cNvCxnSpPr>
            <a:stCxn id="5" idx="2"/>
            <a:endCxn id="6" idx="0"/>
          </p:cNvCxnSpPr>
          <p:nvPr/>
        </p:nvCxnSpPr>
        <p:spPr>
          <a:xfrm flipH="1">
            <a:off x="1530581" y="2679358"/>
            <a:ext cx="1372" cy="805948"/>
          </a:xfrm>
          <a:prstGeom prst="straightConnector1">
            <a:avLst/>
          </a:prstGeom>
          <a:ln w="381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6" name="Connector: Curved 65">
            <a:extLst>
              <a:ext uri="{FF2B5EF4-FFF2-40B4-BE49-F238E27FC236}">
                <a16:creationId xmlns:a16="http://schemas.microsoft.com/office/drawing/2014/main" id="{2CAEEF7C-F07D-4F46-70B7-5758843C14A4}"/>
              </a:ext>
            </a:extLst>
          </p:cNvPr>
          <p:cNvCxnSpPr>
            <a:stCxn id="14" idx="5"/>
            <a:endCxn id="15" idx="1"/>
          </p:cNvCxnSpPr>
          <p:nvPr/>
        </p:nvCxnSpPr>
        <p:spPr>
          <a:xfrm rot="16200000" flipH="1">
            <a:off x="5743286" y="2124408"/>
            <a:ext cx="254373" cy="1128302"/>
          </a:xfrm>
          <a:prstGeom prst="curvedConnector5">
            <a:avLst>
              <a:gd name="adj1" fmla="val 89868"/>
              <a:gd name="adj2" fmla="val 50217"/>
              <a:gd name="adj3" fmla="val 10132"/>
            </a:avLst>
          </a:prstGeom>
          <a:ln w="3810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7432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3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35"/>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FC8EE-2CF1-7008-A48C-55E04D9D4B03}"/>
              </a:ext>
            </a:extLst>
          </p:cNvPr>
          <p:cNvSpPr>
            <a:spLocks noGrp="1"/>
          </p:cNvSpPr>
          <p:nvPr>
            <p:ph type="title"/>
          </p:nvPr>
        </p:nvSpPr>
        <p:spPr/>
        <p:txBody>
          <a:bodyPr/>
          <a:lstStyle/>
          <a:p>
            <a:r>
              <a:rPr lang="en-GB" dirty="0"/>
              <a:t>Introduction to Linear Regression</a:t>
            </a:r>
          </a:p>
        </p:txBody>
      </p:sp>
      <p:sp>
        <p:nvSpPr>
          <p:cNvPr id="3" name="Text Placeholder 2">
            <a:extLst>
              <a:ext uri="{FF2B5EF4-FFF2-40B4-BE49-F238E27FC236}">
                <a16:creationId xmlns:a16="http://schemas.microsoft.com/office/drawing/2014/main" id="{4307727B-2412-0706-BED7-92E46D4DD38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B749768-7D53-7040-C59E-9AD068913D1B}"/>
              </a:ext>
            </a:extLst>
          </p:cNvPr>
          <p:cNvSpPr>
            <a:spLocks noGrp="1"/>
          </p:cNvSpPr>
          <p:nvPr>
            <p:ph type="sldNum" sz="quarter" idx="12"/>
          </p:nvPr>
        </p:nvSpPr>
        <p:spPr/>
        <p:txBody>
          <a:bodyPr/>
          <a:lstStyle/>
          <a:p>
            <a:fld id="{F74D7E6C-9B20-4593-B18C-8D2C7BEEFCA2}" type="slidenum">
              <a:rPr lang="en-GB" smtClean="0"/>
              <a:t>19</a:t>
            </a:fld>
            <a:endParaRPr lang="en-GB"/>
          </a:p>
        </p:txBody>
      </p:sp>
    </p:spTree>
    <p:extLst>
      <p:ext uri="{BB962C8B-B14F-4D97-AF65-F5344CB8AC3E}">
        <p14:creationId xmlns:p14="http://schemas.microsoft.com/office/powerpoint/2010/main" val="3473816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7359-A007-DEE9-F03E-23E6DD972066}"/>
              </a:ext>
            </a:extLst>
          </p:cNvPr>
          <p:cNvSpPr>
            <a:spLocks noGrp="1"/>
          </p:cNvSpPr>
          <p:nvPr>
            <p:ph type="title"/>
          </p:nvPr>
        </p:nvSpPr>
        <p:spPr/>
        <p:txBody>
          <a:bodyPr/>
          <a:lstStyle/>
          <a:p>
            <a:r>
              <a:rPr lang="en-GB" dirty="0"/>
              <a:t>Introduction to Linear Regression</a:t>
            </a:r>
          </a:p>
        </p:txBody>
      </p:sp>
      <p:sp>
        <p:nvSpPr>
          <p:cNvPr id="4" name="Slide Number Placeholder 3">
            <a:extLst>
              <a:ext uri="{FF2B5EF4-FFF2-40B4-BE49-F238E27FC236}">
                <a16:creationId xmlns:a16="http://schemas.microsoft.com/office/drawing/2014/main" id="{4126B2C7-2909-286B-BA23-496D2D372F87}"/>
              </a:ext>
            </a:extLst>
          </p:cNvPr>
          <p:cNvSpPr>
            <a:spLocks noGrp="1"/>
          </p:cNvSpPr>
          <p:nvPr>
            <p:ph type="sldNum" sz="quarter" idx="12"/>
          </p:nvPr>
        </p:nvSpPr>
        <p:spPr/>
        <p:txBody>
          <a:bodyPr/>
          <a:lstStyle/>
          <a:p>
            <a:fld id="{F74D7E6C-9B20-4593-B18C-8D2C7BEEFCA2}" type="slidenum">
              <a:rPr lang="en-GB" smtClean="0"/>
              <a:t>20</a:t>
            </a:fld>
            <a:endParaRPr lang="en-GB"/>
          </a:p>
        </p:txBody>
      </p:sp>
      <p:sp>
        <p:nvSpPr>
          <p:cNvPr id="5" name="TextBox 4">
            <a:extLst>
              <a:ext uri="{FF2B5EF4-FFF2-40B4-BE49-F238E27FC236}">
                <a16:creationId xmlns:a16="http://schemas.microsoft.com/office/drawing/2014/main" id="{3F16B677-F720-F539-FBE7-7717D520FC46}"/>
              </a:ext>
            </a:extLst>
          </p:cNvPr>
          <p:cNvSpPr txBox="1"/>
          <p:nvPr/>
        </p:nvSpPr>
        <p:spPr>
          <a:xfrm>
            <a:off x="1150598" y="1743800"/>
            <a:ext cx="9890804" cy="4524315"/>
          </a:xfrm>
          <a:prstGeom prst="rect">
            <a:avLst/>
          </a:prstGeom>
          <a:noFill/>
        </p:spPr>
        <p:txBody>
          <a:bodyPr wrap="square" rtlCol="0">
            <a:spAutoFit/>
          </a:bodyPr>
          <a:lstStyle/>
          <a:p>
            <a:pPr algn="ctr"/>
            <a:r>
              <a:rPr lang="en-GB" sz="3200" dirty="0">
                <a:solidFill>
                  <a:schemeClr val="accent1"/>
                </a:solidFill>
              </a:rPr>
              <a:t>Linear regression </a:t>
            </a:r>
            <a:r>
              <a:rPr lang="en-GB" sz="3200" dirty="0">
                <a:solidFill>
                  <a:schemeClr val="bg1">
                    <a:lumMod val="95000"/>
                  </a:schemeClr>
                </a:solidFill>
              </a:rPr>
              <a:t>was developed in the field of statistics and is studied as a model for understanding the relationship between input and output that are numerical variables. </a:t>
            </a:r>
          </a:p>
          <a:p>
            <a:pPr algn="ctr"/>
            <a:endParaRPr lang="en-GB" sz="3200" dirty="0">
              <a:solidFill>
                <a:schemeClr val="bg1">
                  <a:lumMod val="95000"/>
                </a:schemeClr>
              </a:solidFill>
            </a:endParaRPr>
          </a:p>
          <a:p>
            <a:pPr algn="ctr"/>
            <a:r>
              <a:rPr lang="en-GB" sz="3200" dirty="0">
                <a:solidFill>
                  <a:schemeClr val="bg1">
                    <a:lumMod val="95000"/>
                  </a:schemeClr>
                </a:solidFill>
              </a:rPr>
              <a:t>This model has been borrowed by machine learning for predicting the output.  </a:t>
            </a:r>
          </a:p>
          <a:p>
            <a:pPr algn="ctr"/>
            <a:endParaRPr lang="en-GB" sz="3200" dirty="0">
              <a:solidFill>
                <a:schemeClr val="bg1">
                  <a:lumMod val="95000"/>
                </a:schemeClr>
              </a:solidFill>
            </a:endParaRPr>
          </a:p>
          <a:p>
            <a:pPr algn="ctr"/>
            <a:endParaRPr lang="en-GB" sz="3200" dirty="0">
              <a:solidFill>
                <a:schemeClr val="bg1">
                  <a:lumMod val="95000"/>
                </a:schemeClr>
              </a:solidFill>
            </a:endParaRPr>
          </a:p>
        </p:txBody>
      </p:sp>
    </p:spTree>
    <p:extLst>
      <p:ext uri="{BB962C8B-B14F-4D97-AF65-F5344CB8AC3E}">
        <p14:creationId xmlns:p14="http://schemas.microsoft.com/office/powerpoint/2010/main" val="5137539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7359-A007-DEE9-F03E-23E6DD972066}"/>
              </a:ext>
            </a:extLst>
          </p:cNvPr>
          <p:cNvSpPr>
            <a:spLocks noGrp="1"/>
          </p:cNvSpPr>
          <p:nvPr>
            <p:ph type="title"/>
          </p:nvPr>
        </p:nvSpPr>
        <p:spPr/>
        <p:txBody>
          <a:bodyPr/>
          <a:lstStyle/>
          <a:p>
            <a:r>
              <a:rPr lang="en-GB" dirty="0"/>
              <a:t>Introduction to Linear Regression</a:t>
            </a:r>
          </a:p>
        </p:txBody>
      </p:sp>
      <p:sp>
        <p:nvSpPr>
          <p:cNvPr id="4" name="Slide Number Placeholder 3">
            <a:extLst>
              <a:ext uri="{FF2B5EF4-FFF2-40B4-BE49-F238E27FC236}">
                <a16:creationId xmlns:a16="http://schemas.microsoft.com/office/drawing/2014/main" id="{4126B2C7-2909-286B-BA23-496D2D372F87}"/>
              </a:ext>
            </a:extLst>
          </p:cNvPr>
          <p:cNvSpPr>
            <a:spLocks noGrp="1"/>
          </p:cNvSpPr>
          <p:nvPr>
            <p:ph type="sldNum" sz="quarter" idx="12"/>
          </p:nvPr>
        </p:nvSpPr>
        <p:spPr/>
        <p:txBody>
          <a:bodyPr/>
          <a:lstStyle/>
          <a:p>
            <a:fld id="{F74D7E6C-9B20-4593-B18C-8D2C7BEEFCA2}" type="slidenum">
              <a:rPr lang="en-GB" smtClean="0"/>
              <a:t>21</a:t>
            </a:fld>
            <a:endParaRPr lang="en-GB"/>
          </a:p>
        </p:txBody>
      </p:sp>
      <p:pic>
        <p:nvPicPr>
          <p:cNvPr id="3" name="Picture 2" descr="Diagram&#10;&#10;Description automatically generated">
            <a:extLst>
              <a:ext uri="{FF2B5EF4-FFF2-40B4-BE49-F238E27FC236}">
                <a16:creationId xmlns:a16="http://schemas.microsoft.com/office/drawing/2014/main" id="{8C0BE679-B898-9A11-B661-4A8EE66ED13E}"/>
              </a:ext>
            </a:extLst>
          </p:cNvPr>
          <p:cNvPicPr>
            <a:picLocks noChangeAspect="1"/>
          </p:cNvPicPr>
          <p:nvPr/>
        </p:nvPicPr>
        <p:blipFill>
          <a:blip r:embed="rId3"/>
          <a:stretch>
            <a:fillRect/>
          </a:stretch>
        </p:blipFill>
        <p:spPr>
          <a:xfrm>
            <a:off x="3871259" y="1421699"/>
            <a:ext cx="5512592" cy="4628995"/>
          </a:xfrm>
          <a:prstGeom prst="rect">
            <a:avLst/>
          </a:prstGeom>
        </p:spPr>
      </p:pic>
      <p:sp>
        <p:nvSpPr>
          <p:cNvPr id="6" name="TextBox 5">
            <a:extLst>
              <a:ext uri="{FF2B5EF4-FFF2-40B4-BE49-F238E27FC236}">
                <a16:creationId xmlns:a16="http://schemas.microsoft.com/office/drawing/2014/main" id="{EFCB780D-040D-7426-81B7-80CE6973F107}"/>
              </a:ext>
            </a:extLst>
          </p:cNvPr>
          <p:cNvSpPr txBox="1"/>
          <p:nvPr/>
        </p:nvSpPr>
        <p:spPr>
          <a:xfrm>
            <a:off x="1714128" y="4017827"/>
            <a:ext cx="1371600" cy="523220"/>
          </a:xfrm>
          <a:prstGeom prst="rect">
            <a:avLst/>
          </a:prstGeom>
          <a:noFill/>
        </p:spPr>
        <p:txBody>
          <a:bodyPr wrap="square" rtlCol="0">
            <a:spAutoFit/>
          </a:bodyPr>
          <a:lstStyle/>
          <a:p>
            <a:r>
              <a:rPr lang="en-GB" sz="2800" b="1" dirty="0">
                <a:solidFill>
                  <a:schemeClr val="accent1"/>
                </a:solidFill>
              </a:rPr>
              <a:t>target</a:t>
            </a:r>
          </a:p>
        </p:txBody>
      </p:sp>
      <p:cxnSp>
        <p:nvCxnSpPr>
          <p:cNvPr id="7" name="Straight Arrow Connector 6">
            <a:extLst>
              <a:ext uri="{FF2B5EF4-FFF2-40B4-BE49-F238E27FC236}">
                <a16:creationId xmlns:a16="http://schemas.microsoft.com/office/drawing/2014/main" id="{0BE4465B-F115-2495-A664-F70ECC4AB0E9}"/>
              </a:ext>
            </a:extLst>
          </p:cNvPr>
          <p:cNvCxnSpPr>
            <a:cxnSpLocks/>
            <a:stCxn id="6" idx="3"/>
          </p:cNvCxnSpPr>
          <p:nvPr/>
        </p:nvCxnSpPr>
        <p:spPr>
          <a:xfrm flipV="1">
            <a:off x="3085728" y="3736197"/>
            <a:ext cx="1256178" cy="54324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FEAD26E-08E6-7E28-C746-8552595A1B49}"/>
              </a:ext>
            </a:extLst>
          </p:cNvPr>
          <p:cNvSpPr txBox="1"/>
          <p:nvPr/>
        </p:nvSpPr>
        <p:spPr>
          <a:xfrm>
            <a:off x="1134782" y="5121703"/>
            <a:ext cx="1950946" cy="523220"/>
          </a:xfrm>
          <a:prstGeom prst="rect">
            <a:avLst/>
          </a:prstGeom>
          <a:noFill/>
        </p:spPr>
        <p:txBody>
          <a:bodyPr wrap="square" rtlCol="0">
            <a:spAutoFit/>
          </a:bodyPr>
          <a:lstStyle/>
          <a:p>
            <a:r>
              <a:rPr lang="en-GB" sz="2800" b="1" dirty="0">
                <a:solidFill>
                  <a:schemeClr val="accent1"/>
                </a:solidFill>
              </a:rPr>
              <a:t>parameter</a:t>
            </a:r>
          </a:p>
        </p:txBody>
      </p:sp>
      <p:cxnSp>
        <p:nvCxnSpPr>
          <p:cNvPr id="9" name="Straight Arrow Connector 8">
            <a:extLst>
              <a:ext uri="{FF2B5EF4-FFF2-40B4-BE49-F238E27FC236}">
                <a16:creationId xmlns:a16="http://schemas.microsoft.com/office/drawing/2014/main" id="{9C5049CB-BAF1-2CE4-37A0-75AB4C38FE26}"/>
              </a:ext>
            </a:extLst>
          </p:cNvPr>
          <p:cNvCxnSpPr>
            <a:cxnSpLocks/>
            <a:stCxn id="8" idx="3"/>
          </p:cNvCxnSpPr>
          <p:nvPr/>
        </p:nvCxnSpPr>
        <p:spPr>
          <a:xfrm flipV="1">
            <a:off x="3085728" y="3688231"/>
            <a:ext cx="3434601" cy="1695082"/>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4515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B86288E-ADB7-A283-790F-B44ABC48AA6F}"/>
              </a:ext>
            </a:extLst>
          </p:cNvPr>
          <p:cNvSpPr>
            <a:spLocks noGrp="1"/>
          </p:cNvSpPr>
          <p:nvPr>
            <p:ph type="title"/>
          </p:nvPr>
        </p:nvSpPr>
        <p:spPr>
          <a:xfrm>
            <a:off x="323851" y="136526"/>
            <a:ext cx="8286750" cy="920749"/>
          </a:xfrm>
        </p:spPr>
        <p:txBody>
          <a:bodyPr/>
          <a:lstStyle/>
          <a:p>
            <a:r>
              <a:rPr lang="en-US" dirty="0"/>
              <a:t>Variables and constants</a:t>
            </a:r>
          </a:p>
        </p:txBody>
      </p:sp>
      <p:pic>
        <p:nvPicPr>
          <p:cNvPr id="6" name="Picture 5">
            <a:extLst>
              <a:ext uri="{FF2B5EF4-FFF2-40B4-BE49-F238E27FC236}">
                <a16:creationId xmlns:a16="http://schemas.microsoft.com/office/drawing/2014/main" id="{0DE8E794-FC0F-D1D3-EBA8-3D24D0B3407A}"/>
              </a:ext>
            </a:extLst>
          </p:cNvPr>
          <p:cNvPicPr>
            <a:picLocks noChangeAspect="1"/>
          </p:cNvPicPr>
          <p:nvPr/>
        </p:nvPicPr>
        <p:blipFill>
          <a:blip r:embed="rId2"/>
          <a:stretch>
            <a:fillRect/>
          </a:stretch>
        </p:blipFill>
        <p:spPr>
          <a:xfrm>
            <a:off x="3180330" y="1485900"/>
            <a:ext cx="5850390" cy="4870450"/>
          </a:xfrm>
          <a:prstGeom prst="rect">
            <a:avLst/>
          </a:prstGeom>
          <a:noFill/>
        </p:spPr>
      </p:pic>
      <p:sp>
        <p:nvSpPr>
          <p:cNvPr id="4" name="Slide Number Placeholder 3">
            <a:extLst>
              <a:ext uri="{FF2B5EF4-FFF2-40B4-BE49-F238E27FC236}">
                <a16:creationId xmlns:a16="http://schemas.microsoft.com/office/drawing/2014/main" id="{7D018FF4-862C-3F71-5698-FB96E4818315}"/>
              </a:ext>
            </a:extLst>
          </p:cNvPr>
          <p:cNvSpPr>
            <a:spLocks noGrp="1"/>
          </p:cNvSpPr>
          <p:nvPr>
            <p:ph type="sldNum" sz="quarter" idx="12"/>
          </p:nvPr>
        </p:nvSpPr>
        <p:spPr>
          <a:xfrm>
            <a:off x="11662517" y="6378470"/>
            <a:ext cx="449366" cy="365125"/>
          </a:xfrm>
        </p:spPr>
        <p:txBody>
          <a:bodyPr anchor="ctr">
            <a:normAutofit/>
          </a:bodyPr>
          <a:lstStyle/>
          <a:p>
            <a:pPr>
              <a:spcAft>
                <a:spcPts val="600"/>
              </a:spcAft>
            </a:pPr>
            <a:fld id="{F74D7E6C-9B20-4593-B18C-8D2C7BEEFCA2}" type="slidenum">
              <a:rPr lang="en-GB" smtClean="0"/>
              <a:pPr>
                <a:spcAft>
                  <a:spcPts val="600"/>
                </a:spcAft>
              </a:pPr>
              <a:t>22</a:t>
            </a:fld>
            <a:endParaRPr lang="en-GB"/>
          </a:p>
        </p:txBody>
      </p:sp>
    </p:spTree>
    <p:extLst>
      <p:ext uri="{BB962C8B-B14F-4D97-AF65-F5344CB8AC3E}">
        <p14:creationId xmlns:p14="http://schemas.microsoft.com/office/powerpoint/2010/main" val="10858418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D2717-F2A0-87D5-6DA0-E188659A5030}"/>
              </a:ext>
            </a:extLst>
          </p:cNvPr>
          <p:cNvSpPr>
            <a:spLocks noGrp="1"/>
          </p:cNvSpPr>
          <p:nvPr>
            <p:ph type="title"/>
          </p:nvPr>
        </p:nvSpPr>
        <p:spPr/>
        <p:txBody>
          <a:bodyPr>
            <a:normAutofit fontScale="90000"/>
          </a:bodyPr>
          <a:lstStyle/>
          <a:p>
            <a:r>
              <a:rPr lang="en-GB" dirty="0"/>
              <a:t>Simple Linear Regression vs Multiple Linear Regression</a:t>
            </a:r>
          </a:p>
        </p:txBody>
      </p:sp>
      <p:sp>
        <p:nvSpPr>
          <p:cNvPr id="3" name="Text Placeholder 2">
            <a:extLst>
              <a:ext uri="{FF2B5EF4-FFF2-40B4-BE49-F238E27FC236}">
                <a16:creationId xmlns:a16="http://schemas.microsoft.com/office/drawing/2014/main" id="{CBBF7DBE-E846-C65D-6F3B-5184CE5631A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54D2DC0-BE4C-659A-1BD0-027D3E1D308B}"/>
              </a:ext>
            </a:extLst>
          </p:cNvPr>
          <p:cNvSpPr>
            <a:spLocks noGrp="1"/>
          </p:cNvSpPr>
          <p:nvPr>
            <p:ph type="sldNum" sz="quarter" idx="12"/>
          </p:nvPr>
        </p:nvSpPr>
        <p:spPr/>
        <p:txBody>
          <a:bodyPr/>
          <a:lstStyle/>
          <a:p>
            <a:fld id="{F74D7E6C-9B20-4593-B18C-8D2C7BEEFCA2}" type="slidenum">
              <a:rPr lang="en-GB" smtClean="0"/>
              <a:t>23</a:t>
            </a:fld>
            <a:endParaRPr lang="en-GB"/>
          </a:p>
        </p:txBody>
      </p:sp>
    </p:spTree>
    <p:extLst>
      <p:ext uri="{BB962C8B-B14F-4D97-AF65-F5344CB8AC3E}">
        <p14:creationId xmlns:p14="http://schemas.microsoft.com/office/powerpoint/2010/main" val="3888012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2472A-BB85-CDF3-0514-6C90019EADB4}"/>
              </a:ext>
            </a:extLst>
          </p:cNvPr>
          <p:cNvSpPr>
            <a:spLocks noGrp="1"/>
          </p:cNvSpPr>
          <p:nvPr>
            <p:ph type="title"/>
          </p:nvPr>
        </p:nvSpPr>
        <p:spPr>
          <a:xfrm>
            <a:off x="323851" y="136526"/>
            <a:ext cx="8286750" cy="920749"/>
          </a:xfrm>
        </p:spPr>
        <p:txBody>
          <a:bodyPr anchor="ctr">
            <a:normAutofit/>
          </a:bodyPr>
          <a:lstStyle/>
          <a:p>
            <a:r>
              <a:rPr lang="en-GB" dirty="0"/>
              <a:t>Simple vs Multiple LR</a:t>
            </a:r>
          </a:p>
        </p:txBody>
      </p:sp>
      <p:pic>
        <p:nvPicPr>
          <p:cNvPr id="6" name="Picture 5" descr="A diagram of linear regression&#10;&#10;AI-generated content may be incorrect.">
            <a:extLst>
              <a:ext uri="{FF2B5EF4-FFF2-40B4-BE49-F238E27FC236}">
                <a16:creationId xmlns:a16="http://schemas.microsoft.com/office/drawing/2014/main" id="{1A9A190C-C3E5-D8DE-7721-263AE2A0BB66}"/>
              </a:ext>
            </a:extLst>
          </p:cNvPr>
          <p:cNvPicPr>
            <a:picLocks noChangeAspect="1"/>
          </p:cNvPicPr>
          <p:nvPr/>
        </p:nvPicPr>
        <p:blipFill>
          <a:blip r:embed="rId2"/>
          <a:stretch>
            <a:fillRect/>
          </a:stretch>
        </p:blipFill>
        <p:spPr>
          <a:xfrm>
            <a:off x="1283298" y="1485900"/>
            <a:ext cx="9644453" cy="4870450"/>
          </a:xfrm>
          <a:prstGeom prst="rect">
            <a:avLst/>
          </a:prstGeom>
          <a:noFill/>
        </p:spPr>
      </p:pic>
      <p:sp>
        <p:nvSpPr>
          <p:cNvPr id="4" name="Slide Number Placeholder 3">
            <a:extLst>
              <a:ext uri="{FF2B5EF4-FFF2-40B4-BE49-F238E27FC236}">
                <a16:creationId xmlns:a16="http://schemas.microsoft.com/office/drawing/2014/main" id="{C5637A32-F9A7-C5D6-31DD-84DC391DC9CF}"/>
              </a:ext>
            </a:extLst>
          </p:cNvPr>
          <p:cNvSpPr>
            <a:spLocks noGrp="1"/>
          </p:cNvSpPr>
          <p:nvPr>
            <p:ph type="sldNum" sz="quarter" idx="12"/>
          </p:nvPr>
        </p:nvSpPr>
        <p:spPr>
          <a:xfrm>
            <a:off x="11662517" y="6378470"/>
            <a:ext cx="449366" cy="365125"/>
          </a:xfrm>
        </p:spPr>
        <p:txBody>
          <a:bodyPr anchor="ctr">
            <a:normAutofit/>
          </a:bodyPr>
          <a:lstStyle/>
          <a:p>
            <a:pPr>
              <a:spcAft>
                <a:spcPts val="600"/>
              </a:spcAft>
            </a:pPr>
            <a:fld id="{F74D7E6C-9B20-4593-B18C-8D2C7BEEFCA2}" type="slidenum">
              <a:rPr lang="en-GB" smtClean="0"/>
              <a:pPr>
                <a:spcAft>
                  <a:spcPts val="600"/>
                </a:spcAft>
              </a:pPr>
              <a:t>24</a:t>
            </a:fld>
            <a:endParaRPr lang="en-GB"/>
          </a:p>
        </p:txBody>
      </p:sp>
      <p:sp>
        <p:nvSpPr>
          <p:cNvPr id="8" name="TextBox 7">
            <a:extLst>
              <a:ext uri="{FF2B5EF4-FFF2-40B4-BE49-F238E27FC236}">
                <a16:creationId xmlns:a16="http://schemas.microsoft.com/office/drawing/2014/main" id="{FAB49481-2E6A-A6B7-B51B-184A43641885}"/>
              </a:ext>
            </a:extLst>
          </p:cNvPr>
          <p:cNvSpPr txBox="1"/>
          <p:nvPr/>
        </p:nvSpPr>
        <p:spPr>
          <a:xfrm>
            <a:off x="183651" y="6376366"/>
            <a:ext cx="7727450" cy="369332"/>
          </a:xfrm>
          <a:prstGeom prst="rect">
            <a:avLst/>
          </a:prstGeom>
          <a:noFill/>
        </p:spPr>
        <p:txBody>
          <a:bodyPr wrap="square">
            <a:spAutoFit/>
          </a:bodyPr>
          <a:lstStyle/>
          <a:p>
            <a:r>
              <a:rPr lang="en-GB" dirty="0">
                <a:hlinkClick r:id="rId3"/>
              </a:rPr>
              <a:t>https://www.keboola.com/blog/linear-regression-machine-learning</a:t>
            </a:r>
            <a:r>
              <a:rPr lang="en-GB" dirty="0"/>
              <a:t> </a:t>
            </a:r>
          </a:p>
        </p:txBody>
      </p:sp>
    </p:spTree>
    <p:extLst>
      <p:ext uri="{BB962C8B-B14F-4D97-AF65-F5344CB8AC3E}">
        <p14:creationId xmlns:p14="http://schemas.microsoft.com/office/powerpoint/2010/main" val="2304342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0C66710-9C06-0385-E1F7-F65659C92B0F}"/>
              </a:ext>
            </a:extLst>
          </p:cNvPr>
          <p:cNvSpPr>
            <a:spLocks noGrp="1"/>
          </p:cNvSpPr>
          <p:nvPr>
            <p:ph type="title"/>
          </p:nvPr>
        </p:nvSpPr>
        <p:spPr>
          <a:xfrm>
            <a:off x="323851" y="136526"/>
            <a:ext cx="8286750" cy="920749"/>
          </a:xfrm>
        </p:spPr>
        <p:txBody>
          <a:bodyPr/>
          <a:lstStyle/>
          <a:p>
            <a:r>
              <a:rPr lang="en-US" dirty="0"/>
              <a:t>Multiple LR</a:t>
            </a:r>
          </a:p>
        </p:txBody>
      </p:sp>
      <p:pic>
        <p:nvPicPr>
          <p:cNvPr id="6" name="Picture 5" descr="A graph with colored lines and dots&#10;&#10;AI-generated content may be incorrect.">
            <a:extLst>
              <a:ext uri="{FF2B5EF4-FFF2-40B4-BE49-F238E27FC236}">
                <a16:creationId xmlns:a16="http://schemas.microsoft.com/office/drawing/2014/main" id="{42B16B05-E4E0-30FE-AC5F-36FA79CE4F1E}"/>
              </a:ext>
            </a:extLst>
          </p:cNvPr>
          <p:cNvPicPr>
            <a:picLocks noChangeAspect="1"/>
          </p:cNvPicPr>
          <p:nvPr/>
        </p:nvPicPr>
        <p:blipFill>
          <a:blip r:embed="rId2"/>
          <a:stretch>
            <a:fillRect/>
          </a:stretch>
        </p:blipFill>
        <p:spPr>
          <a:xfrm>
            <a:off x="2687665" y="1485900"/>
            <a:ext cx="6835719" cy="4870450"/>
          </a:xfrm>
          <a:prstGeom prst="rect">
            <a:avLst/>
          </a:prstGeom>
          <a:noFill/>
        </p:spPr>
      </p:pic>
      <p:sp>
        <p:nvSpPr>
          <p:cNvPr id="4" name="Slide Number Placeholder 3">
            <a:extLst>
              <a:ext uri="{FF2B5EF4-FFF2-40B4-BE49-F238E27FC236}">
                <a16:creationId xmlns:a16="http://schemas.microsoft.com/office/drawing/2014/main" id="{0B8B315C-A8C0-7855-0FAB-6B4ED145814F}"/>
              </a:ext>
            </a:extLst>
          </p:cNvPr>
          <p:cNvSpPr>
            <a:spLocks noGrp="1"/>
          </p:cNvSpPr>
          <p:nvPr>
            <p:ph type="sldNum" sz="quarter" idx="12"/>
          </p:nvPr>
        </p:nvSpPr>
        <p:spPr>
          <a:xfrm>
            <a:off x="11662517" y="6378470"/>
            <a:ext cx="449366" cy="365125"/>
          </a:xfrm>
        </p:spPr>
        <p:txBody>
          <a:bodyPr anchor="ctr">
            <a:normAutofit/>
          </a:bodyPr>
          <a:lstStyle/>
          <a:p>
            <a:pPr>
              <a:spcAft>
                <a:spcPts val="600"/>
              </a:spcAft>
            </a:pPr>
            <a:fld id="{F74D7E6C-9B20-4593-B18C-8D2C7BEEFCA2}" type="slidenum">
              <a:rPr lang="en-GB" smtClean="0"/>
              <a:pPr>
                <a:spcAft>
                  <a:spcPts val="600"/>
                </a:spcAft>
              </a:pPr>
              <a:t>25</a:t>
            </a:fld>
            <a:endParaRPr lang="en-GB"/>
          </a:p>
        </p:txBody>
      </p:sp>
    </p:spTree>
    <p:extLst>
      <p:ext uri="{BB962C8B-B14F-4D97-AF65-F5344CB8AC3E}">
        <p14:creationId xmlns:p14="http://schemas.microsoft.com/office/powerpoint/2010/main" val="27035024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FF9A8F45-4685-6691-0C62-C88813D473F3}"/>
              </a:ext>
            </a:extLst>
          </p:cNvPr>
          <p:cNvSpPr>
            <a:spLocks noGrp="1"/>
          </p:cNvSpPr>
          <p:nvPr>
            <p:ph type="title"/>
          </p:nvPr>
        </p:nvSpPr>
        <p:spPr>
          <a:xfrm>
            <a:off x="323851" y="136526"/>
            <a:ext cx="8286750" cy="920749"/>
          </a:xfrm>
        </p:spPr>
        <p:txBody>
          <a:bodyPr/>
          <a:lstStyle/>
          <a:p>
            <a:r>
              <a:rPr lang="en-US" dirty="0"/>
              <a:t>Simple vs Multiple LR</a:t>
            </a:r>
          </a:p>
        </p:txBody>
      </p:sp>
      <p:pic>
        <p:nvPicPr>
          <p:cNvPr id="6" name="Picture 5" descr="A diagram of mathematical equations&#10;&#10;AI-generated content may be incorrect.">
            <a:extLst>
              <a:ext uri="{FF2B5EF4-FFF2-40B4-BE49-F238E27FC236}">
                <a16:creationId xmlns:a16="http://schemas.microsoft.com/office/drawing/2014/main" id="{9C9D6E2A-0F91-CE8D-D224-45963E549FBC}"/>
              </a:ext>
            </a:extLst>
          </p:cNvPr>
          <p:cNvPicPr>
            <a:picLocks noChangeAspect="1"/>
          </p:cNvPicPr>
          <p:nvPr/>
        </p:nvPicPr>
        <p:blipFill>
          <a:blip r:embed="rId2"/>
          <a:stretch>
            <a:fillRect/>
          </a:stretch>
        </p:blipFill>
        <p:spPr>
          <a:xfrm>
            <a:off x="375583" y="1485900"/>
            <a:ext cx="11459883" cy="4870450"/>
          </a:xfrm>
          <a:prstGeom prst="rect">
            <a:avLst/>
          </a:prstGeom>
          <a:noFill/>
        </p:spPr>
      </p:pic>
      <p:sp>
        <p:nvSpPr>
          <p:cNvPr id="4" name="Slide Number Placeholder 3">
            <a:extLst>
              <a:ext uri="{FF2B5EF4-FFF2-40B4-BE49-F238E27FC236}">
                <a16:creationId xmlns:a16="http://schemas.microsoft.com/office/drawing/2014/main" id="{7D12A462-262C-A400-9B6A-A1BF6EAE7C7E}"/>
              </a:ext>
            </a:extLst>
          </p:cNvPr>
          <p:cNvSpPr>
            <a:spLocks noGrp="1"/>
          </p:cNvSpPr>
          <p:nvPr>
            <p:ph type="sldNum" sz="quarter" idx="12"/>
          </p:nvPr>
        </p:nvSpPr>
        <p:spPr>
          <a:xfrm>
            <a:off x="11662517" y="6378470"/>
            <a:ext cx="449366" cy="365125"/>
          </a:xfrm>
        </p:spPr>
        <p:txBody>
          <a:bodyPr anchor="ctr">
            <a:normAutofit/>
          </a:bodyPr>
          <a:lstStyle/>
          <a:p>
            <a:pPr>
              <a:spcAft>
                <a:spcPts val="600"/>
              </a:spcAft>
            </a:pPr>
            <a:fld id="{F74D7E6C-9B20-4593-B18C-8D2C7BEEFCA2}" type="slidenum">
              <a:rPr lang="en-GB" smtClean="0"/>
              <a:pPr>
                <a:spcAft>
                  <a:spcPts val="600"/>
                </a:spcAft>
              </a:pPr>
              <a:t>26</a:t>
            </a:fld>
            <a:endParaRPr lang="en-GB"/>
          </a:p>
        </p:txBody>
      </p:sp>
      <p:sp>
        <p:nvSpPr>
          <p:cNvPr id="8" name="TextBox 7">
            <a:extLst>
              <a:ext uri="{FF2B5EF4-FFF2-40B4-BE49-F238E27FC236}">
                <a16:creationId xmlns:a16="http://schemas.microsoft.com/office/drawing/2014/main" id="{CC00E4F2-FB0E-7238-2B4B-D420202AD917}"/>
              </a:ext>
            </a:extLst>
          </p:cNvPr>
          <p:cNvSpPr txBox="1"/>
          <p:nvPr/>
        </p:nvSpPr>
        <p:spPr>
          <a:xfrm>
            <a:off x="323851" y="6415643"/>
            <a:ext cx="6100280" cy="369332"/>
          </a:xfrm>
          <a:prstGeom prst="rect">
            <a:avLst/>
          </a:prstGeom>
          <a:noFill/>
        </p:spPr>
        <p:txBody>
          <a:bodyPr wrap="square">
            <a:spAutoFit/>
          </a:bodyPr>
          <a:lstStyle/>
          <a:p>
            <a:r>
              <a:rPr lang="en-GB" dirty="0">
                <a:hlinkClick r:id="rId3"/>
              </a:rPr>
              <a:t>https://www.digitalvidya.com/blog/regression-analysis/</a:t>
            </a:r>
            <a:r>
              <a:rPr lang="en-GB" dirty="0"/>
              <a:t> </a:t>
            </a:r>
          </a:p>
        </p:txBody>
      </p:sp>
    </p:spTree>
    <p:extLst>
      <p:ext uri="{BB962C8B-B14F-4D97-AF65-F5344CB8AC3E}">
        <p14:creationId xmlns:p14="http://schemas.microsoft.com/office/powerpoint/2010/main" val="18250351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3A5C2-B714-7C0B-0269-DA204851A953}"/>
              </a:ext>
            </a:extLst>
          </p:cNvPr>
          <p:cNvSpPr>
            <a:spLocks noGrp="1"/>
          </p:cNvSpPr>
          <p:nvPr>
            <p:ph type="title"/>
          </p:nvPr>
        </p:nvSpPr>
        <p:spPr/>
        <p:txBody>
          <a:bodyPr/>
          <a:lstStyle/>
          <a:p>
            <a:r>
              <a:rPr lang="en-GB" dirty="0"/>
              <a:t>Train-test split</a:t>
            </a:r>
          </a:p>
        </p:txBody>
      </p:sp>
      <p:sp>
        <p:nvSpPr>
          <p:cNvPr id="3" name="Text Placeholder 2">
            <a:extLst>
              <a:ext uri="{FF2B5EF4-FFF2-40B4-BE49-F238E27FC236}">
                <a16:creationId xmlns:a16="http://schemas.microsoft.com/office/drawing/2014/main" id="{B3BB35E4-9EE3-E4CE-390D-188A25AD299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DB7E992-42CE-2964-DA55-8E65F8EFE6E5}"/>
              </a:ext>
            </a:extLst>
          </p:cNvPr>
          <p:cNvSpPr>
            <a:spLocks noGrp="1"/>
          </p:cNvSpPr>
          <p:nvPr>
            <p:ph type="sldNum" sz="quarter" idx="12"/>
          </p:nvPr>
        </p:nvSpPr>
        <p:spPr/>
        <p:txBody>
          <a:bodyPr/>
          <a:lstStyle/>
          <a:p>
            <a:fld id="{F74D7E6C-9B20-4593-B18C-8D2C7BEEFCA2}" type="slidenum">
              <a:rPr lang="en-GB" smtClean="0"/>
              <a:t>27</a:t>
            </a:fld>
            <a:endParaRPr lang="en-GB"/>
          </a:p>
        </p:txBody>
      </p:sp>
    </p:spTree>
    <p:extLst>
      <p:ext uri="{BB962C8B-B14F-4D97-AF65-F5344CB8AC3E}">
        <p14:creationId xmlns:p14="http://schemas.microsoft.com/office/powerpoint/2010/main" val="31799037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3A5C2-B714-7C0B-0269-DA204851A953}"/>
              </a:ext>
            </a:extLst>
          </p:cNvPr>
          <p:cNvSpPr>
            <a:spLocks noGrp="1"/>
          </p:cNvSpPr>
          <p:nvPr>
            <p:ph type="title"/>
          </p:nvPr>
        </p:nvSpPr>
        <p:spPr/>
        <p:txBody>
          <a:bodyPr/>
          <a:lstStyle/>
          <a:p>
            <a:r>
              <a:rPr lang="en-GB" dirty="0"/>
              <a:t>Train-test split</a:t>
            </a:r>
          </a:p>
        </p:txBody>
      </p:sp>
      <p:sp>
        <p:nvSpPr>
          <p:cNvPr id="5" name="Content Placeholder 4">
            <a:extLst>
              <a:ext uri="{FF2B5EF4-FFF2-40B4-BE49-F238E27FC236}">
                <a16:creationId xmlns:a16="http://schemas.microsoft.com/office/drawing/2014/main" id="{320152CA-FF11-3A21-4CCB-3434625345EF}"/>
              </a:ext>
            </a:extLst>
          </p:cNvPr>
          <p:cNvSpPr>
            <a:spLocks noGrp="1"/>
          </p:cNvSpPr>
          <p:nvPr>
            <p:ph idx="1"/>
          </p:nvPr>
        </p:nvSpPr>
        <p:spPr>
          <a:xfrm>
            <a:off x="323850" y="1403350"/>
            <a:ext cx="11569700" cy="4102100"/>
          </a:xfrm>
        </p:spPr>
        <p:txBody>
          <a:bodyPr>
            <a:normAutofit lnSpcReduction="10000"/>
          </a:bodyPr>
          <a:lstStyle/>
          <a:p>
            <a:pPr marL="0" indent="0" algn="l">
              <a:buNone/>
            </a:pPr>
            <a:r>
              <a:rPr lang="en-GB" sz="2000" b="0" i="0" dirty="0">
                <a:effectLst/>
                <a:latin typeface="Helvetica Neue"/>
              </a:rPr>
              <a:t>We can test the quality of our model by splitting it into 2 parts:</a:t>
            </a:r>
          </a:p>
          <a:p>
            <a:pPr marL="457200" indent="-457200" algn="l">
              <a:buFont typeface="Arial" panose="020B0604020202020204" pitchFamily="34" charset="0"/>
              <a:buChar char="•"/>
            </a:pPr>
            <a:r>
              <a:rPr lang="en-GB" sz="2000" b="0" i="0" dirty="0">
                <a:effectLst/>
                <a:latin typeface="Helvetica Neue"/>
              </a:rPr>
              <a:t>the training set: contains the main part of the data (80%)</a:t>
            </a:r>
          </a:p>
          <a:p>
            <a:pPr marL="457200" indent="-457200" algn="l">
              <a:buFont typeface="Arial" panose="020B0604020202020204" pitchFamily="34" charset="0"/>
              <a:buChar char="•"/>
            </a:pPr>
            <a:r>
              <a:rPr lang="en-GB" sz="2000" b="0" i="0" dirty="0">
                <a:effectLst/>
                <a:latin typeface="Helvetica Neue"/>
              </a:rPr>
              <a:t>the test set: contains the rest of the data from the whole (20%)</a:t>
            </a:r>
          </a:p>
          <a:p>
            <a:pPr marL="457200" indent="-457200" algn="l">
              <a:buFont typeface="Arial" panose="020B0604020202020204" pitchFamily="34" charset="0"/>
              <a:buChar char="•"/>
            </a:pPr>
            <a:endParaRPr lang="en-GB" sz="2000" dirty="0">
              <a:latin typeface="Helvetica Neue"/>
            </a:endParaRPr>
          </a:p>
          <a:p>
            <a:pPr marL="0" indent="0" algn="l">
              <a:buNone/>
            </a:pPr>
            <a:r>
              <a:rPr lang="en-GB" sz="2000" b="0" i="0" dirty="0">
                <a:effectLst/>
                <a:latin typeface="Helvetica Neue"/>
              </a:rPr>
              <a:t>The train set is used to train the model - this means finding the model that best approximates the training set. This is the most computationally intensive process.</a:t>
            </a:r>
          </a:p>
          <a:p>
            <a:pPr algn="l"/>
            <a:endParaRPr lang="en-GB" sz="2000" b="0" i="0" dirty="0">
              <a:effectLst/>
              <a:latin typeface="Helvetica Neue"/>
            </a:endParaRPr>
          </a:p>
          <a:p>
            <a:pPr marL="0" indent="0" algn="l">
              <a:buNone/>
            </a:pPr>
            <a:r>
              <a:rPr lang="en-GB" sz="2000" b="0" i="0" dirty="0">
                <a:effectLst/>
                <a:latin typeface="Helvetica Neue"/>
              </a:rPr>
              <a:t>The test set is used to predict the values - predict the target value for an instance by plugging features into the trained model. This process is computationally cheap.</a:t>
            </a:r>
          </a:p>
          <a:p>
            <a:pPr algn="l"/>
            <a:endParaRPr lang="en-GB" sz="2000" b="0" i="0" dirty="0">
              <a:effectLst/>
              <a:latin typeface="Helvetica Neue"/>
            </a:endParaRPr>
          </a:p>
          <a:p>
            <a:pPr marL="0" indent="0" algn="l">
              <a:buNone/>
            </a:pPr>
            <a:r>
              <a:rPr lang="en-GB" sz="2000" b="0" i="0" dirty="0">
                <a:effectLst/>
                <a:latin typeface="Helvetica Neue"/>
              </a:rPr>
              <a:t>Then we can compare the train and test score.</a:t>
            </a:r>
          </a:p>
          <a:p>
            <a:endParaRPr lang="en-GB" sz="2000" dirty="0"/>
          </a:p>
        </p:txBody>
      </p:sp>
      <p:sp>
        <p:nvSpPr>
          <p:cNvPr id="4" name="Slide Number Placeholder 3">
            <a:extLst>
              <a:ext uri="{FF2B5EF4-FFF2-40B4-BE49-F238E27FC236}">
                <a16:creationId xmlns:a16="http://schemas.microsoft.com/office/drawing/2014/main" id="{CDB7E992-42CE-2964-DA55-8E65F8EFE6E5}"/>
              </a:ext>
            </a:extLst>
          </p:cNvPr>
          <p:cNvSpPr>
            <a:spLocks noGrp="1"/>
          </p:cNvSpPr>
          <p:nvPr>
            <p:ph type="sldNum" sz="quarter" idx="12"/>
          </p:nvPr>
        </p:nvSpPr>
        <p:spPr/>
        <p:txBody>
          <a:bodyPr/>
          <a:lstStyle/>
          <a:p>
            <a:fld id="{F74D7E6C-9B20-4593-B18C-8D2C7BEEFCA2}" type="slidenum">
              <a:rPr lang="en-GB" smtClean="0"/>
              <a:t>28</a:t>
            </a:fld>
            <a:endParaRPr lang="en-GB"/>
          </a:p>
        </p:txBody>
      </p:sp>
      <p:pic>
        <p:nvPicPr>
          <p:cNvPr id="6" name="Picture 5" descr="Diagram&#10;&#10;Description automatically generated with low confidence">
            <a:extLst>
              <a:ext uri="{FF2B5EF4-FFF2-40B4-BE49-F238E27FC236}">
                <a16:creationId xmlns:a16="http://schemas.microsoft.com/office/drawing/2014/main" id="{2907C89F-2491-0429-7189-D590E2499BC1}"/>
              </a:ext>
            </a:extLst>
          </p:cNvPr>
          <p:cNvPicPr>
            <a:picLocks noChangeAspect="1"/>
          </p:cNvPicPr>
          <p:nvPr/>
        </p:nvPicPr>
        <p:blipFill>
          <a:blip r:embed="rId2"/>
          <a:stretch>
            <a:fillRect/>
          </a:stretch>
        </p:blipFill>
        <p:spPr>
          <a:xfrm>
            <a:off x="6575178" y="4530678"/>
            <a:ext cx="5616822" cy="2327322"/>
          </a:xfrm>
          <a:prstGeom prst="rect">
            <a:avLst/>
          </a:prstGeom>
        </p:spPr>
      </p:pic>
    </p:spTree>
    <p:extLst>
      <p:ext uri="{BB962C8B-B14F-4D97-AF65-F5344CB8AC3E}">
        <p14:creationId xmlns:p14="http://schemas.microsoft.com/office/powerpoint/2010/main" val="25685406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3A5C2-B714-7C0B-0269-DA204851A953}"/>
              </a:ext>
            </a:extLst>
          </p:cNvPr>
          <p:cNvSpPr>
            <a:spLocks noGrp="1"/>
          </p:cNvSpPr>
          <p:nvPr>
            <p:ph type="title"/>
          </p:nvPr>
        </p:nvSpPr>
        <p:spPr/>
        <p:txBody>
          <a:bodyPr/>
          <a:lstStyle/>
          <a:p>
            <a:r>
              <a:rPr lang="en-GB" dirty="0"/>
              <a:t>Train-test split</a:t>
            </a:r>
          </a:p>
        </p:txBody>
      </p:sp>
      <p:sp>
        <p:nvSpPr>
          <p:cNvPr id="4" name="Slide Number Placeholder 3">
            <a:extLst>
              <a:ext uri="{FF2B5EF4-FFF2-40B4-BE49-F238E27FC236}">
                <a16:creationId xmlns:a16="http://schemas.microsoft.com/office/drawing/2014/main" id="{CDB7E992-42CE-2964-DA55-8E65F8EFE6E5}"/>
              </a:ext>
            </a:extLst>
          </p:cNvPr>
          <p:cNvSpPr>
            <a:spLocks noGrp="1"/>
          </p:cNvSpPr>
          <p:nvPr>
            <p:ph type="sldNum" sz="quarter" idx="12"/>
          </p:nvPr>
        </p:nvSpPr>
        <p:spPr/>
        <p:txBody>
          <a:bodyPr/>
          <a:lstStyle/>
          <a:p>
            <a:fld id="{F74D7E6C-9B20-4593-B18C-8D2C7BEEFCA2}" type="slidenum">
              <a:rPr lang="en-GB" smtClean="0"/>
              <a:t>29</a:t>
            </a:fld>
            <a:endParaRPr lang="en-GB"/>
          </a:p>
        </p:txBody>
      </p:sp>
      <p:sp>
        <p:nvSpPr>
          <p:cNvPr id="8" name="TextBox 7">
            <a:extLst>
              <a:ext uri="{FF2B5EF4-FFF2-40B4-BE49-F238E27FC236}">
                <a16:creationId xmlns:a16="http://schemas.microsoft.com/office/drawing/2014/main" id="{F3FB8FEF-7CE2-AE74-68A0-AA7DB35F4E5D}"/>
              </a:ext>
            </a:extLst>
          </p:cNvPr>
          <p:cNvSpPr txBox="1"/>
          <p:nvPr/>
        </p:nvSpPr>
        <p:spPr>
          <a:xfrm>
            <a:off x="905389" y="1439961"/>
            <a:ext cx="10381222" cy="646331"/>
          </a:xfrm>
          <a:prstGeom prst="rect">
            <a:avLst/>
          </a:prstGeom>
          <a:noFill/>
        </p:spPr>
        <p:txBody>
          <a:bodyPr wrap="square" rtlCol="0">
            <a:spAutoFit/>
          </a:bodyPr>
          <a:lstStyle/>
          <a:p>
            <a:r>
              <a:rPr lang="en-GB" sz="3600" dirty="0">
                <a:solidFill>
                  <a:srgbClr val="00B050"/>
                </a:solidFill>
                <a:latin typeface="Cambria Math" panose="02040503050406030204" pitchFamily="18" charset="0"/>
                <a:ea typeface="Cambria Math" panose="02040503050406030204" pitchFamily="18" charset="0"/>
              </a:rPr>
              <a:t>from</a:t>
            </a:r>
            <a:r>
              <a:rPr lang="en-GB" sz="3600" dirty="0">
                <a:solidFill>
                  <a:srgbClr val="FCCA8E"/>
                </a:solidFill>
                <a:latin typeface="Cambria Math" panose="02040503050406030204" pitchFamily="18" charset="0"/>
                <a:ea typeface="Cambria Math" panose="02040503050406030204" pitchFamily="18" charset="0"/>
              </a:rPr>
              <a:t> </a:t>
            </a:r>
            <a:r>
              <a:rPr lang="en-GB" sz="3600" dirty="0" err="1">
                <a:solidFill>
                  <a:srgbClr val="FCCA8E"/>
                </a:solidFill>
                <a:latin typeface="Cambria Math" panose="02040503050406030204" pitchFamily="18" charset="0"/>
                <a:ea typeface="Cambria Math" panose="02040503050406030204" pitchFamily="18" charset="0"/>
              </a:rPr>
              <a:t>sklearn.model_selection</a:t>
            </a:r>
            <a:r>
              <a:rPr lang="en-GB" sz="3600" dirty="0">
                <a:solidFill>
                  <a:srgbClr val="FCCA8E"/>
                </a:solidFill>
                <a:latin typeface="Cambria Math" panose="02040503050406030204" pitchFamily="18" charset="0"/>
                <a:ea typeface="Cambria Math" panose="02040503050406030204" pitchFamily="18" charset="0"/>
              </a:rPr>
              <a:t> </a:t>
            </a:r>
            <a:r>
              <a:rPr lang="en-GB" sz="3600" dirty="0">
                <a:solidFill>
                  <a:srgbClr val="00B050"/>
                </a:solidFill>
                <a:latin typeface="Cambria Math" panose="02040503050406030204" pitchFamily="18" charset="0"/>
                <a:ea typeface="Cambria Math" panose="02040503050406030204" pitchFamily="18" charset="0"/>
              </a:rPr>
              <a:t>import</a:t>
            </a:r>
            <a:r>
              <a:rPr lang="en-GB" sz="3600" dirty="0">
                <a:solidFill>
                  <a:srgbClr val="FCCA8E"/>
                </a:solidFill>
                <a:latin typeface="Cambria Math" panose="02040503050406030204" pitchFamily="18" charset="0"/>
                <a:ea typeface="Cambria Math" panose="02040503050406030204" pitchFamily="18" charset="0"/>
              </a:rPr>
              <a:t> </a:t>
            </a:r>
            <a:r>
              <a:rPr lang="en-GB" sz="3600" dirty="0" err="1">
                <a:solidFill>
                  <a:srgbClr val="FCCA8E"/>
                </a:solidFill>
                <a:latin typeface="Cambria Math" panose="02040503050406030204" pitchFamily="18" charset="0"/>
                <a:ea typeface="Cambria Math" panose="02040503050406030204" pitchFamily="18" charset="0"/>
              </a:rPr>
              <a:t>train_test_split</a:t>
            </a:r>
            <a:endParaRPr lang="en-GB" sz="3600" dirty="0">
              <a:solidFill>
                <a:srgbClr val="FCCA8E"/>
              </a:solidFill>
              <a:latin typeface="Cambria Math" panose="02040503050406030204" pitchFamily="18" charset="0"/>
              <a:ea typeface="Cambria Math" panose="02040503050406030204" pitchFamily="18" charset="0"/>
            </a:endParaRPr>
          </a:p>
        </p:txBody>
      </p:sp>
      <p:sp>
        <p:nvSpPr>
          <p:cNvPr id="9" name="TextBox 8">
            <a:extLst>
              <a:ext uri="{FF2B5EF4-FFF2-40B4-BE49-F238E27FC236}">
                <a16:creationId xmlns:a16="http://schemas.microsoft.com/office/drawing/2014/main" id="{4793043E-D849-75A5-3196-3C4D43D796F6}"/>
              </a:ext>
            </a:extLst>
          </p:cNvPr>
          <p:cNvSpPr txBox="1"/>
          <p:nvPr/>
        </p:nvSpPr>
        <p:spPr>
          <a:xfrm>
            <a:off x="667161" y="2345058"/>
            <a:ext cx="11131139" cy="954107"/>
          </a:xfrm>
          <a:prstGeom prst="rect">
            <a:avLst/>
          </a:prstGeom>
          <a:noFill/>
        </p:spPr>
        <p:txBody>
          <a:bodyPr wrap="square" rtlCol="0">
            <a:spAutoFit/>
          </a:bodyPr>
          <a:lstStyle/>
          <a:p>
            <a:pPr marL="457200" indent="-457200">
              <a:buFont typeface="Arial" panose="020B0604020202020204" pitchFamily="34" charset="0"/>
              <a:buChar char="•"/>
            </a:pPr>
            <a:r>
              <a:rPr lang="en-GB" sz="2800" dirty="0">
                <a:solidFill>
                  <a:schemeClr val="bg1">
                    <a:lumMod val="95000"/>
                  </a:schemeClr>
                </a:solidFill>
              </a:rPr>
              <a:t>Import the function </a:t>
            </a:r>
            <a:r>
              <a:rPr lang="en-GB" sz="2800" dirty="0" err="1">
                <a:solidFill>
                  <a:schemeClr val="bg1">
                    <a:lumMod val="95000"/>
                  </a:schemeClr>
                </a:solidFill>
              </a:rPr>
              <a:t>train_test_split</a:t>
            </a:r>
            <a:r>
              <a:rPr lang="en-GB" sz="2800" dirty="0">
                <a:solidFill>
                  <a:schemeClr val="bg1">
                    <a:lumMod val="95000"/>
                  </a:schemeClr>
                </a:solidFill>
              </a:rPr>
              <a:t> from the </a:t>
            </a:r>
            <a:r>
              <a:rPr lang="en-GB" sz="2800" dirty="0" err="1">
                <a:solidFill>
                  <a:schemeClr val="bg1">
                    <a:lumMod val="95000"/>
                  </a:schemeClr>
                </a:solidFill>
              </a:rPr>
              <a:t>sklearn</a:t>
            </a:r>
            <a:r>
              <a:rPr lang="en-GB" sz="2800" dirty="0">
                <a:solidFill>
                  <a:schemeClr val="bg1">
                    <a:lumMod val="95000"/>
                  </a:schemeClr>
                </a:solidFill>
              </a:rPr>
              <a:t> library. This function helps us randomly dividing the data into 2 sets: train and test  </a:t>
            </a:r>
          </a:p>
        </p:txBody>
      </p:sp>
      <p:sp>
        <p:nvSpPr>
          <p:cNvPr id="10" name="TextBox 9">
            <a:extLst>
              <a:ext uri="{FF2B5EF4-FFF2-40B4-BE49-F238E27FC236}">
                <a16:creationId xmlns:a16="http://schemas.microsoft.com/office/drawing/2014/main" id="{7579733A-2BDB-6528-F040-9F253C6DE6CE}"/>
              </a:ext>
            </a:extLst>
          </p:cNvPr>
          <p:cNvSpPr txBox="1"/>
          <p:nvPr/>
        </p:nvSpPr>
        <p:spPr>
          <a:xfrm>
            <a:off x="1075701" y="4323314"/>
            <a:ext cx="10314057" cy="1200329"/>
          </a:xfrm>
          <a:prstGeom prst="rect">
            <a:avLst/>
          </a:prstGeom>
          <a:noFill/>
        </p:spPr>
        <p:txBody>
          <a:bodyPr wrap="square" rtlCol="0">
            <a:spAutoFit/>
          </a:bodyPr>
          <a:lstStyle/>
          <a:p>
            <a:pPr algn="ctr"/>
            <a:r>
              <a:rPr lang="en-GB" sz="3600" dirty="0" err="1">
                <a:solidFill>
                  <a:srgbClr val="FCCA8E"/>
                </a:solidFill>
                <a:latin typeface="Cambria Math" panose="02040503050406030204" pitchFamily="18" charset="0"/>
                <a:ea typeface="Cambria Math" panose="02040503050406030204" pitchFamily="18" charset="0"/>
              </a:rPr>
              <a:t>X_train</a:t>
            </a:r>
            <a:r>
              <a:rPr lang="en-GB" sz="3600" dirty="0">
                <a:solidFill>
                  <a:srgbClr val="FCCA8E"/>
                </a:solidFill>
                <a:latin typeface="Cambria Math" panose="02040503050406030204" pitchFamily="18" charset="0"/>
                <a:ea typeface="Cambria Math" panose="02040503050406030204" pitchFamily="18" charset="0"/>
              </a:rPr>
              <a:t>, </a:t>
            </a:r>
            <a:r>
              <a:rPr lang="en-GB" sz="3600" dirty="0" err="1">
                <a:solidFill>
                  <a:srgbClr val="FCCA8E"/>
                </a:solidFill>
                <a:latin typeface="Cambria Math" panose="02040503050406030204" pitchFamily="18" charset="0"/>
                <a:ea typeface="Cambria Math" panose="02040503050406030204" pitchFamily="18" charset="0"/>
              </a:rPr>
              <a:t>X_test</a:t>
            </a:r>
            <a:r>
              <a:rPr lang="en-GB" sz="3600" dirty="0">
                <a:solidFill>
                  <a:srgbClr val="FCCA8E"/>
                </a:solidFill>
                <a:latin typeface="Cambria Math" panose="02040503050406030204" pitchFamily="18" charset="0"/>
                <a:ea typeface="Cambria Math" panose="02040503050406030204" pitchFamily="18" charset="0"/>
              </a:rPr>
              <a:t>, </a:t>
            </a:r>
            <a:r>
              <a:rPr lang="en-GB" sz="3600" dirty="0" err="1">
                <a:solidFill>
                  <a:srgbClr val="FCCA8E"/>
                </a:solidFill>
                <a:latin typeface="Cambria Math" panose="02040503050406030204" pitchFamily="18" charset="0"/>
                <a:ea typeface="Cambria Math" panose="02040503050406030204" pitchFamily="18" charset="0"/>
              </a:rPr>
              <a:t>y_train</a:t>
            </a:r>
            <a:r>
              <a:rPr lang="en-GB" sz="3600" dirty="0">
                <a:solidFill>
                  <a:srgbClr val="FCCA8E"/>
                </a:solidFill>
                <a:latin typeface="Cambria Math" panose="02040503050406030204" pitchFamily="18" charset="0"/>
                <a:ea typeface="Cambria Math" panose="02040503050406030204" pitchFamily="18" charset="0"/>
              </a:rPr>
              <a:t>, </a:t>
            </a:r>
            <a:r>
              <a:rPr lang="en-GB" sz="3600" dirty="0" err="1">
                <a:solidFill>
                  <a:srgbClr val="FCCA8E"/>
                </a:solidFill>
                <a:latin typeface="Cambria Math" panose="02040503050406030204" pitchFamily="18" charset="0"/>
                <a:ea typeface="Cambria Math" panose="02040503050406030204" pitchFamily="18" charset="0"/>
              </a:rPr>
              <a:t>y_test</a:t>
            </a:r>
            <a:r>
              <a:rPr lang="en-GB" sz="3600" dirty="0">
                <a:solidFill>
                  <a:srgbClr val="FCCA8E"/>
                </a:solidFill>
                <a:latin typeface="Cambria Math" panose="02040503050406030204" pitchFamily="18" charset="0"/>
                <a:ea typeface="Cambria Math" panose="02040503050406030204" pitchFamily="18" charset="0"/>
              </a:rPr>
              <a:t> = </a:t>
            </a:r>
            <a:r>
              <a:rPr lang="en-GB" sz="3600" dirty="0" err="1">
                <a:solidFill>
                  <a:srgbClr val="FCCA8E"/>
                </a:solidFill>
                <a:latin typeface="Cambria Math" panose="02040503050406030204" pitchFamily="18" charset="0"/>
                <a:ea typeface="Cambria Math" panose="02040503050406030204" pitchFamily="18" charset="0"/>
              </a:rPr>
              <a:t>train_test_split</a:t>
            </a:r>
            <a:r>
              <a:rPr lang="en-GB" sz="3600" dirty="0">
                <a:solidFill>
                  <a:srgbClr val="FCCA8E"/>
                </a:solidFill>
                <a:latin typeface="Cambria Math" panose="02040503050406030204" pitchFamily="18" charset="0"/>
                <a:ea typeface="Cambria Math" panose="02040503050406030204" pitchFamily="18" charset="0"/>
              </a:rPr>
              <a:t>(X, y, </a:t>
            </a:r>
            <a:r>
              <a:rPr lang="en-GB" sz="3600" dirty="0" err="1">
                <a:solidFill>
                  <a:srgbClr val="FCCA8E"/>
                </a:solidFill>
                <a:latin typeface="Cambria Math" panose="02040503050406030204" pitchFamily="18" charset="0"/>
                <a:ea typeface="Cambria Math" panose="02040503050406030204" pitchFamily="18" charset="0"/>
              </a:rPr>
              <a:t>test_size</a:t>
            </a:r>
            <a:r>
              <a:rPr lang="en-GB" sz="3600" dirty="0">
                <a:solidFill>
                  <a:srgbClr val="FCCA8E"/>
                </a:solidFill>
                <a:latin typeface="Cambria Math" panose="02040503050406030204" pitchFamily="18" charset="0"/>
                <a:ea typeface="Cambria Math" panose="02040503050406030204" pitchFamily="18" charset="0"/>
              </a:rPr>
              <a:t>=0.20, </a:t>
            </a:r>
            <a:r>
              <a:rPr lang="en-GB" sz="3600" dirty="0" err="1">
                <a:solidFill>
                  <a:srgbClr val="FCCA8E"/>
                </a:solidFill>
                <a:latin typeface="Cambria Math" panose="02040503050406030204" pitchFamily="18" charset="0"/>
                <a:ea typeface="Cambria Math" panose="02040503050406030204" pitchFamily="18" charset="0"/>
              </a:rPr>
              <a:t>random_state</a:t>
            </a:r>
            <a:r>
              <a:rPr lang="en-GB" sz="3600" dirty="0">
                <a:solidFill>
                  <a:srgbClr val="FCCA8E"/>
                </a:solidFill>
                <a:latin typeface="Cambria Math" panose="02040503050406030204" pitchFamily="18" charset="0"/>
                <a:ea typeface="Cambria Math" panose="02040503050406030204" pitchFamily="18" charset="0"/>
              </a:rPr>
              <a:t>=42)</a:t>
            </a:r>
          </a:p>
        </p:txBody>
      </p:sp>
    </p:spTree>
    <p:extLst>
      <p:ext uri="{BB962C8B-B14F-4D97-AF65-F5344CB8AC3E}">
        <p14:creationId xmlns:p14="http://schemas.microsoft.com/office/powerpoint/2010/main" val="23235643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D00D2-3F16-9049-1C7D-25DC2EB6906B}"/>
              </a:ext>
            </a:extLst>
          </p:cNvPr>
          <p:cNvSpPr>
            <a:spLocks noGrp="1"/>
          </p:cNvSpPr>
          <p:nvPr>
            <p:ph type="title"/>
          </p:nvPr>
        </p:nvSpPr>
        <p:spPr/>
        <p:txBody>
          <a:bodyPr>
            <a:normAutofit/>
          </a:bodyPr>
          <a:lstStyle/>
          <a:p>
            <a:r>
              <a:rPr lang="en-GB" dirty="0"/>
              <a:t>Model creation</a:t>
            </a:r>
          </a:p>
        </p:txBody>
      </p:sp>
      <p:sp>
        <p:nvSpPr>
          <p:cNvPr id="3" name="Text Placeholder 2">
            <a:extLst>
              <a:ext uri="{FF2B5EF4-FFF2-40B4-BE49-F238E27FC236}">
                <a16:creationId xmlns:a16="http://schemas.microsoft.com/office/drawing/2014/main" id="{A7E5C249-CC2E-CD99-BDD4-EAB8E71EB48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ED4D42B-19E5-DCAD-486D-C2D3B8223F86}"/>
              </a:ext>
            </a:extLst>
          </p:cNvPr>
          <p:cNvSpPr>
            <a:spLocks noGrp="1"/>
          </p:cNvSpPr>
          <p:nvPr>
            <p:ph type="sldNum" sz="quarter" idx="12"/>
          </p:nvPr>
        </p:nvSpPr>
        <p:spPr/>
        <p:txBody>
          <a:bodyPr/>
          <a:lstStyle/>
          <a:p>
            <a:fld id="{F74D7E6C-9B20-4593-B18C-8D2C7BEEFCA2}" type="slidenum">
              <a:rPr lang="en-GB" smtClean="0"/>
              <a:t>30</a:t>
            </a:fld>
            <a:endParaRPr lang="en-GB"/>
          </a:p>
        </p:txBody>
      </p:sp>
    </p:spTree>
    <p:extLst>
      <p:ext uri="{BB962C8B-B14F-4D97-AF65-F5344CB8AC3E}">
        <p14:creationId xmlns:p14="http://schemas.microsoft.com/office/powerpoint/2010/main" val="18441343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Model creation</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31</a:t>
            </a:fld>
            <a:endParaRPr lang="en-GB"/>
          </a:p>
        </p:txBody>
      </p:sp>
      <p:sp>
        <p:nvSpPr>
          <p:cNvPr id="5" name="TextBox 4">
            <a:extLst>
              <a:ext uri="{FF2B5EF4-FFF2-40B4-BE49-F238E27FC236}">
                <a16:creationId xmlns:a16="http://schemas.microsoft.com/office/drawing/2014/main" id="{7A3EDE12-C70C-55AA-86A1-A41B530703E1}"/>
              </a:ext>
            </a:extLst>
          </p:cNvPr>
          <p:cNvSpPr txBox="1"/>
          <p:nvPr/>
        </p:nvSpPr>
        <p:spPr>
          <a:xfrm>
            <a:off x="403038" y="1230732"/>
            <a:ext cx="11833412" cy="523220"/>
          </a:xfrm>
          <a:prstGeom prst="rect">
            <a:avLst/>
          </a:prstGeom>
          <a:noFill/>
        </p:spPr>
        <p:txBody>
          <a:bodyPr wrap="square" rtlCol="0">
            <a:spAutoFit/>
          </a:bodyPr>
          <a:lstStyle/>
          <a:p>
            <a:r>
              <a:rPr lang="en-GB" sz="2800" dirty="0">
                <a:solidFill>
                  <a:srgbClr val="00B050"/>
                </a:solidFill>
                <a:hlinkClick r:id="rId2">
                  <a:extLst>
                    <a:ext uri="{A12FA001-AC4F-418D-AE19-62706E023703}">
                      <ahyp:hlinkClr xmlns:ahyp="http://schemas.microsoft.com/office/drawing/2018/hyperlinkcolor" val="tx"/>
                    </a:ext>
                  </a:extLst>
                </a:hlinkClick>
              </a:rPr>
              <a:t>https://scikit-learn.org/stable/</a:t>
            </a:r>
            <a:endParaRPr lang="en-GB" sz="2800" dirty="0">
              <a:solidFill>
                <a:srgbClr val="00B050"/>
              </a:solidFill>
            </a:endParaRPr>
          </a:p>
        </p:txBody>
      </p:sp>
      <p:pic>
        <p:nvPicPr>
          <p:cNvPr id="6" name="Picture 5" descr="Website&#10;&#10;Description automatically generated with medium confidence">
            <a:extLst>
              <a:ext uri="{FF2B5EF4-FFF2-40B4-BE49-F238E27FC236}">
                <a16:creationId xmlns:a16="http://schemas.microsoft.com/office/drawing/2014/main" id="{DD1CE2F5-6EEB-66D7-86D7-9EE39493922A}"/>
              </a:ext>
            </a:extLst>
          </p:cNvPr>
          <p:cNvPicPr>
            <a:picLocks noChangeAspect="1"/>
          </p:cNvPicPr>
          <p:nvPr/>
        </p:nvPicPr>
        <p:blipFill rotWithShape="1">
          <a:blip r:embed="rId3"/>
          <a:srcRect b="21118"/>
          <a:stretch/>
        </p:blipFill>
        <p:spPr>
          <a:xfrm>
            <a:off x="1067921" y="1800410"/>
            <a:ext cx="10260479" cy="5059887"/>
          </a:xfrm>
          <a:prstGeom prst="rect">
            <a:avLst/>
          </a:prstGeom>
        </p:spPr>
      </p:pic>
    </p:spTree>
    <p:extLst>
      <p:ext uri="{BB962C8B-B14F-4D97-AF65-F5344CB8AC3E}">
        <p14:creationId xmlns:p14="http://schemas.microsoft.com/office/powerpoint/2010/main" val="2164089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Model creation</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32</a:t>
            </a:fld>
            <a:endParaRPr lang="en-GB"/>
          </a:p>
        </p:txBody>
      </p:sp>
      <p:sp>
        <p:nvSpPr>
          <p:cNvPr id="3" name="TextBox 2">
            <a:extLst>
              <a:ext uri="{FF2B5EF4-FFF2-40B4-BE49-F238E27FC236}">
                <a16:creationId xmlns:a16="http://schemas.microsoft.com/office/drawing/2014/main" id="{D45759B3-20A5-AF17-0E82-A10EC6EE2D1E}"/>
              </a:ext>
            </a:extLst>
          </p:cNvPr>
          <p:cNvSpPr txBox="1"/>
          <p:nvPr/>
        </p:nvSpPr>
        <p:spPr>
          <a:xfrm>
            <a:off x="323851" y="1484999"/>
            <a:ext cx="5981699" cy="400110"/>
          </a:xfrm>
          <a:prstGeom prst="rect">
            <a:avLst/>
          </a:prstGeom>
          <a:noFill/>
        </p:spPr>
        <p:txBody>
          <a:bodyPr wrap="square" rtlCol="0">
            <a:spAutoFit/>
          </a:bodyPr>
          <a:lstStyle/>
          <a:p>
            <a:r>
              <a:rPr lang="en-GB" sz="2000" dirty="0">
                <a:solidFill>
                  <a:srgbClr val="00B050"/>
                </a:solidFill>
                <a:latin typeface="Cambria Math" panose="02040503050406030204" pitchFamily="18" charset="0"/>
                <a:ea typeface="Cambria Math" panose="02040503050406030204" pitchFamily="18" charset="0"/>
              </a:rPr>
              <a:t>from</a:t>
            </a:r>
            <a:r>
              <a:rPr lang="en-GB" sz="2000" dirty="0">
                <a:solidFill>
                  <a:srgbClr val="FCCA8E"/>
                </a:solidFill>
                <a:latin typeface="Cambria Math" panose="02040503050406030204" pitchFamily="18" charset="0"/>
                <a:ea typeface="Cambria Math" panose="02040503050406030204" pitchFamily="18" charset="0"/>
              </a:rPr>
              <a:t> </a:t>
            </a:r>
            <a:r>
              <a:rPr lang="en-GB" sz="2000" dirty="0" err="1">
                <a:solidFill>
                  <a:srgbClr val="FCCA8E"/>
                </a:solidFill>
                <a:latin typeface="Cambria Math" panose="02040503050406030204" pitchFamily="18" charset="0"/>
                <a:ea typeface="Cambria Math" panose="02040503050406030204" pitchFamily="18" charset="0"/>
              </a:rPr>
              <a:t>sklearn.linear_model</a:t>
            </a:r>
            <a:r>
              <a:rPr lang="en-GB" sz="2000" dirty="0">
                <a:solidFill>
                  <a:srgbClr val="FCCA8E"/>
                </a:solidFill>
                <a:latin typeface="Cambria Math" panose="02040503050406030204" pitchFamily="18" charset="0"/>
                <a:ea typeface="Cambria Math" panose="02040503050406030204" pitchFamily="18" charset="0"/>
              </a:rPr>
              <a:t> </a:t>
            </a:r>
            <a:r>
              <a:rPr lang="en-GB" sz="2000" dirty="0">
                <a:solidFill>
                  <a:srgbClr val="00B050"/>
                </a:solidFill>
                <a:latin typeface="Cambria Math" panose="02040503050406030204" pitchFamily="18" charset="0"/>
                <a:ea typeface="Cambria Math" panose="02040503050406030204" pitchFamily="18" charset="0"/>
              </a:rPr>
              <a:t>import</a:t>
            </a:r>
            <a:r>
              <a:rPr lang="en-GB" sz="2000" dirty="0">
                <a:solidFill>
                  <a:srgbClr val="FCCA8E"/>
                </a:solidFill>
                <a:latin typeface="Cambria Math" panose="02040503050406030204" pitchFamily="18" charset="0"/>
                <a:ea typeface="Cambria Math" panose="02040503050406030204" pitchFamily="18" charset="0"/>
              </a:rPr>
              <a:t> </a:t>
            </a:r>
            <a:r>
              <a:rPr lang="en-GB" sz="2000" dirty="0" err="1">
                <a:solidFill>
                  <a:srgbClr val="FCCA8E"/>
                </a:solidFill>
                <a:latin typeface="Cambria Math" panose="02040503050406030204" pitchFamily="18" charset="0"/>
                <a:ea typeface="Cambria Math" panose="02040503050406030204" pitchFamily="18" charset="0"/>
              </a:rPr>
              <a:t>LinearRegression</a:t>
            </a:r>
            <a:endParaRPr lang="en-GB" sz="2000" dirty="0">
              <a:solidFill>
                <a:srgbClr val="FCCA8E"/>
              </a:solidFill>
              <a:latin typeface="Cambria Math" panose="02040503050406030204" pitchFamily="18" charset="0"/>
              <a:ea typeface="Cambria Math" panose="02040503050406030204" pitchFamily="18" charset="0"/>
            </a:endParaRPr>
          </a:p>
        </p:txBody>
      </p:sp>
      <p:sp>
        <p:nvSpPr>
          <p:cNvPr id="7" name="TextBox 6">
            <a:extLst>
              <a:ext uri="{FF2B5EF4-FFF2-40B4-BE49-F238E27FC236}">
                <a16:creationId xmlns:a16="http://schemas.microsoft.com/office/drawing/2014/main" id="{48BEF4AD-9B73-92DB-2BCB-3E58468013EF}"/>
              </a:ext>
            </a:extLst>
          </p:cNvPr>
          <p:cNvSpPr txBox="1"/>
          <p:nvPr/>
        </p:nvSpPr>
        <p:spPr>
          <a:xfrm>
            <a:off x="6305550" y="1300849"/>
            <a:ext cx="5613400" cy="954107"/>
          </a:xfrm>
          <a:prstGeom prst="rect">
            <a:avLst/>
          </a:prstGeom>
          <a:noFill/>
        </p:spPr>
        <p:txBody>
          <a:bodyPr wrap="square" rtlCol="0">
            <a:spAutoFit/>
          </a:bodyPr>
          <a:lstStyle/>
          <a:p>
            <a:r>
              <a:rPr lang="en-GB" sz="2800" dirty="0">
                <a:solidFill>
                  <a:schemeClr val="bg1">
                    <a:lumMod val="95000"/>
                  </a:schemeClr>
                </a:solidFill>
              </a:rPr>
              <a:t>- Import the class </a:t>
            </a:r>
            <a:r>
              <a:rPr lang="en-GB" sz="2800" dirty="0" err="1">
                <a:solidFill>
                  <a:schemeClr val="bg1">
                    <a:lumMod val="95000"/>
                  </a:schemeClr>
                </a:solidFill>
              </a:rPr>
              <a:t>LinearRegression</a:t>
            </a:r>
            <a:r>
              <a:rPr lang="en-GB" sz="2800" dirty="0">
                <a:solidFill>
                  <a:schemeClr val="bg1">
                    <a:lumMod val="95000"/>
                  </a:schemeClr>
                </a:solidFill>
              </a:rPr>
              <a:t> from the </a:t>
            </a:r>
            <a:r>
              <a:rPr lang="en-GB" sz="2800" dirty="0" err="1">
                <a:solidFill>
                  <a:schemeClr val="bg1">
                    <a:lumMod val="95000"/>
                  </a:schemeClr>
                </a:solidFill>
              </a:rPr>
              <a:t>sklearn</a:t>
            </a:r>
            <a:r>
              <a:rPr lang="en-GB" sz="2800" dirty="0">
                <a:solidFill>
                  <a:schemeClr val="bg1">
                    <a:lumMod val="95000"/>
                  </a:schemeClr>
                </a:solidFill>
              </a:rPr>
              <a:t> library</a:t>
            </a:r>
          </a:p>
        </p:txBody>
      </p:sp>
      <p:sp>
        <p:nvSpPr>
          <p:cNvPr id="8" name="TextBox 7">
            <a:extLst>
              <a:ext uri="{FF2B5EF4-FFF2-40B4-BE49-F238E27FC236}">
                <a16:creationId xmlns:a16="http://schemas.microsoft.com/office/drawing/2014/main" id="{60590200-B483-38B9-9200-47D288515D8A}"/>
              </a:ext>
            </a:extLst>
          </p:cNvPr>
          <p:cNvSpPr txBox="1"/>
          <p:nvPr/>
        </p:nvSpPr>
        <p:spPr>
          <a:xfrm>
            <a:off x="323851" y="2600635"/>
            <a:ext cx="6205159" cy="400110"/>
          </a:xfrm>
          <a:prstGeom prst="rect">
            <a:avLst/>
          </a:prstGeom>
          <a:noFill/>
        </p:spPr>
        <p:txBody>
          <a:bodyPr wrap="square" rtlCol="0">
            <a:spAutoFit/>
          </a:bodyPr>
          <a:lstStyle/>
          <a:p>
            <a:r>
              <a:rPr lang="en-GB" sz="2000" dirty="0">
                <a:solidFill>
                  <a:srgbClr val="FCCA8E"/>
                </a:solidFill>
                <a:latin typeface="Cambria Math" panose="02040503050406030204" pitchFamily="18" charset="0"/>
                <a:ea typeface="Cambria Math" panose="02040503050406030204" pitchFamily="18" charset="0"/>
              </a:rPr>
              <a:t>model = </a:t>
            </a:r>
            <a:r>
              <a:rPr lang="en-GB" sz="2000" dirty="0" err="1">
                <a:solidFill>
                  <a:srgbClr val="FCCA8E"/>
                </a:solidFill>
                <a:latin typeface="Cambria Math" panose="02040503050406030204" pitchFamily="18" charset="0"/>
                <a:ea typeface="Cambria Math" panose="02040503050406030204" pitchFamily="18" charset="0"/>
              </a:rPr>
              <a:t>LinearRegression</a:t>
            </a:r>
            <a:r>
              <a:rPr lang="en-GB" sz="2000" dirty="0">
                <a:solidFill>
                  <a:srgbClr val="FCCA8E"/>
                </a:solidFill>
                <a:latin typeface="Cambria Math" panose="02040503050406030204" pitchFamily="18" charset="0"/>
                <a:ea typeface="Cambria Math" panose="02040503050406030204" pitchFamily="18" charset="0"/>
              </a:rPr>
              <a:t>()</a:t>
            </a:r>
          </a:p>
        </p:txBody>
      </p:sp>
      <p:sp>
        <p:nvSpPr>
          <p:cNvPr id="9" name="TextBox 8">
            <a:extLst>
              <a:ext uri="{FF2B5EF4-FFF2-40B4-BE49-F238E27FC236}">
                <a16:creationId xmlns:a16="http://schemas.microsoft.com/office/drawing/2014/main" id="{47B5FC99-F461-0444-E150-3826B7D5C27B}"/>
              </a:ext>
            </a:extLst>
          </p:cNvPr>
          <p:cNvSpPr txBox="1"/>
          <p:nvPr/>
        </p:nvSpPr>
        <p:spPr>
          <a:xfrm>
            <a:off x="6305550" y="2415343"/>
            <a:ext cx="5613400" cy="523220"/>
          </a:xfrm>
          <a:prstGeom prst="rect">
            <a:avLst/>
          </a:prstGeom>
          <a:noFill/>
        </p:spPr>
        <p:txBody>
          <a:bodyPr wrap="square" rtlCol="0">
            <a:spAutoFit/>
          </a:bodyPr>
          <a:lstStyle/>
          <a:p>
            <a:r>
              <a:rPr lang="en-GB" sz="2800" dirty="0">
                <a:solidFill>
                  <a:schemeClr val="bg1">
                    <a:lumMod val="95000"/>
                  </a:schemeClr>
                </a:solidFill>
              </a:rPr>
              <a:t>- Create a Linear Regression Model</a:t>
            </a:r>
          </a:p>
        </p:txBody>
      </p:sp>
      <p:sp>
        <p:nvSpPr>
          <p:cNvPr id="10" name="TextBox 9">
            <a:extLst>
              <a:ext uri="{FF2B5EF4-FFF2-40B4-BE49-F238E27FC236}">
                <a16:creationId xmlns:a16="http://schemas.microsoft.com/office/drawing/2014/main" id="{C55C4B20-7D15-D543-76C0-B699A91744FF}"/>
              </a:ext>
            </a:extLst>
          </p:cNvPr>
          <p:cNvSpPr txBox="1"/>
          <p:nvPr/>
        </p:nvSpPr>
        <p:spPr>
          <a:xfrm>
            <a:off x="323851" y="3432064"/>
            <a:ext cx="6205159" cy="400110"/>
          </a:xfrm>
          <a:prstGeom prst="rect">
            <a:avLst/>
          </a:prstGeom>
          <a:noFill/>
        </p:spPr>
        <p:txBody>
          <a:bodyPr wrap="square" rtlCol="0">
            <a:spAutoFit/>
          </a:bodyPr>
          <a:lstStyle/>
          <a:p>
            <a:r>
              <a:rPr lang="en-GB" sz="2000" dirty="0">
                <a:solidFill>
                  <a:srgbClr val="FCCA8E"/>
                </a:solidFill>
                <a:latin typeface="Cambria Math" panose="02040503050406030204" pitchFamily="18" charset="0"/>
                <a:ea typeface="Cambria Math" panose="02040503050406030204" pitchFamily="18" charset="0"/>
              </a:rPr>
              <a:t>model = </a:t>
            </a:r>
            <a:r>
              <a:rPr lang="en-GB" sz="2000" dirty="0" err="1">
                <a:solidFill>
                  <a:srgbClr val="FCCA8E"/>
                </a:solidFill>
                <a:latin typeface="Cambria Math" panose="02040503050406030204" pitchFamily="18" charset="0"/>
                <a:ea typeface="Cambria Math" panose="02040503050406030204" pitchFamily="18" charset="0"/>
              </a:rPr>
              <a:t>model.fit</a:t>
            </a:r>
            <a:r>
              <a:rPr lang="en-GB" sz="2000" dirty="0">
                <a:solidFill>
                  <a:srgbClr val="FCCA8E"/>
                </a:solidFill>
                <a:latin typeface="Cambria Math" panose="02040503050406030204" pitchFamily="18" charset="0"/>
                <a:ea typeface="Cambria Math" panose="02040503050406030204" pitchFamily="18" charset="0"/>
              </a:rPr>
              <a:t>(</a:t>
            </a:r>
            <a:r>
              <a:rPr lang="en-GB" sz="2000" dirty="0" err="1">
                <a:solidFill>
                  <a:srgbClr val="FCCA8E"/>
                </a:solidFill>
                <a:latin typeface="Cambria Math" panose="02040503050406030204" pitchFamily="18" charset="0"/>
                <a:ea typeface="Cambria Math" panose="02040503050406030204" pitchFamily="18" charset="0"/>
              </a:rPr>
              <a:t>X_train</a:t>
            </a:r>
            <a:r>
              <a:rPr lang="en-GB" sz="2000" dirty="0">
                <a:solidFill>
                  <a:srgbClr val="FCCA8E"/>
                </a:solidFill>
                <a:latin typeface="Cambria Math" panose="02040503050406030204" pitchFamily="18" charset="0"/>
                <a:ea typeface="Cambria Math" panose="02040503050406030204" pitchFamily="18" charset="0"/>
              </a:rPr>
              <a:t>, </a:t>
            </a:r>
            <a:r>
              <a:rPr lang="en-GB" sz="2000" dirty="0" err="1">
                <a:solidFill>
                  <a:srgbClr val="FCCA8E"/>
                </a:solidFill>
                <a:latin typeface="Cambria Math" panose="02040503050406030204" pitchFamily="18" charset="0"/>
                <a:ea typeface="Cambria Math" panose="02040503050406030204" pitchFamily="18" charset="0"/>
              </a:rPr>
              <a:t>y_train</a:t>
            </a:r>
            <a:r>
              <a:rPr lang="en-GB" sz="2000" dirty="0">
                <a:solidFill>
                  <a:srgbClr val="FCCA8E"/>
                </a:solidFill>
                <a:latin typeface="Cambria Math" panose="02040503050406030204" pitchFamily="18" charset="0"/>
                <a:ea typeface="Cambria Math" panose="02040503050406030204" pitchFamily="18" charset="0"/>
              </a:rPr>
              <a:t>)</a:t>
            </a:r>
          </a:p>
        </p:txBody>
      </p:sp>
      <p:sp>
        <p:nvSpPr>
          <p:cNvPr id="11" name="TextBox 10">
            <a:extLst>
              <a:ext uri="{FF2B5EF4-FFF2-40B4-BE49-F238E27FC236}">
                <a16:creationId xmlns:a16="http://schemas.microsoft.com/office/drawing/2014/main" id="{E505D4A1-08D5-3EB4-D05F-1E37D99C0F06}"/>
              </a:ext>
            </a:extLst>
          </p:cNvPr>
          <p:cNvSpPr txBox="1"/>
          <p:nvPr/>
        </p:nvSpPr>
        <p:spPr>
          <a:xfrm>
            <a:off x="6305550" y="3245630"/>
            <a:ext cx="5613400" cy="2246769"/>
          </a:xfrm>
          <a:prstGeom prst="rect">
            <a:avLst/>
          </a:prstGeom>
          <a:noFill/>
        </p:spPr>
        <p:txBody>
          <a:bodyPr wrap="square" rtlCol="0">
            <a:spAutoFit/>
          </a:bodyPr>
          <a:lstStyle/>
          <a:p>
            <a:r>
              <a:rPr lang="en-GB" sz="2800" dirty="0">
                <a:solidFill>
                  <a:schemeClr val="bg1">
                    <a:lumMod val="95000"/>
                  </a:schemeClr>
                </a:solidFill>
              </a:rPr>
              <a:t>- Fit the data into the model (this step is also described as the model training). At this stage the model estimate the best slope and intercept of the function. </a:t>
            </a:r>
          </a:p>
        </p:txBody>
      </p:sp>
      <p:sp>
        <p:nvSpPr>
          <p:cNvPr id="12" name="TextBox 11">
            <a:extLst>
              <a:ext uri="{FF2B5EF4-FFF2-40B4-BE49-F238E27FC236}">
                <a16:creationId xmlns:a16="http://schemas.microsoft.com/office/drawing/2014/main" id="{89C0EB6B-0B58-34D3-6F4F-B8758EA3B572}"/>
              </a:ext>
            </a:extLst>
          </p:cNvPr>
          <p:cNvSpPr txBox="1"/>
          <p:nvPr/>
        </p:nvSpPr>
        <p:spPr>
          <a:xfrm>
            <a:off x="323852" y="5312435"/>
            <a:ext cx="4535676" cy="707886"/>
          </a:xfrm>
          <a:prstGeom prst="rect">
            <a:avLst/>
          </a:prstGeom>
          <a:noFill/>
        </p:spPr>
        <p:txBody>
          <a:bodyPr wrap="square" rtlCol="0">
            <a:spAutoFit/>
          </a:bodyPr>
          <a:lstStyle/>
          <a:p>
            <a:r>
              <a:rPr lang="en-GB" sz="2000" dirty="0" err="1">
                <a:solidFill>
                  <a:srgbClr val="FCCA8E"/>
                </a:solidFill>
                <a:latin typeface="Cambria Math" panose="02040503050406030204" pitchFamily="18" charset="0"/>
                <a:ea typeface="Cambria Math" panose="02040503050406030204" pitchFamily="18" charset="0"/>
              </a:rPr>
              <a:t>model.coef</a:t>
            </a:r>
            <a:r>
              <a:rPr lang="en-GB" sz="2000" dirty="0">
                <a:solidFill>
                  <a:srgbClr val="FCCA8E"/>
                </a:solidFill>
                <a:latin typeface="Cambria Math" panose="02040503050406030204" pitchFamily="18" charset="0"/>
                <a:ea typeface="Cambria Math" panose="02040503050406030204" pitchFamily="18" charset="0"/>
              </a:rPr>
              <a:t>_</a:t>
            </a:r>
          </a:p>
          <a:p>
            <a:r>
              <a:rPr lang="en-GB" sz="2000" dirty="0" err="1">
                <a:solidFill>
                  <a:srgbClr val="FCCA8E"/>
                </a:solidFill>
                <a:latin typeface="Cambria Math" panose="02040503050406030204" pitchFamily="18" charset="0"/>
                <a:ea typeface="Cambria Math" panose="02040503050406030204" pitchFamily="18" charset="0"/>
              </a:rPr>
              <a:t>model.intercept</a:t>
            </a:r>
            <a:r>
              <a:rPr lang="en-GB" sz="2000" dirty="0">
                <a:solidFill>
                  <a:srgbClr val="FCCA8E"/>
                </a:solidFill>
                <a:latin typeface="Cambria Math" panose="02040503050406030204" pitchFamily="18" charset="0"/>
                <a:ea typeface="Cambria Math" panose="02040503050406030204" pitchFamily="18" charset="0"/>
              </a:rPr>
              <a:t>_</a:t>
            </a:r>
          </a:p>
        </p:txBody>
      </p:sp>
      <p:sp>
        <p:nvSpPr>
          <p:cNvPr id="13" name="TextBox 12">
            <a:extLst>
              <a:ext uri="{FF2B5EF4-FFF2-40B4-BE49-F238E27FC236}">
                <a16:creationId xmlns:a16="http://schemas.microsoft.com/office/drawing/2014/main" id="{75C8B50D-7FFA-6D03-2FE0-B2E21D39C658}"/>
              </a:ext>
            </a:extLst>
          </p:cNvPr>
          <p:cNvSpPr txBox="1"/>
          <p:nvPr/>
        </p:nvSpPr>
        <p:spPr>
          <a:xfrm>
            <a:off x="6305550" y="5605338"/>
            <a:ext cx="5613400" cy="954107"/>
          </a:xfrm>
          <a:prstGeom prst="rect">
            <a:avLst/>
          </a:prstGeom>
          <a:noFill/>
        </p:spPr>
        <p:txBody>
          <a:bodyPr wrap="square" rtlCol="0">
            <a:spAutoFit/>
          </a:bodyPr>
          <a:lstStyle/>
          <a:p>
            <a:r>
              <a:rPr lang="en-GB" sz="2800" dirty="0">
                <a:solidFill>
                  <a:schemeClr val="bg1">
                    <a:lumMod val="95000"/>
                  </a:schemeClr>
                </a:solidFill>
              </a:rPr>
              <a:t>- After training the model we can get the slope(</a:t>
            </a:r>
            <a:r>
              <a:rPr lang="en-GB" sz="2800" dirty="0" err="1">
                <a:solidFill>
                  <a:schemeClr val="bg1">
                    <a:lumMod val="95000"/>
                  </a:schemeClr>
                </a:solidFill>
              </a:rPr>
              <a:t>coef</a:t>
            </a:r>
            <a:r>
              <a:rPr lang="en-GB" sz="2800" dirty="0">
                <a:solidFill>
                  <a:schemeClr val="bg1">
                    <a:lumMod val="95000"/>
                  </a:schemeClr>
                </a:solidFill>
              </a:rPr>
              <a:t>) and the intercept </a:t>
            </a:r>
          </a:p>
        </p:txBody>
      </p:sp>
    </p:spTree>
    <p:extLst>
      <p:ext uri="{BB962C8B-B14F-4D97-AF65-F5344CB8AC3E}">
        <p14:creationId xmlns:p14="http://schemas.microsoft.com/office/powerpoint/2010/main" val="3063068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F4F88-7E2E-3AC8-8209-D5C64E3AD740}"/>
              </a:ext>
            </a:extLst>
          </p:cNvPr>
          <p:cNvSpPr>
            <a:spLocks noGrp="1"/>
          </p:cNvSpPr>
          <p:nvPr>
            <p:ph type="title"/>
          </p:nvPr>
        </p:nvSpPr>
        <p:spPr/>
        <p:txBody>
          <a:bodyPr/>
          <a:lstStyle/>
          <a:p>
            <a:r>
              <a:rPr lang="en-GB" dirty="0"/>
              <a:t>Model evaluation</a:t>
            </a:r>
          </a:p>
        </p:txBody>
      </p:sp>
      <p:sp>
        <p:nvSpPr>
          <p:cNvPr id="3" name="Text Placeholder 2">
            <a:extLst>
              <a:ext uri="{FF2B5EF4-FFF2-40B4-BE49-F238E27FC236}">
                <a16:creationId xmlns:a16="http://schemas.microsoft.com/office/drawing/2014/main" id="{6C895021-F18F-49AE-7581-E0C41B2CE8B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3BEC4A8-0776-CAD2-967E-890410D6E785}"/>
              </a:ext>
            </a:extLst>
          </p:cNvPr>
          <p:cNvSpPr>
            <a:spLocks noGrp="1"/>
          </p:cNvSpPr>
          <p:nvPr>
            <p:ph type="sldNum" sz="quarter" idx="12"/>
          </p:nvPr>
        </p:nvSpPr>
        <p:spPr/>
        <p:txBody>
          <a:bodyPr/>
          <a:lstStyle/>
          <a:p>
            <a:fld id="{F74D7E6C-9B20-4593-B18C-8D2C7BEEFCA2}" type="slidenum">
              <a:rPr lang="en-GB" smtClean="0"/>
              <a:t>33</a:t>
            </a:fld>
            <a:endParaRPr lang="en-GB"/>
          </a:p>
        </p:txBody>
      </p:sp>
    </p:spTree>
    <p:extLst>
      <p:ext uri="{BB962C8B-B14F-4D97-AF65-F5344CB8AC3E}">
        <p14:creationId xmlns:p14="http://schemas.microsoft.com/office/powerpoint/2010/main" val="13257131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Model evaluation</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34</a:t>
            </a:fld>
            <a:endParaRPr lang="en-GB"/>
          </a:p>
        </p:txBody>
      </p:sp>
      <p:pic>
        <p:nvPicPr>
          <p:cNvPr id="3" name="Picture 2" descr="Text&#10;&#10;Description automatically generated with medium confidence">
            <a:extLst>
              <a:ext uri="{FF2B5EF4-FFF2-40B4-BE49-F238E27FC236}">
                <a16:creationId xmlns:a16="http://schemas.microsoft.com/office/drawing/2014/main" id="{49A553A4-2565-2FC3-6495-A467B0B04E61}"/>
              </a:ext>
            </a:extLst>
          </p:cNvPr>
          <p:cNvPicPr>
            <a:picLocks noChangeAspect="1"/>
          </p:cNvPicPr>
          <p:nvPr/>
        </p:nvPicPr>
        <p:blipFill rotWithShape="1">
          <a:blip r:embed="rId3"/>
          <a:srcRect l="43927" b="50746"/>
          <a:stretch/>
        </p:blipFill>
        <p:spPr>
          <a:xfrm>
            <a:off x="6903699" y="2015193"/>
            <a:ext cx="4758818" cy="1172335"/>
          </a:xfrm>
          <a:prstGeom prst="rect">
            <a:avLst/>
          </a:prstGeom>
        </p:spPr>
      </p:pic>
      <p:pic>
        <p:nvPicPr>
          <p:cNvPr id="5" name="Picture 4" descr="Chart, line chart&#10;&#10;Description automatically generated">
            <a:extLst>
              <a:ext uri="{FF2B5EF4-FFF2-40B4-BE49-F238E27FC236}">
                <a16:creationId xmlns:a16="http://schemas.microsoft.com/office/drawing/2014/main" id="{03BA2069-472E-9773-80A6-2AB8AD3B87B4}"/>
              </a:ext>
            </a:extLst>
          </p:cNvPr>
          <p:cNvPicPr>
            <a:picLocks noChangeAspect="1"/>
          </p:cNvPicPr>
          <p:nvPr/>
        </p:nvPicPr>
        <p:blipFill>
          <a:blip r:embed="rId4"/>
          <a:stretch>
            <a:fillRect/>
          </a:stretch>
        </p:blipFill>
        <p:spPr>
          <a:xfrm>
            <a:off x="639692" y="2015193"/>
            <a:ext cx="5910249" cy="4132269"/>
          </a:xfrm>
          <a:prstGeom prst="rect">
            <a:avLst/>
          </a:prstGeom>
        </p:spPr>
      </p:pic>
      <p:pic>
        <p:nvPicPr>
          <p:cNvPr id="6" name="Picture 5" descr="Text&#10;&#10;Description automatically generated with medium confidence">
            <a:extLst>
              <a:ext uri="{FF2B5EF4-FFF2-40B4-BE49-F238E27FC236}">
                <a16:creationId xmlns:a16="http://schemas.microsoft.com/office/drawing/2014/main" id="{B9BBD00A-7905-5F7D-4C18-2F72D151AFDF}"/>
              </a:ext>
            </a:extLst>
          </p:cNvPr>
          <p:cNvPicPr>
            <a:picLocks noChangeAspect="1"/>
          </p:cNvPicPr>
          <p:nvPr/>
        </p:nvPicPr>
        <p:blipFill rotWithShape="1">
          <a:blip r:embed="rId3"/>
          <a:srcRect t="37324" r="60487"/>
          <a:stretch/>
        </p:blipFill>
        <p:spPr>
          <a:xfrm>
            <a:off x="6903698" y="4330096"/>
            <a:ext cx="4091243" cy="1820018"/>
          </a:xfrm>
          <a:prstGeom prst="rect">
            <a:avLst/>
          </a:prstGeom>
        </p:spPr>
      </p:pic>
      <p:sp>
        <p:nvSpPr>
          <p:cNvPr id="7" name="TextBox 6">
            <a:extLst>
              <a:ext uri="{FF2B5EF4-FFF2-40B4-BE49-F238E27FC236}">
                <a16:creationId xmlns:a16="http://schemas.microsoft.com/office/drawing/2014/main" id="{1B89B16A-0A1F-7474-FCBA-406F37DAD4B9}"/>
              </a:ext>
            </a:extLst>
          </p:cNvPr>
          <p:cNvSpPr txBox="1"/>
          <p:nvPr/>
        </p:nvSpPr>
        <p:spPr>
          <a:xfrm>
            <a:off x="668351" y="6150114"/>
            <a:ext cx="4213654" cy="400110"/>
          </a:xfrm>
          <a:prstGeom prst="rect">
            <a:avLst/>
          </a:prstGeom>
          <a:noFill/>
        </p:spPr>
        <p:txBody>
          <a:bodyPr wrap="square" rtlCol="0">
            <a:spAutoFit/>
          </a:bodyPr>
          <a:lstStyle/>
          <a:p>
            <a:r>
              <a:rPr lang="en-GB" sz="2000" dirty="0" err="1">
                <a:solidFill>
                  <a:schemeClr val="bg1">
                    <a:lumMod val="95000"/>
                  </a:schemeClr>
                </a:solidFill>
                <a:latin typeface="Cambria Math" panose="02040503050406030204" pitchFamily="18" charset="0"/>
                <a:ea typeface="Cambria Math" panose="02040503050406030204" pitchFamily="18" charset="0"/>
              </a:rPr>
              <a:t>model.score</a:t>
            </a:r>
            <a:r>
              <a:rPr lang="en-GB" sz="2000" dirty="0">
                <a:solidFill>
                  <a:schemeClr val="bg1">
                    <a:lumMod val="95000"/>
                  </a:schemeClr>
                </a:solidFill>
                <a:latin typeface="Cambria Math" panose="02040503050406030204" pitchFamily="18" charset="0"/>
                <a:ea typeface="Cambria Math" panose="02040503050406030204" pitchFamily="18" charset="0"/>
              </a:rPr>
              <a:t>(</a:t>
            </a:r>
            <a:r>
              <a:rPr lang="en-GB" sz="2000" dirty="0" err="1">
                <a:solidFill>
                  <a:schemeClr val="bg1">
                    <a:lumMod val="95000"/>
                  </a:schemeClr>
                </a:solidFill>
                <a:latin typeface="Cambria Math" panose="02040503050406030204" pitchFamily="18" charset="0"/>
                <a:ea typeface="Cambria Math" panose="02040503050406030204" pitchFamily="18" charset="0"/>
              </a:rPr>
              <a:t>X_train</a:t>
            </a:r>
            <a:r>
              <a:rPr lang="en-GB" sz="2000" dirty="0">
                <a:solidFill>
                  <a:schemeClr val="bg1">
                    <a:lumMod val="95000"/>
                  </a:schemeClr>
                </a:solidFill>
                <a:latin typeface="Cambria Math" panose="02040503050406030204" pitchFamily="18" charset="0"/>
                <a:ea typeface="Cambria Math" panose="02040503050406030204" pitchFamily="18" charset="0"/>
              </a:rPr>
              <a:t>, </a:t>
            </a:r>
            <a:r>
              <a:rPr lang="en-GB" sz="2000" dirty="0" err="1">
                <a:solidFill>
                  <a:schemeClr val="bg1">
                    <a:lumMod val="95000"/>
                  </a:schemeClr>
                </a:solidFill>
                <a:latin typeface="Cambria Math" panose="02040503050406030204" pitchFamily="18" charset="0"/>
                <a:ea typeface="Cambria Math" panose="02040503050406030204" pitchFamily="18" charset="0"/>
              </a:rPr>
              <a:t>y_train</a:t>
            </a:r>
            <a:r>
              <a:rPr lang="en-GB" sz="2000" dirty="0">
                <a:solidFill>
                  <a:schemeClr val="bg1">
                    <a:lumMod val="95000"/>
                  </a:schemeClr>
                </a:solidFill>
                <a:latin typeface="Cambria Math" panose="02040503050406030204" pitchFamily="18" charset="0"/>
                <a:ea typeface="Cambria Math" panose="02040503050406030204" pitchFamily="18" charset="0"/>
              </a:rPr>
              <a:t>)</a:t>
            </a:r>
          </a:p>
        </p:txBody>
      </p:sp>
      <p:sp>
        <p:nvSpPr>
          <p:cNvPr id="8" name="TextBox 7">
            <a:extLst>
              <a:ext uri="{FF2B5EF4-FFF2-40B4-BE49-F238E27FC236}">
                <a16:creationId xmlns:a16="http://schemas.microsoft.com/office/drawing/2014/main" id="{4CEBD2E9-5654-F0D5-75CD-7110B424CDF2}"/>
              </a:ext>
            </a:extLst>
          </p:cNvPr>
          <p:cNvSpPr txBox="1"/>
          <p:nvPr/>
        </p:nvSpPr>
        <p:spPr>
          <a:xfrm>
            <a:off x="5042643" y="6150114"/>
            <a:ext cx="6301946" cy="707886"/>
          </a:xfrm>
          <a:prstGeom prst="rect">
            <a:avLst/>
          </a:prstGeom>
          <a:noFill/>
        </p:spPr>
        <p:txBody>
          <a:bodyPr wrap="square" rtlCol="0">
            <a:spAutoFit/>
          </a:bodyPr>
          <a:lstStyle/>
          <a:p>
            <a:r>
              <a:rPr lang="en-GB" sz="2000" dirty="0">
                <a:solidFill>
                  <a:schemeClr val="bg1">
                    <a:lumMod val="95000"/>
                  </a:schemeClr>
                </a:solidFill>
              </a:rPr>
              <a:t>- We can get the </a:t>
            </a:r>
            <a:r>
              <a:rPr lang="en-GB" sz="2000" b="1" dirty="0">
                <a:solidFill>
                  <a:schemeClr val="accent1"/>
                </a:solidFill>
              </a:rPr>
              <a:t>coefficient of determination </a:t>
            </a:r>
            <a:r>
              <a:rPr lang="en-GB" sz="2000" dirty="0">
                <a:solidFill>
                  <a:schemeClr val="bg1">
                    <a:lumMod val="95000"/>
                  </a:schemeClr>
                </a:solidFill>
              </a:rPr>
              <a:t>which shows how much data can be explained by the model. </a:t>
            </a:r>
          </a:p>
        </p:txBody>
      </p:sp>
      <p:sp>
        <p:nvSpPr>
          <p:cNvPr id="9" name="TextBox 8">
            <a:extLst>
              <a:ext uri="{FF2B5EF4-FFF2-40B4-BE49-F238E27FC236}">
                <a16:creationId xmlns:a16="http://schemas.microsoft.com/office/drawing/2014/main" id="{BC780111-FDC2-8A93-4FC5-ECA87F803B22}"/>
              </a:ext>
            </a:extLst>
          </p:cNvPr>
          <p:cNvSpPr txBox="1"/>
          <p:nvPr/>
        </p:nvSpPr>
        <p:spPr>
          <a:xfrm>
            <a:off x="639692" y="1278923"/>
            <a:ext cx="7297808" cy="523220"/>
          </a:xfrm>
          <a:prstGeom prst="rect">
            <a:avLst/>
          </a:prstGeom>
          <a:noFill/>
        </p:spPr>
        <p:txBody>
          <a:bodyPr wrap="square" rtlCol="0">
            <a:spAutoFit/>
          </a:bodyPr>
          <a:lstStyle/>
          <a:p>
            <a:r>
              <a:rPr lang="en-GB" sz="2800" dirty="0">
                <a:solidFill>
                  <a:schemeClr val="accent1"/>
                </a:solidFill>
              </a:rPr>
              <a:t>The coefficient of determination(R-squared)</a:t>
            </a:r>
          </a:p>
        </p:txBody>
      </p:sp>
    </p:spTree>
    <p:extLst>
      <p:ext uri="{BB962C8B-B14F-4D97-AF65-F5344CB8AC3E}">
        <p14:creationId xmlns:p14="http://schemas.microsoft.com/office/powerpoint/2010/main" val="655442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C5904-2720-4FBA-3855-679AA05BFD7A}"/>
              </a:ext>
            </a:extLst>
          </p:cNvPr>
          <p:cNvSpPr>
            <a:spLocks noGrp="1"/>
          </p:cNvSpPr>
          <p:nvPr>
            <p:ph type="title"/>
          </p:nvPr>
        </p:nvSpPr>
        <p:spPr/>
        <p:txBody>
          <a:bodyPr/>
          <a:lstStyle/>
          <a:p>
            <a:r>
              <a:rPr lang="en-GB" dirty="0"/>
              <a:t>R squared</a:t>
            </a:r>
          </a:p>
        </p:txBody>
      </p:sp>
      <p:sp>
        <p:nvSpPr>
          <p:cNvPr id="3" name="Content Placeholder 2">
            <a:extLst>
              <a:ext uri="{FF2B5EF4-FFF2-40B4-BE49-F238E27FC236}">
                <a16:creationId xmlns:a16="http://schemas.microsoft.com/office/drawing/2014/main" id="{EAC75CD4-8885-4EC1-0F06-1D02CB21655D}"/>
              </a:ext>
            </a:extLst>
          </p:cNvPr>
          <p:cNvSpPr>
            <a:spLocks noGrp="1"/>
          </p:cNvSpPr>
          <p:nvPr>
            <p:ph idx="1"/>
          </p:nvPr>
        </p:nvSpPr>
        <p:spPr/>
        <p:txBody>
          <a:bodyPr/>
          <a:lstStyle/>
          <a:p>
            <a:r>
              <a:rPr lang="en-GB" dirty="0">
                <a:solidFill>
                  <a:schemeClr val="bg1"/>
                </a:solidFill>
              </a:rPr>
              <a:t>R squared ranges from 0 to 1.</a:t>
            </a:r>
          </a:p>
          <a:p>
            <a:pPr marL="0" indent="0">
              <a:buNone/>
            </a:pPr>
            <a:endParaRPr lang="en-GB" dirty="0">
              <a:solidFill>
                <a:schemeClr val="bg1"/>
              </a:solidFill>
            </a:endParaRPr>
          </a:p>
          <a:p>
            <a:r>
              <a:rPr lang="en-GB" dirty="0">
                <a:solidFill>
                  <a:schemeClr val="bg1"/>
                </a:solidFill>
              </a:rPr>
              <a:t>If R squared = 1: Our model perfectly predicts the data. Every observed value matches the model's prediction.</a:t>
            </a:r>
          </a:p>
          <a:p>
            <a:pPr marL="0" indent="0">
              <a:buNone/>
            </a:pPr>
            <a:endParaRPr lang="en-GB" dirty="0">
              <a:solidFill>
                <a:schemeClr val="bg1"/>
              </a:solidFill>
            </a:endParaRPr>
          </a:p>
          <a:p>
            <a:r>
              <a:rPr lang="en-GB" dirty="0">
                <a:solidFill>
                  <a:schemeClr val="bg1"/>
                </a:solidFill>
              </a:rPr>
              <a:t>If R squared = 0: Our model is no better than simply predicting the mean for every data point.</a:t>
            </a:r>
          </a:p>
          <a:p>
            <a:endParaRPr lang="en-GB" dirty="0"/>
          </a:p>
          <a:p>
            <a:endParaRPr lang="en-GB" dirty="0"/>
          </a:p>
        </p:txBody>
      </p:sp>
      <p:sp>
        <p:nvSpPr>
          <p:cNvPr id="4" name="Slide Number Placeholder 3">
            <a:extLst>
              <a:ext uri="{FF2B5EF4-FFF2-40B4-BE49-F238E27FC236}">
                <a16:creationId xmlns:a16="http://schemas.microsoft.com/office/drawing/2014/main" id="{24586A78-7B8C-5526-9D84-EA03035B1566}"/>
              </a:ext>
            </a:extLst>
          </p:cNvPr>
          <p:cNvSpPr>
            <a:spLocks noGrp="1"/>
          </p:cNvSpPr>
          <p:nvPr>
            <p:ph type="sldNum" sz="quarter" idx="12"/>
          </p:nvPr>
        </p:nvSpPr>
        <p:spPr/>
        <p:txBody>
          <a:bodyPr/>
          <a:lstStyle/>
          <a:p>
            <a:fld id="{F74D7E6C-9B20-4593-B18C-8D2C7BEEFCA2}" type="slidenum">
              <a:rPr lang="en-GB" smtClean="0"/>
              <a:t>35</a:t>
            </a:fld>
            <a:endParaRPr lang="en-GB"/>
          </a:p>
        </p:txBody>
      </p:sp>
    </p:spTree>
    <p:extLst>
      <p:ext uri="{BB962C8B-B14F-4D97-AF65-F5344CB8AC3E}">
        <p14:creationId xmlns:p14="http://schemas.microsoft.com/office/powerpoint/2010/main" val="29059259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69154-0EC1-7CEC-F1CE-D14904C00D36}"/>
              </a:ext>
            </a:extLst>
          </p:cNvPr>
          <p:cNvSpPr>
            <a:spLocks noGrp="1"/>
          </p:cNvSpPr>
          <p:nvPr>
            <p:ph type="title"/>
          </p:nvPr>
        </p:nvSpPr>
        <p:spPr/>
        <p:txBody>
          <a:bodyPr anchor="ctr">
            <a:normAutofit/>
          </a:bodyPr>
          <a:lstStyle/>
          <a:p>
            <a:r>
              <a:rPr lang="en-GB" dirty="0"/>
              <a:t>Negative R squared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50E5EF-7CBF-158F-BBDC-49ADDB9612B6}"/>
                  </a:ext>
                </a:extLst>
              </p:cNvPr>
              <p:cNvSpPr>
                <a:spLocks noGrp="1"/>
              </p:cNvSpPr>
              <p:nvPr>
                <p:ph sz="half" idx="1"/>
              </p:nvPr>
            </p:nvSpPr>
            <p:spPr/>
            <p:txBody>
              <a:bodyPr>
                <a:normAutofit fontScale="92500" lnSpcReduction="20000"/>
              </a:bodyPr>
              <a:lstStyle/>
              <a:p>
                <a:r>
                  <a:rPr lang="en-GB" dirty="0"/>
                  <a:t>Basic example:</a:t>
                </a:r>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𝑦</m:t>
                      </m:r>
                      <m:r>
                        <a:rPr lang="en-GB" i="1" dirty="0" smtClean="0">
                          <a:latin typeface="Cambria Math" panose="02040503050406030204" pitchFamily="18" charset="0"/>
                        </a:rPr>
                        <m:t>=[10,12,14]</m:t>
                      </m:r>
                    </m:oMath>
                  </m:oMathPara>
                </a14:m>
                <a:endParaRPr lang="en-GB" dirty="0"/>
              </a:p>
              <a:p>
                <a:pPr marL="0" indent="0">
                  <a:buNone/>
                </a:pPr>
                <a:r>
                  <a:rPr lang="en-GB" dirty="0"/>
                  <a:t>The mean of </a:t>
                </a:r>
                <a14:m>
                  <m:oMath xmlns:m="http://schemas.openxmlformats.org/officeDocument/2006/math">
                    <m:r>
                      <a:rPr lang="en-GB" i="1" dirty="0" smtClean="0">
                        <a:latin typeface="Cambria Math" panose="02040503050406030204" pitchFamily="18" charset="0"/>
                      </a:rPr>
                      <m:t>𝑦</m:t>
                    </m:r>
                  </m:oMath>
                </a14:m>
                <a:r>
                  <a:rPr lang="en-GB" dirty="0"/>
                  <a:t> is 12.</a:t>
                </a:r>
              </a:p>
              <a:p>
                <a:pPr marL="0" indent="0">
                  <a:buNone/>
                </a:pPr>
                <a:endParaRPr lang="en-GB" dirty="0"/>
              </a:p>
              <a:p>
                <a:pPr marL="0" indent="0">
                  <a:buNone/>
                </a:pPr>
                <a:r>
                  <a:rPr lang="en-GB" dirty="0"/>
                  <a:t>Baseline (mean) predictions:</a:t>
                </a:r>
              </a:p>
              <a:p>
                <a:pPr marL="0" indent="0">
                  <a:buNone/>
                </a:pPr>
                <a14:m>
                  <m:oMathPara xmlns:m="http://schemas.openxmlformats.org/officeDocument/2006/math">
                    <m:oMathParaPr>
                      <m:jc m:val="centerGroup"/>
                    </m:oMathParaPr>
                    <m:oMath xmlns:m="http://schemas.openxmlformats.org/officeDocument/2006/math">
                      <m:acc>
                        <m:accPr>
                          <m:chr m:val="̂"/>
                          <m:ctrlPr>
                            <a:rPr lang="en-GB" i="1">
                              <a:latin typeface="Cambria Math" panose="02040503050406030204" pitchFamily="18" charset="0"/>
                            </a:rPr>
                          </m:ctrlPr>
                        </m:accPr>
                        <m:e>
                          <m:r>
                            <a:rPr lang="en-GB" i="1">
                              <a:latin typeface="Cambria Math" panose="02040503050406030204" pitchFamily="18" charset="0"/>
                            </a:rPr>
                            <m:t>𝑦</m:t>
                          </m:r>
                        </m:e>
                      </m:acc>
                      <m:r>
                        <a:rPr lang="en-GB" b="0" i="0" smtClean="0">
                          <a:latin typeface="Cambria Math" panose="02040503050406030204" pitchFamily="18" charset="0"/>
                        </a:rPr>
                        <m:t>= [12,12,12]</m:t>
                      </m:r>
                    </m:oMath>
                  </m:oMathPara>
                </a14:m>
                <a:endParaRPr lang="en-GB" dirty="0"/>
              </a:p>
              <a:p>
                <a:pPr marL="0" indent="0">
                  <a:buNone/>
                </a:pPr>
                <a:r>
                  <a:rPr lang="en-GB" dirty="0"/>
                  <a:t>Bad model predictions:</a:t>
                </a:r>
              </a:p>
              <a:p>
                <a:pPr marL="0" indent="0">
                  <a:buNone/>
                </a:pPr>
                <a14:m>
                  <m:oMathPara xmlns:m="http://schemas.openxmlformats.org/officeDocument/2006/math">
                    <m:oMathParaPr>
                      <m:jc m:val="centerGroup"/>
                    </m:oMathParaPr>
                    <m:oMath xmlns:m="http://schemas.openxmlformats.org/officeDocument/2006/math">
                      <m:acc>
                        <m:accPr>
                          <m:chr m:val="̂"/>
                          <m:ctrlPr>
                            <a:rPr lang="en-GB" i="1" smtClean="0">
                              <a:latin typeface="Cambria Math" panose="02040503050406030204" pitchFamily="18" charset="0"/>
                            </a:rPr>
                          </m:ctrlPr>
                        </m:accPr>
                        <m:e>
                          <m:r>
                            <a:rPr lang="en-GB" b="0" i="1" smtClean="0">
                              <a:latin typeface="Cambria Math" panose="02040503050406030204" pitchFamily="18" charset="0"/>
                            </a:rPr>
                            <m:t>𝑦</m:t>
                          </m:r>
                        </m:e>
                      </m:acc>
                      <m:r>
                        <a:rPr lang="en-GB" b="0" i="1" smtClean="0">
                          <a:latin typeface="Cambria Math" panose="02040503050406030204" pitchFamily="18" charset="0"/>
                        </a:rPr>
                        <m:t>=[2,4,6]</m:t>
                      </m:r>
                    </m:oMath>
                  </m:oMathPara>
                </a14:m>
                <a:endParaRPr lang="en-GB" dirty="0"/>
              </a:p>
              <a:p>
                <a:pPr marL="0" indent="0">
                  <a:buNone/>
                </a:pPr>
                <a:endParaRPr lang="en-GB" dirty="0"/>
              </a:p>
              <a:p>
                <a:pPr marL="0" indent="0">
                  <a:buNone/>
                </a:pPr>
                <a:r>
                  <a:rPr lang="en-GB" dirty="0"/>
                  <a:t>The bad model’s errors are much larger than the baseline’s, so its residual sum of squares is bigger than the total sum of squares, which makes R squared &lt; 0.</a:t>
                </a:r>
              </a:p>
              <a:p>
                <a:pPr marL="0" indent="0">
                  <a:buNone/>
                </a:pPr>
                <a:endParaRPr lang="en-GB" dirty="0"/>
              </a:p>
            </p:txBody>
          </p:sp>
        </mc:Choice>
        <mc:Fallback xmlns="">
          <p:sp>
            <p:nvSpPr>
              <p:cNvPr id="3" name="Content Placeholder 2">
                <a:extLst>
                  <a:ext uri="{FF2B5EF4-FFF2-40B4-BE49-F238E27FC236}">
                    <a16:creationId xmlns:a16="http://schemas.microsoft.com/office/drawing/2014/main" id="{8850E5EF-7CBF-158F-BBDC-49ADDB9612B6}"/>
                  </a:ext>
                </a:extLst>
              </p:cNvPr>
              <p:cNvSpPr>
                <a:spLocks noGrp="1" noRot="1" noChangeAspect="1" noMove="1" noResize="1" noEditPoints="1" noAdjustHandles="1" noChangeArrowheads="1" noChangeShapeType="1" noTextEdit="1"/>
              </p:cNvSpPr>
              <p:nvPr>
                <p:ph sz="half" idx="1"/>
              </p:nvPr>
            </p:nvSpPr>
            <p:spPr>
              <a:blipFill>
                <a:blip r:embed="rId3"/>
                <a:stretch>
                  <a:fillRect l="-1976" t="-3133" r="-1207"/>
                </a:stretch>
              </a:blipFill>
            </p:spPr>
            <p:txBody>
              <a:bodyPr/>
              <a:lstStyle/>
              <a:p>
                <a:r>
                  <a:rPr lang="en-GB">
                    <a:noFill/>
                  </a:rPr>
                  <a:t> </a:t>
                </a:r>
              </a:p>
            </p:txBody>
          </p:sp>
        </mc:Fallback>
      </mc:AlternateContent>
      <p:sp>
        <p:nvSpPr>
          <p:cNvPr id="5" name="Content Placeholder 4">
            <a:extLst>
              <a:ext uri="{FF2B5EF4-FFF2-40B4-BE49-F238E27FC236}">
                <a16:creationId xmlns:a16="http://schemas.microsoft.com/office/drawing/2014/main" id="{CDF763E3-3E0D-2783-2C2F-37DCB818E6C4}"/>
              </a:ext>
            </a:extLst>
          </p:cNvPr>
          <p:cNvSpPr>
            <a:spLocks noGrp="1"/>
          </p:cNvSpPr>
          <p:nvPr>
            <p:ph sz="half" idx="2"/>
          </p:nvPr>
        </p:nvSpPr>
        <p:spPr/>
        <p:txBody>
          <a:bodyPr>
            <a:normAutofit fontScale="92500" lnSpcReduction="20000"/>
          </a:bodyPr>
          <a:lstStyle/>
          <a:p>
            <a:endParaRPr lang="en-GB"/>
          </a:p>
        </p:txBody>
      </p:sp>
      <p:sp>
        <p:nvSpPr>
          <p:cNvPr id="4" name="Slide Number Placeholder 3">
            <a:extLst>
              <a:ext uri="{FF2B5EF4-FFF2-40B4-BE49-F238E27FC236}">
                <a16:creationId xmlns:a16="http://schemas.microsoft.com/office/drawing/2014/main" id="{4E493A09-F6F7-D65D-08C9-F6B7BB63CCAA}"/>
              </a:ext>
            </a:extLst>
          </p:cNvPr>
          <p:cNvSpPr>
            <a:spLocks noGrp="1"/>
          </p:cNvSpPr>
          <p:nvPr>
            <p:ph type="sldNum" sz="quarter" idx="12"/>
          </p:nvPr>
        </p:nvSpPr>
        <p:spPr/>
        <p:txBody>
          <a:bodyPr anchor="ctr">
            <a:normAutofit/>
          </a:bodyPr>
          <a:lstStyle/>
          <a:p>
            <a:pPr>
              <a:spcAft>
                <a:spcPts val="600"/>
              </a:spcAft>
            </a:pPr>
            <a:fld id="{F74D7E6C-9B20-4593-B18C-8D2C7BEEFCA2}" type="slidenum">
              <a:rPr lang="en-GB" smtClean="0"/>
              <a:pPr>
                <a:spcAft>
                  <a:spcPts val="600"/>
                </a:spcAft>
              </a:pPr>
              <a:t>36</a:t>
            </a:fld>
            <a:endParaRPr lang="en-GB"/>
          </a:p>
        </p:txBody>
      </p:sp>
      <p:pic>
        <p:nvPicPr>
          <p:cNvPr id="6" name="Picture 5" descr="A graph with a line and a line&#10;&#10;AI-generated content may be incorrect.">
            <a:extLst>
              <a:ext uri="{FF2B5EF4-FFF2-40B4-BE49-F238E27FC236}">
                <a16:creationId xmlns:a16="http://schemas.microsoft.com/office/drawing/2014/main" id="{47D8AB0E-35D3-52D7-00AB-4ECF32B02D8B}"/>
              </a:ext>
            </a:extLst>
          </p:cNvPr>
          <p:cNvPicPr>
            <a:picLocks noChangeAspect="1"/>
          </p:cNvPicPr>
          <p:nvPr/>
        </p:nvPicPr>
        <p:blipFill>
          <a:blip r:embed="rId4"/>
          <a:stretch>
            <a:fillRect/>
          </a:stretch>
        </p:blipFill>
        <p:spPr>
          <a:xfrm>
            <a:off x="5876795" y="1470921"/>
            <a:ext cx="6429636" cy="4870450"/>
          </a:xfrm>
          <a:prstGeom prst="rect">
            <a:avLst/>
          </a:prstGeom>
          <a:noFill/>
        </p:spPr>
      </p:pic>
      <p:sp>
        <p:nvSpPr>
          <p:cNvPr id="8" name="TextBox 7">
            <a:extLst>
              <a:ext uri="{FF2B5EF4-FFF2-40B4-BE49-F238E27FC236}">
                <a16:creationId xmlns:a16="http://schemas.microsoft.com/office/drawing/2014/main" id="{086D8A11-08D9-9CFC-C959-A53213CFF799}"/>
              </a:ext>
            </a:extLst>
          </p:cNvPr>
          <p:cNvSpPr txBox="1"/>
          <p:nvPr/>
        </p:nvSpPr>
        <p:spPr>
          <a:xfrm>
            <a:off x="4173695" y="6378469"/>
            <a:ext cx="8873811" cy="369332"/>
          </a:xfrm>
          <a:prstGeom prst="rect">
            <a:avLst/>
          </a:prstGeom>
          <a:noFill/>
        </p:spPr>
        <p:txBody>
          <a:bodyPr wrap="square">
            <a:spAutoFit/>
          </a:bodyPr>
          <a:lstStyle/>
          <a:p>
            <a:r>
              <a:rPr lang="en-GB" dirty="0">
                <a:hlinkClick r:id="rId5"/>
              </a:rPr>
              <a:t>https://stats.stackexchange.com/questions/12900/when-is-r-squared-negative</a:t>
            </a:r>
            <a:r>
              <a:rPr lang="en-GB" dirty="0"/>
              <a:t> </a:t>
            </a:r>
          </a:p>
        </p:txBody>
      </p:sp>
    </p:spTree>
    <p:extLst>
      <p:ext uri="{BB962C8B-B14F-4D97-AF65-F5344CB8AC3E}">
        <p14:creationId xmlns:p14="http://schemas.microsoft.com/office/powerpoint/2010/main" val="35402422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Model evaluation</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37</a:t>
            </a:fld>
            <a:endParaRPr lang="en-GB"/>
          </a:p>
        </p:txBody>
      </p:sp>
      <p:sp>
        <p:nvSpPr>
          <p:cNvPr id="9" name="TextBox 8">
            <a:extLst>
              <a:ext uri="{FF2B5EF4-FFF2-40B4-BE49-F238E27FC236}">
                <a16:creationId xmlns:a16="http://schemas.microsoft.com/office/drawing/2014/main" id="{BC780111-FDC2-8A93-4FC5-ECA87F803B22}"/>
              </a:ext>
            </a:extLst>
          </p:cNvPr>
          <p:cNvSpPr txBox="1"/>
          <p:nvPr/>
        </p:nvSpPr>
        <p:spPr>
          <a:xfrm>
            <a:off x="184150" y="1418623"/>
            <a:ext cx="7297808" cy="523220"/>
          </a:xfrm>
          <a:prstGeom prst="rect">
            <a:avLst/>
          </a:prstGeom>
          <a:noFill/>
        </p:spPr>
        <p:txBody>
          <a:bodyPr wrap="square" rtlCol="0">
            <a:spAutoFit/>
          </a:bodyPr>
          <a:lstStyle/>
          <a:p>
            <a:r>
              <a:rPr lang="en-GB" sz="2800" dirty="0">
                <a:solidFill>
                  <a:schemeClr val="accent1"/>
                </a:solidFill>
              </a:rPr>
              <a:t>The errors</a:t>
            </a:r>
          </a:p>
        </p:txBody>
      </p:sp>
      <p:sp>
        <p:nvSpPr>
          <p:cNvPr id="10" name="TextBox 9">
            <a:extLst>
              <a:ext uri="{FF2B5EF4-FFF2-40B4-BE49-F238E27FC236}">
                <a16:creationId xmlns:a16="http://schemas.microsoft.com/office/drawing/2014/main" id="{C5108B20-D60B-0A3A-18D2-7CAAED16F56F}"/>
              </a:ext>
            </a:extLst>
          </p:cNvPr>
          <p:cNvSpPr txBox="1"/>
          <p:nvPr/>
        </p:nvSpPr>
        <p:spPr>
          <a:xfrm>
            <a:off x="184150" y="2081543"/>
            <a:ext cx="11823700" cy="3416320"/>
          </a:xfrm>
          <a:prstGeom prst="rect">
            <a:avLst/>
          </a:prstGeom>
          <a:noFill/>
        </p:spPr>
        <p:txBody>
          <a:bodyPr wrap="square" rtlCol="0">
            <a:spAutoFit/>
          </a:bodyPr>
          <a:lstStyle/>
          <a:p>
            <a:r>
              <a:rPr lang="en-GB" sz="2400" b="0" i="0" dirty="0">
                <a:solidFill>
                  <a:schemeClr val="bg1">
                    <a:lumMod val="95000"/>
                  </a:schemeClr>
                </a:solidFill>
                <a:effectLst/>
                <a:latin typeface="Helvetica Neue"/>
              </a:rPr>
              <a:t>Besides the score(coefficient of determination) we have another metric based on the model errors. </a:t>
            </a:r>
          </a:p>
          <a:p>
            <a:endParaRPr lang="en-GB" sz="2400" b="0" i="0" dirty="0">
              <a:solidFill>
                <a:schemeClr val="bg1">
                  <a:lumMod val="95000"/>
                </a:schemeClr>
              </a:solidFill>
              <a:effectLst/>
              <a:latin typeface="Helvetica Neue"/>
            </a:endParaRPr>
          </a:p>
          <a:p>
            <a:r>
              <a:rPr lang="en-GB" sz="2400" b="0" i="0" dirty="0">
                <a:solidFill>
                  <a:schemeClr val="bg1">
                    <a:lumMod val="95000"/>
                  </a:schemeClr>
                </a:solidFill>
                <a:effectLst/>
                <a:latin typeface="Helvetica Neue"/>
              </a:rPr>
              <a:t>The </a:t>
            </a:r>
            <a:r>
              <a:rPr lang="en-GB" sz="2400" b="1" i="0" dirty="0">
                <a:solidFill>
                  <a:srgbClr val="FCCA8E"/>
                </a:solidFill>
                <a:effectLst/>
                <a:latin typeface="Helvetica Neue"/>
              </a:rPr>
              <a:t>error metric</a:t>
            </a:r>
            <a:r>
              <a:rPr lang="en-GB" sz="2400" b="0" i="0" dirty="0">
                <a:solidFill>
                  <a:srgbClr val="FCCA8E"/>
                </a:solidFill>
                <a:effectLst/>
                <a:latin typeface="Helvetica Neue"/>
              </a:rPr>
              <a:t> </a:t>
            </a:r>
            <a:r>
              <a:rPr lang="en-GB" sz="2400" b="0" i="0" dirty="0">
                <a:solidFill>
                  <a:schemeClr val="bg1">
                    <a:lumMod val="95000"/>
                  </a:schemeClr>
                </a:solidFill>
                <a:effectLst/>
                <a:latin typeface="Helvetica Neue"/>
              </a:rPr>
              <a:t>quantifies how inaccurate our predictions were compared to the actual values. </a:t>
            </a:r>
          </a:p>
          <a:p>
            <a:endParaRPr lang="en-GB" sz="2400" dirty="0">
              <a:solidFill>
                <a:schemeClr val="bg1">
                  <a:lumMod val="95000"/>
                </a:schemeClr>
              </a:solidFill>
              <a:latin typeface="Helvetica Neue"/>
            </a:endParaRPr>
          </a:p>
          <a:p>
            <a:r>
              <a:rPr lang="en-GB" sz="2400" b="0" i="0" dirty="0">
                <a:solidFill>
                  <a:schemeClr val="bg1">
                    <a:lumMod val="95000"/>
                  </a:schemeClr>
                </a:solidFill>
                <a:effectLst/>
                <a:latin typeface="Helvetica Neue"/>
              </a:rPr>
              <a:t>We can compute it by calculating the difference between each predicted and actual value and then averaging these differences.</a:t>
            </a:r>
            <a:endParaRPr lang="en-GB" sz="2400" dirty="0">
              <a:solidFill>
                <a:schemeClr val="bg1">
                  <a:lumMod val="95000"/>
                </a:schemeClr>
              </a:solidFill>
            </a:endParaRPr>
          </a:p>
          <a:p>
            <a:endParaRPr lang="en-GB" sz="2400" dirty="0">
              <a:solidFill>
                <a:schemeClr val="bg1">
                  <a:lumMod val="95000"/>
                </a:schemeClr>
              </a:solidFill>
            </a:endParaRPr>
          </a:p>
        </p:txBody>
      </p:sp>
    </p:spTree>
    <p:extLst>
      <p:ext uri="{BB962C8B-B14F-4D97-AF65-F5344CB8AC3E}">
        <p14:creationId xmlns:p14="http://schemas.microsoft.com/office/powerpoint/2010/main" val="12986483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Model evaluation</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38</a:t>
            </a:fld>
            <a:endParaRPr lang="en-GB"/>
          </a:p>
        </p:txBody>
      </p:sp>
      <p:sp>
        <p:nvSpPr>
          <p:cNvPr id="3" name="TextBox 2">
            <a:extLst>
              <a:ext uri="{FF2B5EF4-FFF2-40B4-BE49-F238E27FC236}">
                <a16:creationId xmlns:a16="http://schemas.microsoft.com/office/drawing/2014/main" id="{1CB054CC-37CA-6061-5CCF-B79DAE49C02A}"/>
              </a:ext>
            </a:extLst>
          </p:cNvPr>
          <p:cNvSpPr txBox="1"/>
          <p:nvPr/>
        </p:nvSpPr>
        <p:spPr>
          <a:xfrm>
            <a:off x="253279" y="1298053"/>
            <a:ext cx="4959349" cy="5262979"/>
          </a:xfrm>
          <a:prstGeom prst="rect">
            <a:avLst/>
          </a:prstGeom>
          <a:noFill/>
        </p:spPr>
        <p:txBody>
          <a:bodyPr wrap="square" rtlCol="0">
            <a:spAutoFit/>
          </a:bodyPr>
          <a:lstStyle/>
          <a:p>
            <a:pPr marL="342900" indent="-342900">
              <a:buFont typeface="Arial" panose="020B0604020202020204" pitchFamily="34" charset="0"/>
              <a:buChar char="•"/>
            </a:pPr>
            <a:r>
              <a:rPr lang="en-GB" sz="2400" dirty="0">
                <a:solidFill>
                  <a:schemeClr val="accent1"/>
                </a:solidFill>
              </a:rPr>
              <a:t>MAE</a:t>
            </a:r>
            <a:r>
              <a:rPr lang="en-GB" sz="2400" dirty="0">
                <a:solidFill>
                  <a:schemeClr val="bg1">
                    <a:lumMod val="95000"/>
                  </a:schemeClr>
                </a:solidFill>
              </a:rPr>
              <a:t> – the mean of the absolute errors</a:t>
            </a:r>
          </a:p>
          <a:p>
            <a:endParaRPr lang="en-GB" sz="2400" dirty="0">
              <a:solidFill>
                <a:schemeClr val="bg1">
                  <a:lumMod val="95000"/>
                </a:schemeClr>
              </a:solidFill>
            </a:endParaRPr>
          </a:p>
          <a:p>
            <a:endParaRPr lang="en-GB" sz="2400" dirty="0">
              <a:solidFill>
                <a:schemeClr val="bg1">
                  <a:lumMod val="95000"/>
                </a:schemeClr>
              </a:solidFill>
            </a:endParaRPr>
          </a:p>
          <a:p>
            <a:pPr marL="342900" indent="-342900">
              <a:buFont typeface="Arial" panose="020B0604020202020204" pitchFamily="34" charset="0"/>
              <a:buChar char="•"/>
            </a:pPr>
            <a:r>
              <a:rPr lang="en-GB" sz="2400" dirty="0">
                <a:solidFill>
                  <a:schemeClr val="accent1"/>
                </a:solidFill>
              </a:rPr>
              <a:t>MSE </a:t>
            </a:r>
            <a:r>
              <a:rPr lang="en-GB" sz="2400" dirty="0">
                <a:solidFill>
                  <a:schemeClr val="bg1">
                    <a:lumMod val="95000"/>
                  </a:schemeClr>
                </a:solidFill>
              </a:rPr>
              <a:t>– the mean of squared errors</a:t>
            </a:r>
          </a:p>
          <a:p>
            <a:r>
              <a:rPr lang="en-GB" sz="2400" dirty="0">
                <a:solidFill>
                  <a:schemeClr val="bg1">
                    <a:lumMod val="95000"/>
                  </a:schemeClr>
                </a:solidFill>
              </a:rPr>
              <a:t>A low error metric means that the gap between the predicted list revenue and actual revenue values is low while a high error metric means the gap is high.</a:t>
            </a:r>
          </a:p>
          <a:p>
            <a:pPr lvl="8"/>
            <a:endParaRPr lang="en-GB" sz="2400" dirty="0">
              <a:solidFill>
                <a:schemeClr val="bg1">
                  <a:lumMod val="95000"/>
                </a:schemeClr>
              </a:solidFill>
            </a:endParaRPr>
          </a:p>
          <a:p>
            <a:pPr lvl="8"/>
            <a:endParaRPr lang="en-GB" sz="2400" dirty="0">
              <a:solidFill>
                <a:schemeClr val="bg1">
                  <a:lumMod val="95000"/>
                </a:schemeClr>
              </a:solidFill>
            </a:endParaRPr>
          </a:p>
          <a:p>
            <a:pPr marL="342900" indent="-342900">
              <a:buFont typeface="Arial" panose="020B0604020202020204" pitchFamily="34" charset="0"/>
              <a:buChar char="•"/>
            </a:pPr>
            <a:r>
              <a:rPr lang="en-GB" sz="2400" dirty="0">
                <a:solidFill>
                  <a:schemeClr val="accent1"/>
                </a:solidFill>
              </a:rPr>
              <a:t>RMSE</a:t>
            </a:r>
            <a:r>
              <a:rPr lang="en-GB" sz="2400" dirty="0">
                <a:solidFill>
                  <a:schemeClr val="bg1">
                    <a:lumMod val="95000"/>
                  </a:schemeClr>
                </a:solidFill>
              </a:rPr>
              <a:t> - </a:t>
            </a:r>
            <a:r>
              <a:rPr lang="en-GB" sz="2400" i="0" dirty="0">
                <a:solidFill>
                  <a:schemeClr val="bg1">
                    <a:lumMod val="95000"/>
                  </a:schemeClr>
                </a:solidFill>
                <a:effectLst/>
                <a:latin typeface="Helvetica Neue"/>
              </a:rPr>
              <a:t>the square root of the mean squared errors</a:t>
            </a:r>
            <a:r>
              <a:rPr lang="en-GB" sz="2400" dirty="0">
                <a:solidFill>
                  <a:schemeClr val="bg1">
                    <a:lumMod val="95000"/>
                  </a:schemeClr>
                </a:solidFill>
              </a:rPr>
              <a:t> </a:t>
            </a:r>
          </a:p>
        </p:txBody>
      </p:sp>
      <p:sp>
        <p:nvSpPr>
          <p:cNvPr id="5" name="TextBox 4">
            <a:extLst>
              <a:ext uri="{FF2B5EF4-FFF2-40B4-BE49-F238E27FC236}">
                <a16:creationId xmlns:a16="http://schemas.microsoft.com/office/drawing/2014/main" id="{5AE0AEDE-FB37-C981-3B4A-F679AFCAD14D}"/>
              </a:ext>
            </a:extLst>
          </p:cNvPr>
          <p:cNvSpPr txBox="1"/>
          <p:nvPr/>
        </p:nvSpPr>
        <p:spPr>
          <a:xfrm>
            <a:off x="5283200" y="1185188"/>
            <a:ext cx="6828683" cy="707886"/>
          </a:xfrm>
          <a:prstGeom prst="rect">
            <a:avLst/>
          </a:prstGeom>
          <a:noFill/>
        </p:spPr>
        <p:txBody>
          <a:bodyPr wrap="square" rtlCol="0">
            <a:spAutoFit/>
          </a:bodyPr>
          <a:lstStyle/>
          <a:p>
            <a:r>
              <a:rPr lang="en-GB" sz="2000" dirty="0">
                <a:solidFill>
                  <a:srgbClr val="FCCA8E"/>
                </a:solidFill>
                <a:latin typeface="Cambria Math" panose="02040503050406030204" pitchFamily="18" charset="0"/>
                <a:ea typeface="Cambria Math" panose="02040503050406030204" pitchFamily="18" charset="0"/>
              </a:rPr>
              <a:t>from </a:t>
            </a:r>
            <a:r>
              <a:rPr lang="en-GB" sz="2000" dirty="0" err="1">
                <a:solidFill>
                  <a:srgbClr val="FCCA8E"/>
                </a:solidFill>
                <a:latin typeface="Cambria Math" panose="02040503050406030204" pitchFamily="18" charset="0"/>
                <a:ea typeface="Cambria Math" panose="02040503050406030204" pitchFamily="18" charset="0"/>
              </a:rPr>
              <a:t>sklearn.metrics</a:t>
            </a:r>
            <a:r>
              <a:rPr lang="en-GB" sz="2000" dirty="0">
                <a:solidFill>
                  <a:srgbClr val="FCCA8E"/>
                </a:solidFill>
                <a:latin typeface="Cambria Math" panose="02040503050406030204" pitchFamily="18" charset="0"/>
                <a:ea typeface="Cambria Math" panose="02040503050406030204" pitchFamily="18" charset="0"/>
              </a:rPr>
              <a:t> import </a:t>
            </a:r>
            <a:r>
              <a:rPr lang="en-GB" sz="2000" dirty="0" err="1">
                <a:solidFill>
                  <a:srgbClr val="FCCA8E"/>
                </a:solidFill>
                <a:latin typeface="Cambria Math" panose="02040503050406030204" pitchFamily="18" charset="0"/>
                <a:ea typeface="Cambria Math" panose="02040503050406030204" pitchFamily="18" charset="0"/>
              </a:rPr>
              <a:t>mean_absolute_error</a:t>
            </a:r>
            <a:endParaRPr lang="en-GB" sz="2000" dirty="0">
              <a:solidFill>
                <a:srgbClr val="FCCA8E"/>
              </a:solidFill>
              <a:latin typeface="Cambria Math" panose="02040503050406030204" pitchFamily="18" charset="0"/>
              <a:ea typeface="Cambria Math" panose="02040503050406030204" pitchFamily="18" charset="0"/>
            </a:endParaRPr>
          </a:p>
          <a:p>
            <a:r>
              <a:rPr lang="en-GB" sz="2000" dirty="0" err="1">
                <a:solidFill>
                  <a:srgbClr val="FCCA8E"/>
                </a:solidFill>
                <a:latin typeface="Cambria Math" panose="02040503050406030204" pitchFamily="18" charset="0"/>
                <a:ea typeface="Cambria Math" panose="02040503050406030204" pitchFamily="18" charset="0"/>
              </a:rPr>
              <a:t>mean_absolute_error</a:t>
            </a:r>
            <a:r>
              <a:rPr lang="en-GB" sz="2000" dirty="0">
                <a:solidFill>
                  <a:srgbClr val="FCCA8E"/>
                </a:solidFill>
                <a:latin typeface="Cambria Math" panose="02040503050406030204" pitchFamily="18" charset="0"/>
                <a:ea typeface="Cambria Math" panose="02040503050406030204" pitchFamily="18" charset="0"/>
              </a:rPr>
              <a:t>(</a:t>
            </a:r>
            <a:r>
              <a:rPr lang="en-GB" sz="2000" dirty="0" err="1">
                <a:solidFill>
                  <a:srgbClr val="FCCA8E"/>
                </a:solidFill>
                <a:latin typeface="Cambria Math" panose="02040503050406030204" pitchFamily="18" charset="0"/>
                <a:ea typeface="Cambria Math" panose="02040503050406030204" pitchFamily="18" charset="0"/>
              </a:rPr>
              <a:t>y_test</a:t>
            </a:r>
            <a:r>
              <a:rPr lang="en-GB" sz="2000" dirty="0">
                <a:solidFill>
                  <a:srgbClr val="FCCA8E"/>
                </a:solidFill>
                <a:latin typeface="Cambria Math" panose="02040503050406030204" pitchFamily="18" charset="0"/>
                <a:ea typeface="Cambria Math" panose="02040503050406030204" pitchFamily="18" charset="0"/>
              </a:rPr>
              <a:t>, </a:t>
            </a:r>
            <a:r>
              <a:rPr lang="en-GB" sz="2000" dirty="0" err="1">
                <a:solidFill>
                  <a:srgbClr val="FCCA8E"/>
                </a:solidFill>
                <a:latin typeface="Cambria Math" panose="02040503050406030204" pitchFamily="18" charset="0"/>
                <a:ea typeface="Cambria Math" panose="02040503050406030204" pitchFamily="18" charset="0"/>
              </a:rPr>
              <a:t>y_predicted</a:t>
            </a:r>
            <a:r>
              <a:rPr lang="en-GB" sz="2000" dirty="0">
                <a:solidFill>
                  <a:srgbClr val="FCCA8E"/>
                </a:solidFill>
                <a:latin typeface="Cambria Math" panose="02040503050406030204" pitchFamily="18" charset="0"/>
                <a:ea typeface="Cambria Math" panose="02040503050406030204" pitchFamily="18" charset="0"/>
              </a:rPr>
              <a:t>)</a:t>
            </a:r>
          </a:p>
        </p:txBody>
      </p:sp>
      <p:sp>
        <p:nvSpPr>
          <p:cNvPr id="6" name="TextBox 5">
            <a:extLst>
              <a:ext uri="{FF2B5EF4-FFF2-40B4-BE49-F238E27FC236}">
                <a16:creationId xmlns:a16="http://schemas.microsoft.com/office/drawing/2014/main" id="{DD1A1B94-8044-19B6-38D5-052692DF42D9}"/>
              </a:ext>
            </a:extLst>
          </p:cNvPr>
          <p:cNvSpPr txBox="1"/>
          <p:nvPr/>
        </p:nvSpPr>
        <p:spPr>
          <a:xfrm>
            <a:off x="5212628" y="3164681"/>
            <a:ext cx="6899255" cy="707886"/>
          </a:xfrm>
          <a:prstGeom prst="rect">
            <a:avLst/>
          </a:prstGeom>
          <a:noFill/>
        </p:spPr>
        <p:txBody>
          <a:bodyPr wrap="square" rtlCol="0">
            <a:spAutoFit/>
          </a:bodyPr>
          <a:lstStyle/>
          <a:p>
            <a:r>
              <a:rPr lang="en-GB" sz="2000" dirty="0">
                <a:solidFill>
                  <a:srgbClr val="FCCA8E"/>
                </a:solidFill>
                <a:latin typeface="Cambria Math" panose="02040503050406030204" pitchFamily="18" charset="0"/>
                <a:ea typeface="Cambria Math" panose="02040503050406030204" pitchFamily="18" charset="0"/>
              </a:rPr>
              <a:t>from </a:t>
            </a:r>
            <a:r>
              <a:rPr lang="en-GB" sz="2000" dirty="0" err="1">
                <a:solidFill>
                  <a:srgbClr val="FCCA8E"/>
                </a:solidFill>
                <a:latin typeface="Cambria Math" panose="02040503050406030204" pitchFamily="18" charset="0"/>
                <a:ea typeface="Cambria Math" panose="02040503050406030204" pitchFamily="18" charset="0"/>
              </a:rPr>
              <a:t>sklearn.metrics</a:t>
            </a:r>
            <a:r>
              <a:rPr lang="en-GB" sz="2000" dirty="0">
                <a:solidFill>
                  <a:srgbClr val="FCCA8E"/>
                </a:solidFill>
                <a:latin typeface="Cambria Math" panose="02040503050406030204" pitchFamily="18" charset="0"/>
                <a:ea typeface="Cambria Math" panose="02040503050406030204" pitchFamily="18" charset="0"/>
              </a:rPr>
              <a:t> import </a:t>
            </a:r>
            <a:r>
              <a:rPr lang="en-GB" sz="2000" dirty="0" err="1">
                <a:solidFill>
                  <a:srgbClr val="FCCA8E"/>
                </a:solidFill>
                <a:latin typeface="Cambria Math" panose="02040503050406030204" pitchFamily="18" charset="0"/>
                <a:ea typeface="Cambria Math" panose="02040503050406030204" pitchFamily="18" charset="0"/>
              </a:rPr>
              <a:t>mean_squared_error</a:t>
            </a:r>
            <a:endParaRPr lang="en-GB" sz="2000" dirty="0">
              <a:solidFill>
                <a:srgbClr val="FCCA8E"/>
              </a:solidFill>
              <a:latin typeface="Cambria Math" panose="02040503050406030204" pitchFamily="18" charset="0"/>
              <a:ea typeface="Cambria Math" panose="02040503050406030204" pitchFamily="18" charset="0"/>
            </a:endParaRPr>
          </a:p>
          <a:p>
            <a:r>
              <a:rPr lang="en-GB" sz="2000" dirty="0" err="1">
                <a:solidFill>
                  <a:srgbClr val="FCCA8E"/>
                </a:solidFill>
                <a:latin typeface="Cambria Math" panose="02040503050406030204" pitchFamily="18" charset="0"/>
                <a:ea typeface="Cambria Math" panose="02040503050406030204" pitchFamily="18" charset="0"/>
              </a:rPr>
              <a:t>mean_squared_error</a:t>
            </a:r>
            <a:r>
              <a:rPr lang="en-GB" sz="2000" dirty="0">
                <a:solidFill>
                  <a:srgbClr val="FCCA8E"/>
                </a:solidFill>
                <a:latin typeface="Cambria Math" panose="02040503050406030204" pitchFamily="18" charset="0"/>
                <a:ea typeface="Cambria Math" panose="02040503050406030204" pitchFamily="18" charset="0"/>
              </a:rPr>
              <a:t>(</a:t>
            </a:r>
            <a:r>
              <a:rPr lang="en-GB" sz="2000" dirty="0" err="1">
                <a:solidFill>
                  <a:srgbClr val="FCCA8E"/>
                </a:solidFill>
                <a:latin typeface="Cambria Math" panose="02040503050406030204" pitchFamily="18" charset="0"/>
                <a:ea typeface="Cambria Math" panose="02040503050406030204" pitchFamily="18" charset="0"/>
              </a:rPr>
              <a:t>y_test</a:t>
            </a:r>
            <a:r>
              <a:rPr lang="en-GB" sz="2000" dirty="0">
                <a:solidFill>
                  <a:srgbClr val="FCCA8E"/>
                </a:solidFill>
                <a:latin typeface="Cambria Math" panose="02040503050406030204" pitchFamily="18" charset="0"/>
                <a:ea typeface="Cambria Math" panose="02040503050406030204" pitchFamily="18" charset="0"/>
              </a:rPr>
              <a:t>, </a:t>
            </a:r>
            <a:r>
              <a:rPr lang="en-GB" sz="2000" dirty="0" err="1">
                <a:solidFill>
                  <a:srgbClr val="FCCA8E"/>
                </a:solidFill>
                <a:latin typeface="Cambria Math" panose="02040503050406030204" pitchFamily="18" charset="0"/>
                <a:ea typeface="Cambria Math" panose="02040503050406030204" pitchFamily="18" charset="0"/>
              </a:rPr>
              <a:t>y_predicted</a:t>
            </a:r>
            <a:r>
              <a:rPr lang="en-GB" sz="2000" dirty="0">
                <a:solidFill>
                  <a:srgbClr val="FCCA8E"/>
                </a:solidFill>
                <a:latin typeface="Cambria Math" panose="02040503050406030204" pitchFamily="18" charset="0"/>
                <a:ea typeface="Cambria Math" panose="02040503050406030204" pitchFamily="18" charset="0"/>
              </a:rPr>
              <a:t>)</a:t>
            </a:r>
          </a:p>
        </p:txBody>
      </p:sp>
      <p:sp>
        <p:nvSpPr>
          <p:cNvPr id="7" name="TextBox 6">
            <a:extLst>
              <a:ext uri="{FF2B5EF4-FFF2-40B4-BE49-F238E27FC236}">
                <a16:creationId xmlns:a16="http://schemas.microsoft.com/office/drawing/2014/main" id="{B0B75082-F4A6-31A2-292D-A1E51EAF136A}"/>
              </a:ext>
            </a:extLst>
          </p:cNvPr>
          <p:cNvSpPr txBox="1"/>
          <p:nvPr/>
        </p:nvSpPr>
        <p:spPr>
          <a:xfrm>
            <a:off x="5283200" y="5709503"/>
            <a:ext cx="6828683" cy="400110"/>
          </a:xfrm>
          <a:prstGeom prst="rect">
            <a:avLst/>
          </a:prstGeom>
          <a:noFill/>
        </p:spPr>
        <p:txBody>
          <a:bodyPr wrap="square" rtlCol="0">
            <a:spAutoFit/>
          </a:bodyPr>
          <a:lstStyle/>
          <a:p>
            <a:r>
              <a:rPr lang="en-GB" sz="2000" dirty="0" err="1">
                <a:solidFill>
                  <a:srgbClr val="FCCA8E"/>
                </a:solidFill>
                <a:latin typeface="Cambria Math" panose="02040503050406030204" pitchFamily="18" charset="0"/>
                <a:ea typeface="Cambria Math" panose="02040503050406030204" pitchFamily="18" charset="0"/>
              </a:rPr>
              <a:t>mean_squared_error</a:t>
            </a:r>
            <a:r>
              <a:rPr lang="en-GB" sz="2000" dirty="0">
                <a:solidFill>
                  <a:srgbClr val="FCCA8E"/>
                </a:solidFill>
                <a:latin typeface="Cambria Math" panose="02040503050406030204" pitchFamily="18" charset="0"/>
                <a:ea typeface="Cambria Math" panose="02040503050406030204" pitchFamily="18" charset="0"/>
              </a:rPr>
              <a:t>(</a:t>
            </a:r>
            <a:r>
              <a:rPr lang="en-GB" sz="2000" dirty="0" err="1">
                <a:solidFill>
                  <a:srgbClr val="FCCA8E"/>
                </a:solidFill>
                <a:latin typeface="Cambria Math" panose="02040503050406030204" pitchFamily="18" charset="0"/>
                <a:ea typeface="Cambria Math" panose="02040503050406030204" pitchFamily="18" charset="0"/>
              </a:rPr>
              <a:t>y_test</a:t>
            </a:r>
            <a:r>
              <a:rPr lang="en-GB" sz="2000" dirty="0">
                <a:solidFill>
                  <a:srgbClr val="FCCA8E"/>
                </a:solidFill>
                <a:latin typeface="Cambria Math" panose="02040503050406030204" pitchFamily="18" charset="0"/>
                <a:ea typeface="Cambria Math" panose="02040503050406030204" pitchFamily="18" charset="0"/>
              </a:rPr>
              <a:t>, </a:t>
            </a:r>
            <a:r>
              <a:rPr lang="en-GB" sz="2000" dirty="0" err="1">
                <a:solidFill>
                  <a:srgbClr val="FCCA8E"/>
                </a:solidFill>
                <a:latin typeface="Cambria Math" panose="02040503050406030204" pitchFamily="18" charset="0"/>
                <a:ea typeface="Cambria Math" panose="02040503050406030204" pitchFamily="18" charset="0"/>
              </a:rPr>
              <a:t>y_predicted</a:t>
            </a:r>
            <a:r>
              <a:rPr lang="en-GB" sz="2000" dirty="0">
                <a:solidFill>
                  <a:srgbClr val="FCCA8E"/>
                </a:solidFill>
                <a:latin typeface="Cambria Math" panose="02040503050406030204" pitchFamily="18" charset="0"/>
                <a:ea typeface="Cambria Math" panose="02040503050406030204" pitchFamily="18" charset="0"/>
              </a:rPr>
              <a:t>, squared = False)</a:t>
            </a:r>
          </a:p>
        </p:txBody>
      </p:sp>
    </p:spTree>
    <p:extLst>
      <p:ext uri="{BB962C8B-B14F-4D97-AF65-F5344CB8AC3E}">
        <p14:creationId xmlns:p14="http://schemas.microsoft.com/office/powerpoint/2010/main" val="20112253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Model evaluation</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39</a:t>
            </a:fld>
            <a:endParaRPr lang="en-GB"/>
          </a:p>
        </p:txBody>
      </p:sp>
      <p:sp>
        <p:nvSpPr>
          <p:cNvPr id="9" name="TextBox 8">
            <a:extLst>
              <a:ext uri="{FF2B5EF4-FFF2-40B4-BE49-F238E27FC236}">
                <a16:creationId xmlns:a16="http://schemas.microsoft.com/office/drawing/2014/main" id="{E0664B96-7BC0-016E-34B7-B19ACE38E763}"/>
              </a:ext>
            </a:extLst>
          </p:cNvPr>
          <p:cNvSpPr txBox="1"/>
          <p:nvPr/>
        </p:nvSpPr>
        <p:spPr>
          <a:xfrm>
            <a:off x="434974" y="1539439"/>
            <a:ext cx="10855325" cy="4401205"/>
          </a:xfrm>
          <a:prstGeom prst="rect">
            <a:avLst/>
          </a:prstGeom>
          <a:noFill/>
        </p:spPr>
        <p:txBody>
          <a:bodyPr wrap="square">
            <a:spAutoFit/>
          </a:bodyPr>
          <a:lstStyle/>
          <a:p>
            <a:pPr algn="l"/>
            <a:r>
              <a:rPr lang="en-GB" sz="2800" b="0" i="0" dirty="0">
                <a:solidFill>
                  <a:schemeClr val="accent1"/>
                </a:solidFill>
                <a:effectLst/>
                <a:latin typeface="Helvetica Neue"/>
              </a:rPr>
              <a:t>MAE vs RMSE</a:t>
            </a:r>
          </a:p>
          <a:p>
            <a:pPr marL="457200" indent="-457200" algn="l">
              <a:buFont typeface="Arial" panose="020B0604020202020204" pitchFamily="34" charset="0"/>
              <a:buChar char="•"/>
            </a:pPr>
            <a:endParaRPr lang="en-GB" sz="2800" dirty="0">
              <a:solidFill>
                <a:srgbClr val="000000"/>
              </a:solidFill>
              <a:latin typeface="Helvetica Neue"/>
            </a:endParaRPr>
          </a:p>
          <a:p>
            <a:pPr marL="457200" indent="-457200" algn="l">
              <a:buFont typeface="Arial" panose="020B0604020202020204" pitchFamily="34" charset="0"/>
              <a:buChar char="•"/>
            </a:pPr>
            <a:r>
              <a:rPr lang="en-GB" sz="2800" b="0" i="0" dirty="0">
                <a:solidFill>
                  <a:schemeClr val="bg1">
                    <a:lumMod val="95000"/>
                  </a:schemeClr>
                </a:solidFill>
                <a:effectLst/>
                <a:latin typeface="Helvetica Neue"/>
              </a:rPr>
              <a:t>both MAE and RMSE express average model prediction error in units of the variable of interest</a:t>
            </a:r>
          </a:p>
          <a:p>
            <a:pPr marL="457200" indent="-457200" algn="l">
              <a:buFont typeface="Arial" panose="020B0604020202020204" pitchFamily="34" charset="0"/>
              <a:buChar char="•"/>
            </a:pPr>
            <a:r>
              <a:rPr lang="en-GB" sz="2800" b="0" i="0" dirty="0">
                <a:solidFill>
                  <a:schemeClr val="bg1">
                    <a:lumMod val="95000"/>
                  </a:schemeClr>
                </a:solidFill>
                <a:effectLst/>
                <a:latin typeface="Helvetica Neue"/>
              </a:rPr>
              <a:t>both of them range between 0 and +infinite</a:t>
            </a:r>
          </a:p>
          <a:p>
            <a:pPr marL="457200" indent="-457200" algn="l">
              <a:buFont typeface="Arial" panose="020B0604020202020204" pitchFamily="34" charset="0"/>
              <a:buChar char="•"/>
            </a:pPr>
            <a:r>
              <a:rPr lang="en-GB" sz="2800" b="0" i="0" dirty="0">
                <a:solidFill>
                  <a:schemeClr val="bg1">
                    <a:lumMod val="95000"/>
                  </a:schemeClr>
                </a:solidFill>
                <a:effectLst/>
                <a:latin typeface="Helvetica Neue"/>
              </a:rPr>
              <a:t>both of them are negatively-oriented scores, which means lower values are better</a:t>
            </a:r>
          </a:p>
          <a:p>
            <a:pPr algn="l"/>
            <a:r>
              <a:rPr lang="en-GB" sz="2800" b="0" i="0" dirty="0">
                <a:solidFill>
                  <a:schemeClr val="bg1">
                    <a:lumMod val="95000"/>
                  </a:schemeClr>
                </a:solidFill>
                <a:effectLst/>
                <a:latin typeface="Helvetica Neue"/>
              </a:rPr>
              <a:t>BUT</a:t>
            </a:r>
          </a:p>
          <a:p>
            <a:pPr marL="457200" indent="-457200" algn="l">
              <a:buFont typeface="Arial" panose="020B0604020202020204" pitchFamily="34" charset="0"/>
              <a:buChar char="•"/>
            </a:pPr>
            <a:r>
              <a:rPr lang="en-GB" sz="2800" b="0" i="0" dirty="0">
                <a:solidFill>
                  <a:schemeClr val="bg1">
                    <a:lumMod val="95000"/>
                  </a:schemeClr>
                </a:solidFill>
                <a:effectLst/>
                <a:latin typeface="Helvetica Neue"/>
              </a:rPr>
              <a:t>RMSE gives a relatively high weight to large errors. This means RMSE might be more useful when large errors are undesirable.</a:t>
            </a:r>
          </a:p>
        </p:txBody>
      </p:sp>
    </p:spTree>
    <p:extLst>
      <p:ext uri="{BB962C8B-B14F-4D97-AF65-F5344CB8AC3E}">
        <p14:creationId xmlns:p14="http://schemas.microsoft.com/office/powerpoint/2010/main" val="8553862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Underfitting vs overfitting</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40</a:t>
            </a:fld>
            <a:endParaRPr lang="en-GB"/>
          </a:p>
        </p:txBody>
      </p:sp>
      <p:pic>
        <p:nvPicPr>
          <p:cNvPr id="3" name="Picture 2" descr="Chart, scatter chart&#10;&#10;Description automatically generated">
            <a:extLst>
              <a:ext uri="{FF2B5EF4-FFF2-40B4-BE49-F238E27FC236}">
                <a16:creationId xmlns:a16="http://schemas.microsoft.com/office/drawing/2014/main" id="{D40C5C79-EEB6-BCE2-3149-EEBF7C0FC5CD}"/>
              </a:ext>
            </a:extLst>
          </p:cNvPr>
          <p:cNvPicPr>
            <a:picLocks noChangeAspect="1"/>
          </p:cNvPicPr>
          <p:nvPr/>
        </p:nvPicPr>
        <p:blipFill>
          <a:blip r:embed="rId2"/>
          <a:stretch>
            <a:fillRect/>
          </a:stretch>
        </p:blipFill>
        <p:spPr>
          <a:xfrm>
            <a:off x="80117" y="1736591"/>
            <a:ext cx="5527275" cy="1669778"/>
          </a:xfrm>
          <a:prstGeom prst="rect">
            <a:avLst/>
          </a:prstGeom>
        </p:spPr>
      </p:pic>
      <p:sp>
        <p:nvSpPr>
          <p:cNvPr id="8" name="TextBox 7">
            <a:extLst>
              <a:ext uri="{FF2B5EF4-FFF2-40B4-BE49-F238E27FC236}">
                <a16:creationId xmlns:a16="http://schemas.microsoft.com/office/drawing/2014/main" id="{D7B17631-E6EC-173A-99F1-03A19F019DC3}"/>
              </a:ext>
            </a:extLst>
          </p:cNvPr>
          <p:cNvSpPr txBox="1"/>
          <p:nvPr/>
        </p:nvSpPr>
        <p:spPr>
          <a:xfrm>
            <a:off x="6096000" y="1376560"/>
            <a:ext cx="5898792" cy="1938992"/>
          </a:xfrm>
          <a:prstGeom prst="rect">
            <a:avLst/>
          </a:prstGeom>
          <a:noFill/>
        </p:spPr>
        <p:txBody>
          <a:bodyPr wrap="square" rtlCol="0">
            <a:spAutoFit/>
          </a:bodyPr>
          <a:lstStyle/>
          <a:p>
            <a:r>
              <a:rPr lang="en-GB" sz="2000" b="0" i="0" dirty="0">
                <a:solidFill>
                  <a:schemeClr val="bg1">
                    <a:lumMod val="95000"/>
                  </a:schemeClr>
                </a:solidFill>
                <a:effectLst/>
                <a:latin typeface="Helvetica Neue"/>
              </a:rPr>
              <a:t>Another reason to use a train-test split data is the underfitting and overfitting. An overfit model is a too good trained model. This model contains a risk of not generalizing well when predicting new data. An underfit model is not well trained, and it will produce weak predictions as well.</a:t>
            </a:r>
            <a:endParaRPr lang="en-GB" sz="2000" dirty="0">
              <a:solidFill>
                <a:schemeClr val="bg1">
                  <a:lumMod val="95000"/>
                </a:schemeClr>
              </a:solidFill>
            </a:endParaRPr>
          </a:p>
        </p:txBody>
      </p:sp>
      <p:sp>
        <p:nvSpPr>
          <p:cNvPr id="11" name="TextBox 10">
            <a:extLst>
              <a:ext uri="{FF2B5EF4-FFF2-40B4-BE49-F238E27FC236}">
                <a16:creationId xmlns:a16="http://schemas.microsoft.com/office/drawing/2014/main" id="{1ED65864-5D68-2950-A76D-6086A83BA8F9}"/>
              </a:ext>
            </a:extLst>
          </p:cNvPr>
          <p:cNvSpPr txBox="1"/>
          <p:nvPr/>
        </p:nvSpPr>
        <p:spPr>
          <a:xfrm>
            <a:off x="197208" y="1374352"/>
            <a:ext cx="5797192" cy="523220"/>
          </a:xfrm>
          <a:prstGeom prst="rect">
            <a:avLst/>
          </a:prstGeom>
          <a:noFill/>
        </p:spPr>
        <p:txBody>
          <a:bodyPr wrap="square" rtlCol="0">
            <a:spAutoFit/>
          </a:bodyPr>
          <a:lstStyle/>
          <a:p>
            <a:r>
              <a:rPr lang="en-GB" sz="2800" b="0" i="0" dirty="0">
                <a:solidFill>
                  <a:schemeClr val="accent1"/>
                </a:solidFill>
                <a:effectLst/>
                <a:latin typeface="Helvetica Neue"/>
              </a:rPr>
              <a:t>Underfitting and Overfitting</a:t>
            </a:r>
          </a:p>
        </p:txBody>
      </p:sp>
      <p:sp>
        <p:nvSpPr>
          <p:cNvPr id="12" name="TextBox 11">
            <a:extLst>
              <a:ext uri="{FF2B5EF4-FFF2-40B4-BE49-F238E27FC236}">
                <a16:creationId xmlns:a16="http://schemas.microsoft.com/office/drawing/2014/main" id="{FE0A38B5-B423-391B-1DB2-F48FAA683AC7}"/>
              </a:ext>
            </a:extLst>
          </p:cNvPr>
          <p:cNvSpPr txBox="1"/>
          <p:nvPr/>
        </p:nvSpPr>
        <p:spPr>
          <a:xfrm>
            <a:off x="0" y="6433142"/>
            <a:ext cx="6100280" cy="276999"/>
          </a:xfrm>
          <a:prstGeom prst="rect">
            <a:avLst/>
          </a:prstGeom>
          <a:noFill/>
        </p:spPr>
        <p:txBody>
          <a:bodyPr wrap="square">
            <a:spAutoFit/>
          </a:bodyPr>
          <a:lstStyle/>
          <a:p>
            <a:r>
              <a:rPr lang="en-GB" sz="1200" dirty="0">
                <a:hlinkClick r:id="rId3"/>
              </a:rPr>
              <a:t>https://www.baeldung.com/cs/ml-underfitting-overfitting</a:t>
            </a:r>
            <a:r>
              <a:rPr lang="en-GB" sz="1200" dirty="0"/>
              <a:t> </a:t>
            </a:r>
          </a:p>
        </p:txBody>
      </p:sp>
      <p:pic>
        <p:nvPicPr>
          <p:cNvPr id="14" name="Picture 13" descr="A diagram of training and epcot&#10;&#10;AI-generated content may be incorrect.">
            <a:extLst>
              <a:ext uri="{FF2B5EF4-FFF2-40B4-BE49-F238E27FC236}">
                <a16:creationId xmlns:a16="http://schemas.microsoft.com/office/drawing/2014/main" id="{9E27564D-B589-7D59-7678-830E0511A4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1717" y="3488076"/>
            <a:ext cx="11107064" cy="2954130"/>
          </a:xfrm>
          <a:prstGeom prst="rect">
            <a:avLst/>
          </a:prstGeom>
        </p:spPr>
      </p:pic>
    </p:spTree>
    <p:extLst>
      <p:ext uri="{BB962C8B-B14F-4D97-AF65-F5344CB8AC3E}">
        <p14:creationId xmlns:p14="http://schemas.microsoft.com/office/powerpoint/2010/main" val="32673717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F6782-0864-8E02-B582-5C540A64F15C}"/>
              </a:ext>
            </a:extLst>
          </p:cNvPr>
          <p:cNvSpPr>
            <a:spLocks noGrp="1"/>
          </p:cNvSpPr>
          <p:nvPr>
            <p:ph type="title"/>
          </p:nvPr>
        </p:nvSpPr>
        <p:spPr/>
        <p:txBody>
          <a:bodyPr/>
          <a:lstStyle/>
          <a:p>
            <a:r>
              <a:rPr lang="en-GB" dirty="0"/>
              <a:t>Model validation</a:t>
            </a:r>
          </a:p>
        </p:txBody>
      </p:sp>
      <p:sp>
        <p:nvSpPr>
          <p:cNvPr id="3" name="Text Placeholder 2">
            <a:extLst>
              <a:ext uri="{FF2B5EF4-FFF2-40B4-BE49-F238E27FC236}">
                <a16:creationId xmlns:a16="http://schemas.microsoft.com/office/drawing/2014/main" id="{193E2474-C1E0-A56C-D228-A5546EA583D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A797D27-4084-0C92-E919-A2ADAA65AB2B}"/>
              </a:ext>
            </a:extLst>
          </p:cNvPr>
          <p:cNvSpPr>
            <a:spLocks noGrp="1"/>
          </p:cNvSpPr>
          <p:nvPr>
            <p:ph type="sldNum" sz="quarter" idx="12"/>
          </p:nvPr>
        </p:nvSpPr>
        <p:spPr/>
        <p:txBody>
          <a:bodyPr/>
          <a:lstStyle/>
          <a:p>
            <a:fld id="{F74D7E6C-9B20-4593-B18C-8D2C7BEEFCA2}" type="slidenum">
              <a:rPr lang="en-GB" smtClean="0"/>
              <a:t>41</a:t>
            </a:fld>
            <a:endParaRPr lang="en-GB"/>
          </a:p>
        </p:txBody>
      </p:sp>
    </p:spTree>
    <p:extLst>
      <p:ext uri="{BB962C8B-B14F-4D97-AF65-F5344CB8AC3E}">
        <p14:creationId xmlns:p14="http://schemas.microsoft.com/office/powerpoint/2010/main" val="6467712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Model validation</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42</a:t>
            </a:fld>
            <a:endParaRPr lang="en-GB"/>
          </a:p>
        </p:txBody>
      </p:sp>
      <p:sp>
        <p:nvSpPr>
          <p:cNvPr id="5" name="TextBox 4">
            <a:extLst>
              <a:ext uri="{FF2B5EF4-FFF2-40B4-BE49-F238E27FC236}">
                <a16:creationId xmlns:a16="http://schemas.microsoft.com/office/drawing/2014/main" id="{D0D76C28-41B4-0596-AF4D-74B9DE0B368E}"/>
              </a:ext>
            </a:extLst>
          </p:cNvPr>
          <p:cNvSpPr txBox="1"/>
          <p:nvPr/>
        </p:nvSpPr>
        <p:spPr>
          <a:xfrm>
            <a:off x="231777" y="2153489"/>
            <a:ext cx="4235449" cy="3108543"/>
          </a:xfrm>
          <a:prstGeom prst="rect">
            <a:avLst/>
          </a:prstGeom>
          <a:noFill/>
        </p:spPr>
        <p:txBody>
          <a:bodyPr wrap="square" rtlCol="0">
            <a:spAutoFit/>
          </a:bodyPr>
          <a:lstStyle/>
          <a:p>
            <a:pPr algn="l"/>
            <a:r>
              <a:rPr lang="en-GB" sz="2800" b="0" i="0" dirty="0">
                <a:solidFill>
                  <a:schemeClr val="bg1">
                    <a:lumMod val="95000"/>
                  </a:schemeClr>
                </a:solidFill>
                <a:effectLst/>
                <a:latin typeface="Helvetica Neue"/>
              </a:rPr>
              <a:t>Due to the randomness, different samples can have different scores. In order to get a more general value of the score we can perform the K-fold Cross Validation.</a:t>
            </a:r>
          </a:p>
        </p:txBody>
      </p:sp>
      <p:pic>
        <p:nvPicPr>
          <p:cNvPr id="6" name="Picture 5" descr="Chart, bar chart&#10;&#10;Description automatically generated">
            <a:extLst>
              <a:ext uri="{FF2B5EF4-FFF2-40B4-BE49-F238E27FC236}">
                <a16:creationId xmlns:a16="http://schemas.microsoft.com/office/drawing/2014/main" id="{10AED694-C476-8B2F-0EC6-EE392FE7F8AA}"/>
              </a:ext>
            </a:extLst>
          </p:cNvPr>
          <p:cNvPicPr>
            <a:picLocks noChangeAspect="1"/>
          </p:cNvPicPr>
          <p:nvPr/>
        </p:nvPicPr>
        <p:blipFill>
          <a:blip r:embed="rId2"/>
          <a:stretch>
            <a:fillRect/>
          </a:stretch>
        </p:blipFill>
        <p:spPr>
          <a:xfrm>
            <a:off x="4673257" y="2153489"/>
            <a:ext cx="7213943" cy="3860834"/>
          </a:xfrm>
          <a:prstGeom prst="rect">
            <a:avLst/>
          </a:prstGeom>
        </p:spPr>
      </p:pic>
      <p:sp>
        <p:nvSpPr>
          <p:cNvPr id="7" name="TextBox 6">
            <a:extLst>
              <a:ext uri="{FF2B5EF4-FFF2-40B4-BE49-F238E27FC236}">
                <a16:creationId xmlns:a16="http://schemas.microsoft.com/office/drawing/2014/main" id="{CF87C811-C229-1FEB-F1B2-692A03C7E199}"/>
              </a:ext>
            </a:extLst>
          </p:cNvPr>
          <p:cNvSpPr txBox="1"/>
          <p:nvPr/>
        </p:nvSpPr>
        <p:spPr>
          <a:xfrm>
            <a:off x="197208" y="1374352"/>
            <a:ext cx="10521592" cy="523220"/>
          </a:xfrm>
          <a:prstGeom prst="rect">
            <a:avLst/>
          </a:prstGeom>
          <a:noFill/>
        </p:spPr>
        <p:txBody>
          <a:bodyPr wrap="square" rtlCol="0">
            <a:spAutoFit/>
          </a:bodyPr>
          <a:lstStyle/>
          <a:p>
            <a:r>
              <a:rPr lang="en-GB" sz="2800" b="0" i="0" dirty="0">
                <a:solidFill>
                  <a:schemeClr val="accent1"/>
                </a:solidFill>
                <a:effectLst/>
                <a:latin typeface="Helvetica Neue"/>
              </a:rPr>
              <a:t>Model performance evaluation: cross validation</a:t>
            </a:r>
          </a:p>
        </p:txBody>
      </p:sp>
      <p:sp>
        <p:nvSpPr>
          <p:cNvPr id="8" name="TextBox 7">
            <a:extLst>
              <a:ext uri="{FF2B5EF4-FFF2-40B4-BE49-F238E27FC236}">
                <a16:creationId xmlns:a16="http://schemas.microsoft.com/office/drawing/2014/main" id="{216FCE80-7332-43B6-F9B5-07844EAE5F93}"/>
              </a:ext>
            </a:extLst>
          </p:cNvPr>
          <p:cNvSpPr txBox="1"/>
          <p:nvPr/>
        </p:nvSpPr>
        <p:spPr>
          <a:xfrm>
            <a:off x="4539894" y="6014323"/>
            <a:ext cx="6100280" cy="646331"/>
          </a:xfrm>
          <a:prstGeom prst="rect">
            <a:avLst/>
          </a:prstGeom>
          <a:noFill/>
        </p:spPr>
        <p:txBody>
          <a:bodyPr wrap="square">
            <a:spAutoFit/>
          </a:bodyPr>
          <a:lstStyle/>
          <a:p>
            <a:r>
              <a:rPr lang="en-GB" dirty="0">
                <a:hlinkClick r:id="rId3"/>
              </a:rPr>
              <a:t>https://chrisjmccormick.wordpress.com/2013/07/31/k-fold-cross-validation-with-matlab-code/</a:t>
            </a:r>
            <a:r>
              <a:rPr lang="en-GB" dirty="0"/>
              <a:t> </a:t>
            </a:r>
          </a:p>
        </p:txBody>
      </p:sp>
    </p:spTree>
    <p:extLst>
      <p:ext uri="{BB962C8B-B14F-4D97-AF65-F5344CB8AC3E}">
        <p14:creationId xmlns:p14="http://schemas.microsoft.com/office/powerpoint/2010/main" val="12205031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CD26-A8F8-6283-E0BC-2F6BA87F0EB3}"/>
              </a:ext>
            </a:extLst>
          </p:cNvPr>
          <p:cNvSpPr>
            <a:spLocks noGrp="1"/>
          </p:cNvSpPr>
          <p:nvPr>
            <p:ph type="title"/>
          </p:nvPr>
        </p:nvSpPr>
        <p:spPr/>
        <p:txBody>
          <a:bodyPr>
            <a:normAutofit/>
          </a:bodyPr>
          <a:lstStyle/>
          <a:p>
            <a:r>
              <a:rPr lang="en-GB" dirty="0"/>
              <a:t>Model validation</a:t>
            </a:r>
          </a:p>
        </p:txBody>
      </p:sp>
      <p:sp>
        <p:nvSpPr>
          <p:cNvPr id="4" name="Slide Number Placeholder 3">
            <a:extLst>
              <a:ext uri="{FF2B5EF4-FFF2-40B4-BE49-F238E27FC236}">
                <a16:creationId xmlns:a16="http://schemas.microsoft.com/office/drawing/2014/main" id="{E66C5760-82B5-EE34-4977-377526EB7FBE}"/>
              </a:ext>
            </a:extLst>
          </p:cNvPr>
          <p:cNvSpPr>
            <a:spLocks noGrp="1"/>
          </p:cNvSpPr>
          <p:nvPr>
            <p:ph type="sldNum" sz="quarter" idx="12"/>
          </p:nvPr>
        </p:nvSpPr>
        <p:spPr/>
        <p:txBody>
          <a:bodyPr/>
          <a:lstStyle/>
          <a:p>
            <a:fld id="{F74D7E6C-9B20-4593-B18C-8D2C7BEEFCA2}" type="slidenum">
              <a:rPr lang="en-GB" smtClean="0"/>
              <a:t>43</a:t>
            </a:fld>
            <a:endParaRPr lang="en-GB"/>
          </a:p>
        </p:txBody>
      </p:sp>
      <p:sp>
        <p:nvSpPr>
          <p:cNvPr id="7" name="TextBox 6">
            <a:extLst>
              <a:ext uri="{FF2B5EF4-FFF2-40B4-BE49-F238E27FC236}">
                <a16:creationId xmlns:a16="http://schemas.microsoft.com/office/drawing/2014/main" id="{CF87C811-C229-1FEB-F1B2-692A03C7E199}"/>
              </a:ext>
            </a:extLst>
          </p:cNvPr>
          <p:cNvSpPr txBox="1"/>
          <p:nvPr/>
        </p:nvSpPr>
        <p:spPr>
          <a:xfrm>
            <a:off x="197208" y="1374352"/>
            <a:ext cx="10521592" cy="523220"/>
          </a:xfrm>
          <a:prstGeom prst="rect">
            <a:avLst/>
          </a:prstGeom>
          <a:noFill/>
        </p:spPr>
        <p:txBody>
          <a:bodyPr wrap="square" rtlCol="0">
            <a:spAutoFit/>
          </a:bodyPr>
          <a:lstStyle/>
          <a:p>
            <a:r>
              <a:rPr lang="en-GB" sz="2800" b="0" i="0" dirty="0">
                <a:solidFill>
                  <a:schemeClr val="accent1"/>
                </a:solidFill>
                <a:effectLst/>
                <a:latin typeface="Helvetica Neue"/>
              </a:rPr>
              <a:t>Model performance evaluation: cross validation</a:t>
            </a:r>
          </a:p>
        </p:txBody>
      </p:sp>
      <p:sp>
        <p:nvSpPr>
          <p:cNvPr id="3" name="TextBox 2">
            <a:extLst>
              <a:ext uri="{FF2B5EF4-FFF2-40B4-BE49-F238E27FC236}">
                <a16:creationId xmlns:a16="http://schemas.microsoft.com/office/drawing/2014/main" id="{B2CF1B47-9616-0C0D-820D-17D57A299221}"/>
              </a:ext>
            </a:extLst>
          </p:cNvPr>
          <p:cNvSpPr txBox="1"/>
          <p:nvPr/>
        </p:nvSpPr>
        <p:spPr>
          <a:xfrm>
            <a:off x="323851" y="2333583"/>
            <a:ext cx="8649730" cy="400110"/>
          </a:xfrm>
          <a:prstGeom prst="rect">
            <a:avLst/>
          </a:prstGeom>
          <a:noFill/>
        </p:spPr>
        <p:txBody>
          <a:bodyPr wrap="square" rtlCol="0">
            <a:spAutoFit/>
          </a:bodyPr>
          <a:lstStyle/>
          <a:p>
            <a:r>
              <a:rPr lang="en-GB" sz="2000" dirty="0">
                <a:solidFill>
                  <a:srgbClr val="00B050"/>
                </a:solidFill>
                <a:latin typeface="Cambria Math" panose="02040503050406030204" pitchFamily="18" charset="0"/>
                <a:ea typeface="Cambria Math" panose="02040503050406030204" pitchFamily="18" charset="0"/>
              </a:rPr>
              <a:t>from</a:t>
            </a:r>
            <a:r>
              <a:rPr lang="en-GB" sz="2000" dirty="0">
                <a:solidFill>
                  <a:schemeClr val="bg1">
                    <a:lumMod val="95000"/>
                  </a:schemeClr>
                </a:solidFill>
                <a:latin typeface="Cambria Math" panose="02040503050406030204" pitchFamily="18" charset="0"/>
                <a:ea typeface="Cambria Math" panose="02040503050406030204" pitchFamily="18" charset="0"/>
              </a:rPr>
              <a:t> </a:t>
            </a:r>
            <a:r>
              <a:rPr lang="en-GB" sz="2000" dirty="0" err="1">
                <a:solidFill>
                  <a:schemeClr val="bg1">
                    <a:lumMod val="95000"/>
                  </a:schemeClr>
                </a:solidFill>
                <a:latin typeface="Cambria Math" panose="02040503050406030204" pitchFamily="18" charset="0"/>
                <a:ea typeface="Cambria Math" panose="02040503050406030204" pitchFamily="18" charset="0"/>
              </a:rPr>
              <a:t>sklearn.model_selection</a:t>
            </a:r>
            <a:r>
              <a:rPr lang="en-GB" sz="2000" dirty="0">
                <a:solidFill>
                  <a:schemeClr val="bg1">
                    <a:lumMod val="95000"/>
                  </a:schemeClr>
                </a:solidFill>
                <a:latin typeface="Cambria Math" panose="02040503050406030204" pitchFamily="18" charset="0"/>
                <a:ea typeface="Cambria Math" panose="02040503050406030204" pitchFamily="18" charset="0"/>
              </a:rPr>
              <a:t> </a:t>
            </a:r>
            <a:r>
              <a:rPr lang="en-GB" sz="2000" dirty="0">
                <a:solidFill>
                  <a:srgbClr val="00B050"/>
                </a:solidFill>
                <a:latin typeface="Cambria Math" panose="02040503050406030204" pitchFamily="18" charset="0"/>
                <a:ea typeface="Cambria Math" panose="02040503050406030204" pitchFamily="18" charset="0"/>
              </a:rPr>
              <a:t>import</a:t>
            </a:r>
            <a:r>
              <a:rPr lang="en-GB" sz="2000" dirty="0">
                <a:solidFill>
                  <a:schemeClr val="bg1">
                    <a:lumMod val="95000"/>
                  </a:schemeClr>
                </a:solidFill>
                <a:latin typeface="Cambria Math" panose="02040503050406030204" pitchFamily="18" charset="0"/>
                <a:ea typeface="Cambria Math" panose="02040503050406030204" pitchFamily="18" charset="0"/>
              </a:rPr>
              <a:t> </a:t>
            </a:r>
            <a:r>
              <a:rPr lang="en-GB" sz="2000" dirty="0" err="1">
                <a:solidFill>
                  <a:schemeClr val="bg1">
                    <a:lumMod val="95000"/>
                  </a:schemeClr>
                </a:solidFill>
                <a:latin typeface="Cambria Math" panose="02040503050406030204" pitchFamily="18" charset="0"/>
                <a:ea typeface="Cambria Math" panose="02040503050406030204" pitchFamily="18" charset="0"/>
              </a:rPr>
              <a:t>cross_val_score</a:t>
            </a:r>
            <a:endParaRPr lang="en-GB" sz="2000" dirty="0">
              <a:solidFill>
                <a:schemeClr val="bg1">
                  <a:lumMod val="95000"/>
                </a:schemeClr>
              </a:solidFill>
              <a:latin typeface="Cambria Math" panose="02040503050406030204" pitchFamily="18" charset="0"/>
              <a:ea typeface="Cambria Math" panose="02040503050406030204" pitchFamily="18" charset="0"/>
            </a:endParaRPr>
          </a:p>
        </p:txBody>
      </p:sp>
      <p:sp>
        <p:nvSpPr>
          <p:cNvPr id="8" name="TextBox 7">
            <a:extLst>
              <a:ext uri="{FF2B5EF4-FFF2-40B4-BE49-F238E27FC236}">
                <a16:creationId xmlns:a16="http://schemas.microsoft.com/office/drawing/2014/main" id="{CC4111A1-7181-46F9-C659-04535B4261AB}"/>
              </a:ext>
            </a:extLst>
          </p:cNvPr>
          <p:cNvSpPr txBox="1"/>
          <p:nvPr/>
        </p:nvSpPr>
        <p:spPr>
          <a:xfrm>
            <a:off x="6328766" y="2333583"/>
            <a:ext cx="6301946" cy="1938992"/>
          </a:xfrm>
          <a:prstGeom prst="rect">
            <a:avLst/>
          </a:prstGeom>
          <a:noFill/>
        </p:spPr>
        <p:txBody>
          <a:bodyPr wrap="square" rtlCol="0">
            <a:spAutoFit/>
          </a:bodyPr>
          <a:lstStyle/>
          <a:p>
            <a:r>
              <a:rPr lang="en-GB" sz="2400" dirty="0">
                <a:solidFill>
                  <a:schemeClr val="bg1">
                    <a:lumMod val="95000"/>
                  </a:schemeClr>
                </a:solidFill>
              </a:rPr>
              <a:t>- Import the function </a:t>
            </a:r>
            <a:r>
              <a:rPr lang="en-GB" sz="2400" dirty="0" err="1">
                <a:solidFill>
                  <a:schemeClr val="bg1">
                    <a:lumMod val="95000"/>
                  </a:schemeClr>
                </a:solidFill>
              </a:rPr>
              <a:t>cross_val_score</a:t>
            </a:r>
            <a:r>
              <a:rPr lang="en-GB" sz="2400" dirty="0">
                <a:solidFill>
                  <a:schemeClr val="bg1">
                    <a:lumMod val="95000"/>
                  </a:schemeClr>
                </a:solidFill>
              </a:rPr>
              <a:t> from the </a:t>
            </a:r>
            <a:r>
              <a:rPr lang="en-GB" sz="2400" dirty="0" err="1">
                <a:solidFill>
                  <a:schemeClr val="bg1">
                    <a:lumMod val="95000"/>
                  </a:schemeClr>
                </a:solidFill>
              </a:rPr>
              <a:t>sklearn</a:t>
            </a:r>
            <a:r>
              <a:rPr lang="en-GB" sz="2400" dirty="0">
                <a:solidFill>
                  <a:schemeClr val="bg1">
                    <a:lumMod val="95000"/>
                  </a:schemeClr>
                </a:solidFill>
              </a:rPr>
              <a:t> library. This function helps us dividing the data in a number of partitions. Then it will train and test the same number of the models as partitions we have. </a:t>
            </a:r>
          </a:p>
        </p:txBody>
      </p:sp>
      <p:sp>
        <p:nvSpPr>
          <p:cNvPr id="9" name="TextBox 8">
            <a:extLst>
              <a:ext uri="{FF2B5EF4-FFF2-40B4-BE49-F238E27FC236}">
                <a16:creationId xmlns:a16="http://schemas.microsoft.com/office/drawing/2014/main" id="{DC2C6B19-8A16-CB59-0D24-B0CBD3F54DBE}"/>
              </a:ext>
            </a:extLst>
          </p:cNvPr>
          <p:cNvSpPr txBox="1"/>
          <p:nvPr/>
        </p:nvSpPr>
        <p:spPr>
          <a:xfrm>
            <a:off x="381827" y="4485037"/>
            <a:ext cx="8901873" cy="400110"/>
          </a:xfrm>
          <a:prstGeom prst="rect">
            <a:avLst/>
          </a:prstGeom>
          <a:noFill/>
        </p:spPr>
        <p:txBody>
          <a:bodyPr wrap="square" rtlCol="0">
            <a:spAutoFit/>
          </a:bodyPr>
          <a:lstStyle/>
          <a:p>
            <a:r>
              <a:rPr lang="en-GB" sz="2000" dirty="0">
                <a:solidFill>
                  <a:schemeClr val="bg1">
                    <a:lumMod val="95000"/>
                  </a:schemeClr>
                </a:solidFill>
                <a:latin typeface="Cambria Math" panose="02040503050406030204" pitchFamily="18" charset="0"/>
                <a:ea typeface="Cambria Math" panose="02040503050406030204" pitchFamily="18" charset="0"/>
              </a:rPr>
              <a:t>scores = </a:t>
            </a:r>
            <a:r>
              <a:rPr lang="en-GB" sz="2000" dirty="0" err="1">
                <a:solidFill>
                  <a:schemeClr val="bg1">
                    <a:lumMod val="95000"/>
                  </a:schemeClr>
                </a:solidFill>
                <a:latin typeface="Cambria Math" panose="02040503050406030204" pitchFamily="18" charset="0"/>
                <a:ea typeface="Cambria Math" panose="02040503050406030204" pitchFamily="18" charset="0"/>
              </a:rPr>
              <a:t>cross_val_score</a:t>
            </a:r>
            <a:r>
              <a:rPr lang="en-GB" sz="2000" dirty="0">
                <a:solidFill>
                  <a:schemeClr val="bg1">
                    <a:lumMod val="95000"/>
                  </a:schemeClr>
                </a:solidFill>
                <a:latin typeface="Cambria Math" panose="02040503050406030204" pitchFamily="18" charset="0"/>
                <a:ea typeface="Cambria Math" panose="02040503050406030204" pitchFamily="18" charset="0"/>
              </a:rPr>
              <a:t>(model, X, y, cv=</a:t>
            </a:r>
            <a:r>
              <a:rPr lang="en-GB" sz="2000" dirty="0">
                <a:solidFill>
                  <a:schemeClr val="accent1"/>
                </a:solidFill>
                <a:latin typeface="Cambria Math" panose="02040503050406030204" pitchFamily="18" charset="0"/>
                <a:ea typeface="Cambria Math" panose="02040503050406030204" pitchFamily="18" charset="0"/>
              </a:rPr>
              <a:t>5</a:t>
            </a:r>
            <a:r>
              <a:rPr lang="en-GB" sz="2000" dirty="0">
                <a:solidFill>
                  <a:schemeClr val="bg1">
                    <a:lumMod val="95000"/>
                  </a:schemeClr>
                </a:solidFill>
                <a:latin typeface="Cambria Math" panose="02040503050406030204" pitchFamily="18" charset="0"/>
                <a:ea typeface="Cambria Math" panose="02040503050406030204" pitchFamily="18" charset="0"/>
              </a:rPr>
              <a:t>, scoring = </a:t>
            </a:r>
            <a:r>
              <a:rPr lang="en-GB" sz="2000" dirty="0">
                <a:solidFill>
                  <a:schemeClr val="accent1"/>
                </a:solidFill>
                <a:latin typeface="Cambria Math" panose="02040503050406030204" pitchFamily="18" charset="0"/>
                <a:ea typeface="Cambria Math" panose="02040503050406030204" pitchFamily="18" charset="0"/>
              </a:rPr>
              <a:t>'r2'</a:t>
            </a:r>
            <a:r>
              <a:rPr lang="en-GB" sz="2000" dirty="0">
                <a:solidFill>
                  <a:schemeClr val="bg1">
                    <a:lumMod val="95000"/>
                  </a:schemeClr>
                </a:solidFill>
                <a:latin typeface="Cambria Math" panose="02040503050406030204" pitchFamily="18" charset="0"/>
                <a:ea typeface="Cambria Math" panose="02040503050406030204" pitchFamily="18" charset="0"/>
              </a:rPr>
              <a:t>)</a:t>
            </a:r>
          </a:p>
        </p:txBody>
      </p:sp>
      <p:sp>
        <p:nvSpPr>
          <p:cNvPr id="10" name="TextBox 9">
            <a:extLst>
              <a:ext uri="{FF2B5EF4-FFF2-40B4-BE49-F238E27FC236}">
                <a16:creationId xmlns:a16="http://schemas.microsoft.com/office/drawing/2014/main" id="{530157E3-515B-DF5A-602B-254BF48F385F}"/>
              </a:ext>
            </a:extLst>
          </p:cNvPr>
          <p:cNvSpPr txBox="1"/>
          <p:nvPr/>
        </p:nvSpPr>
        <p:spPr>
          <a:xfrm>
            <a:off x="6135422" y="5680111"/>
            <a:ext cx="3422822" cy="954107"/>
          </a:xfrm>
          <a:prstGeom prst="rect">
            <a:avLst/>
          </a:prstGeom>
          <a:noFill/>
        </p:spPr>
        <p:txBody>
          <a:bodyPr wrap="square" rtlCol="0">
            <a:spAutoFit/>
          </a:bodyPr>
          <a:lstStyle/>
          <a:p>
            <a:r>
              <a:rPr lang="en-GB" sz="2800" dirty="0">
                <a:solidFill>
                  <a:schemeClr val="bg1">
                    <a:lumMod val="95000"/>
                  </a:schemeClr>
                </a:solidFill>
              </a:rPr>
              <a:t>We need to chose the evaluation metric</a:t>
            </a:r>
          </a:p>
        </p:txBody>
      </p:sp>
      <p:cxnSp>
        <p:nvCxnSpPr>
          <p:cNvPr id="11" name="Straight Arrow Connector 10">
            <a:extLst>
              <a:ext uri="{FF2B5EF4-FFF2-40B4-BE49-F238E27FC236}">
                <a16:creationId xmlns:a16="http://schemas.microsoft.com/office/drawing/2014/main" id="{A95708EC-5A4B-B3E4-B284-27C976703D4D}"/>
              </a:ext>
            </a:extLst>
          </p:cNvPr>
          <p:cNvCxnSpPr>
            <a:cxnSpLocks/>
          </p:cNvCxnSpPr>
          <p:nvPr/>
        </p:nvCxnSpPr>
        <p:spPr>
          <a:xfrm flipV="1">
            <a:off x="6462335" y="4885147"/>
            <a:ext cx="0" cy="842553"/>
          </a:xfrm>
          <a:prstGeom prst="straightConnector1">
            <a:avLst/>
          </a:prstGeom>
          <a:ln w="38100">
            <a:solidFill>
              <a:srgbClr val="FCCA8E"/>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C739FE1-0EB2-794B-31F8-025270BCEE37}"/>
              </a:ext>
            </a:extLst>
          </p:cNvPr>
          <p:cNvSpPr txBox="1"/>
          <p:nvPr/>
        </p:nvSpPr>
        <p:spPr>
          <a:xfrm>
            <a:off x="4050023" y="5680111"/>
            <a:ext cx="1902939" cy="954107"/>
          </a:xfrm>
          <a:prstGeom prst="rect">
            <a:avLst/>
          </a:prstGeom>
          <a:noFill/>
        </p:spPr>
        <p:txBody>
          <a:bodyPr wrap="square" rtlCol="0">
            <a:spAutoFit/>
          </a:bodyPr>
          <a:lstStyle/>
          <a:p>
            <a:r>
              <a:rPr lang="en-GB" sz="2800" dirty="0">
                <a:solidFill>
                  <a:schemeClr val="bg1">
                    <a:lumMod val="95000"/>
                  </a:schemeClr>
                </a:solidFill>
              </a:rPr>
              <a:t>Number of </a:t>
            </a:r>
          </a:p>
          <a:p>
            <a:r>
              <a:rPr lang="en-GB" sz="2800" dirty="0">
                <a:solidFill>
                  <a:schemeClr val="bg1">
                    <a:lumMod val="95000"/>
                  </a:schemeClr>
                </a:solidFill>
              </a:rPr>
              <a:t>partitions</a:t>
            </a:r>
          </a:p>
        </p:txBody>
      </p:sp>
      <p:cxnSp>
        <p:nvCxnSpPr>
          <p:cNvPr id="13" name="Straight Arrow Connector 12">
            <a:extLst>
              <a:ext uri="{FF2B5EF4-FFF2-40B4-BE49-F238E27FC236}">
                <a16:creationId xmlns:a16="http://schemas.microsoft.com/office/drawing/2014/main" id="{F311D6F1-971F-B963-68CF-39E86A92BDC4}"/>
              </a:ext>
            </a:extLst>
          </p:cNvPr>
          <p:cNvCxnSpPr>
            <a:cxnSpLocks/>
          </p:cNvCxnSpPr>
          <p:nvPr/>
        </p:nvCxnSpPr>
        <p:spPr>
          <a:xfrm flipV="1">
            <a:off x="4964422" y="4885147"/>
            <a:ext cx="1" cy="794964"/>
          </a:xfrm>
          <a:prstGeom prst="straightConnector1">
            <a:avLst/>
          </a:prstGeom>
          <a:ln w="38100">
            <a:solidFill>
              <a:srgbClr val="FCCA8E"/>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91402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F1F43-8782-5F93-8343-4D7181D8C5AE}"/>
              </a:ext>
            </a:extLst>
          </p:cNvPr>
          <p:cNvSpPr>
            <a:spLocks noGrp="1"/>
          </p:cNvSpPr>
          <p:nvPr>
            <p:ph type="title"/>
          </p:nvPr>
        </p:nvSpPr>
        <p:spPr/>
        <p:txBody>
          <a:bodyPr/>
          <a:lstStyle/>
          <a:p>
            <a:r>
              <a:rPr lang="en-GB" dirty="0"/>
              <a:t>Recap and OTJ activities</a:t>
            </a:r>
          </a:p>
        </p:txBody>
      </p:sp>
      <p:sp>
        <p:nvSpPr>
          <p:cNvPr id="3" name="Text Placeholder 2">
            <a:extLst>
              <a:ext uri="{FF2B5EF4-FFF2-40B4-BE49-F238E27FC236}">
                <a16:creationId xmlns:a16="http://schemas.microsoft.com/office/drawing/2014/main" id="{1C77794C-BB7E-F4AA-975B-60FA34EC2131}"/>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12D8DC56-91ED-91F3-6436-2A9288096C0B}"/>
              </a:ext>
            </a:extLst>
          </p:cNvPr>
          <p:cNvSpPr>
            <a:spLocks noGrp="1"/>
          </p:cNvSpPr>
          <p:nvPr>
            <p:ph type="sldNum" sz="quarter" idx="12"/>
          </p:nvPr>
        </p:nvSpPr>
        <p:spPr/>
        <p:txBody>
          <a:bodyPr/>
          <a:lstStyle/>
          <a:p>
            <a:fld id="{F74D7E6C-9B20-4593-B18C-8D2C7BEEFCA2}" type="slidenum">
              <a:rPr lang="en-GB" smtClean="0"/>
              <a:t>44</a:t>
            </a:fld>
            <a:endParaRPr lang="en-GB"/>
          </a:p>
        </p:txBody>
      </p:sp>
    </p:spTree>
    <p:extLst>
      <p:ext uri="{BB962C8B-B14F-4D97-AF65-F5344CB8AC3E}">
        <p14:creationId xmlns:p14="http://schemas.microsoft.com/office/powerpoint/2010/main" val="37080471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2376D-B6DC-112D-FD18-C9A0D6902837}"/>
              </a:ext>
            </a:extLst>
          </p:cNvPr>
          <p:cNvSpPr>
            <a:spLocks noGrp="1"/>
          </p:cNvSpPr>
          <p:nvPr>
            <p:ph type="title"/>
          </p:nvPr>
        </p:nvSpPr>
        <p:spPr/>
        <p:txBody>
          <a:bodyPr/>
          <a:lstStyle/>
          <a:p>
            <a:r>
              <a:rPr lang="en-GB" dirty="0"/>
              <a:t>Recap of today’s objectives</a:t>
            </a:r>
          </a:p>
        </p:txBody>
      </p:sp>
      <p:sp>
        <p:nvSpPr>
          <p:cNvPr id="3" name="Content Placeholder 2">
            <a:extLst>
              <a:ext uri="{FF2B5EF4-FFF2-40B4-BE49-F238E27FC236}">
                <a16:creationId xmlns:a16="http://schemas.microsoft.com/office/drawing/2014/main" id="{FE326B8B-F3DD-9A69-43C7-AC47F9B159E8}"/>
              </a:ext>
            </a:extLst>
          </p:cNvPr>
          <p:cNvSpPr>
            <a:spLocks noGrp="1"/>
          </p:cNvSpPr>
          <p:nvPr>
            <p:ph idx="1"/>
          </p:nvPr>
        </p:nvSpPr>
        <p:spPr>
          <a:xfrm>
            <a:off x="323851" y="1789776"/>
            <a:ext cx="11563350" cy="4020474"/>
          </a:xfrm>
        </p:spPr>
        <p:txBody>
          <a:bodyPr>
            <a:normAutofit fontScale="92500" lnSpcReduction="20000"/>
          </a:bodyPr>
          <a:lstStyle/>
          <a:p>
            <a:r>
              <a:rPr lang="en-GB" sz="3600" dirty="0"/>
              <a:t>Explain the Machine Learning concept</a:t>
            </a:r>
          </a:p>
          <a:p>
            <a:r>
              <a:rPr lang="en-GB" sz="3600" dirty="0"/>
              <a:t>Recognise different types of learnings</a:t>
            </a:r>
          </a:p>
          <a:p>
            <a:r>
              <a:rPr lang="en-GB" sz="3600" dirty="0"/>
              <a:t>Understand the linear function</a:t>
            </a:r>
          </a:p>
          <a:p>
            <a:r>
              <a:rPr lang="en-GB" sz="3600" dirty="0"/>
              <a:t>Know how to create a linear model with scikit-learn library</a:t>
            </a:r>
          </a:p>
          <a:p>
            <a:r>
              <a:rPr lang="en-GB" sz="3600" dirty="0"/>
              <a:t>Know how to predict with a model the target values for new instances</a:t>
            </a:r>
          </a:p>
          <a:p>
            <a:r>
              <a:rPr lang="en-GB" sz="3600" dirty="0"/>
              <a:t>Know how to evaluate the model performance</a:t>
            </a:r>
          </a:p>
          <a:p>
            <a:r>
              <a:rPr lang="en-GB" sz="3600" dirty="0"/>
              <a:t>Know how to validate a model</a:t>
            </a:r>
          </a:p>
          <a:p>
            <a:endParaRPr lang="en-GB" sz="3600" dirty="0"/>
          </a:p>
          <a:p>
            <a:endParaRPr lang="en-GB" sz="3600" dirty="0"/>
          </a:p>
          <a:p>
            <a:endParaRPr lang="en-GB" sz="3600" dirty="0"/>
          </a:p>
          <a:p>
            <a:endParaRPr lang="en-GB" sz="3600" dirty="0"/>
          </a:p>
        </p:txBody>
      </p:sp>
      <p:sp>
        <p:nvSpPr>
          <p:cNvPr id="4" name="Slide Number Placeholder 3">
            <a:extLst>
              <a:ext uri="{FF2B5EF4-FFF2-40B4-BE49-F238E27FC236}">
                <a16:creationId xmlns:a16="http://schemas.microsoft.com/office/drawing/2014/main" id="{BE990C02-DEAF-8BD2-CA17-F5DAFCF0EA74}"/>
              </a:ext>
            </a:extLst>
          </p:cNvPr>
          <p:cNvSpPr>
            <a:spLocks noGrp="1"/>
          </p:cNvSpPr>
          <p:nvPr>
            <p:ph type="sldNum" sz="quarter" idx="12"/>
          </p:nvPr>
        </p:nvSpPr>
        <p:spPr/>
        <p:txBody>
          <a:bodyPr/>
          <a:lstStyle/>
          <a:p>
            <a:fld id="{F74D7E6C-9B20-4593-B18C-8D2C7BEEFCA2}" type="slidenum">
              <a:rPr lang="en-GB" smtClean="0"/>
              <a:t>45</a:t>
            </a:fld>
            <a:endParaRPr lang="en-GB"/>
          </a:p>
        </p:txBody>
      </p:sp>
    </p:spTree>
    <p:extLst>
      <p:ext uri="{BB962C8B-B14F-4D97-AF65-F5344CB8AC3E}">
        <p14:creationId xmlns:p14="http://schemas.microsoft.com/office/powerpoint/2010/main" val="29643644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BAE560-9519-03D4-2605-50C0ED4725B4}"/>
              </a:ext>
            </a:extLst>
          </p:cNvPr>
          <p:cNvSpPr>
            <a:spLocks noGrp="1"/>
          </p:cNvSpPr>
          <p:nvPr>
            <p:ph type="title"/>
          </p:nvPr>
        </p:nvSpPr>
        <p:spPr/>
        <p:txBody>
          <a:bodyPr/>
          <a:lstStyle/>
          <a:p>
            <a:r>
              <a:rPr lang="en-GB" dirty="0"/>
              <a:t>OTJ Activities</a:t>
            </a:r>
          </a:p>
        </p:txBody>
      </p:sp>
      <p:sp>
        <p:nvSpPr>
          <p:cNvPr id="2" name="Slide Number Placeholder 1">
            <a:extLst>
              <a:ext uri="{FF2B5EF4-FFF2-40B4-BE49-F238E27FC236}">
                <a16:creationId xmlns:a16="http://schemas.microsoft.com/office/drawing/2014/main" id="{4A486511-735F-61C8-36E5-D5146CE56702}"/>
              </a:ext>
            </a:extLst>
          </p:cNvPr>
          <p:cNvSpPr>
            <a:spLocks noGrp="1"/>
          </p:cNvSpPr>
          <p:nvPr>
            <p:ph type="sldNum" sz="quarter" idx="12"/>
          </p:nvPr>
        </p:nvSpPr>
        <p:spPr/>
        <p:txBody>
          <a:bodyPr/>
          <a:lstStyle/>
          <a:p>
            <a:fld id="{F74D7E6C-9B20-4593-B18C-8D2C7BEEFCA2}" type="slidenum">
              <a:rPr lang="en-GB" smtClean="0"/>
              <a:t>46</a:t>
            </a:fld>
            <a:endParaRPr lang="en-GB"/>
          </a:p>
        </p:txBody>
      </p:sp>
      <p:sp>
        <p:nvSpPr>
          <p:cNvPr id="11" name="Content Placeholder 5">
            <a:extLst>
              <a:ext uri="{FF2B5EF4-FFF2-40B4-BE49-F238E27FC236}">
                <a16:creationId xmlns:a16="http://schemas.microsoft.com/office/drawing/2014/main" id="{2C015F95-A982-F0CF-4F36-3909E1F2F3AB}"/>
              </a:ext>
            </a:extLst>
          </p:cNvPr>
          <p:cNvSpPr txBox="1">
            <a:spLocks/>
          </p:cNvSpPr>
          <p:nvPr/>
        </p:nvSpPr>
        <p:spPr>
          <a:xfrm>
            <a:off x="344806" y="1493042"/>
            <a:ext cx="11904344" cy="32383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6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AutoNum type="arabicPeriod"/>
            </a:pPr>
            <a:r>
              <a:rPr lang="en-GB" sz="2400" dirty="0"/>
              <a:t>Predict the house prices</a:t>
            </a:r>
          </a:p>
          <a:p>
            <a:pPr marL="0" indent="0">
              <a:buNone/>
            </a:pPr>
            <a:r>
              <a:rPr lang="en-GB" sz="2400" dirty="0"/>
              <a:t>- Use the Seattle houses data to build a regression model. The model has to be able to predict the prices of the new houses. Check all requirements from the given </a:t>
            </a:r>
            <a:r>
              <a:rPr lang="en-GB" sz="2400" dirty="0" err="1"/>
              <a:t>Jupyter</a:t>
            </a:r>
            <a:r>
              <a:rPr lang="en-GB" sz="2400" dirty="0"/>
              <a:t> Notebook.</a:t>
            </a:r>
          </a:p>
        </p:txBody>
      </p:sp>
    </p:spTree>
    <p:extLst>
      <p:ext uri="{BB962C8B-B14F-4D97-AF65-F5344CB8AC3E}">
        <p14:creationId xmlns:p14="http://schemas.microsoft.com/office/powerpoint/2010/main" val="7218364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59BD2-DA4C-EDDA-DEAA-9732017A6586}"/>
              </a:ext>
            </a:extLst>
          </p:cNvPr>
          <p:cNvSpPr>
            <a:spLocks noGrp="1"/>
          </p:cNvSpPr>
          <p:nvPr>
            <p:ph type="title"/>
          </p:nvPr>
        </p:nvSpPr>
        <p:spPr/>
        <p:txBody>
          <a:bodyPr/>
          <a:lstStyle/>
          <a:p>
            <a:r>
              <a:rPr lang="en-GB" dirty="0"/>
              <a:t>Next week…</a:t>
            </a:r>
          </a:p>
        </p:txBody>
      </p:sp>
      <p:sp>
        <p:nvSpPr>
          <p:cNvPr id="3" name="Text Placeholder 2">
            <a:extLst>
              <a:ext uri="{FF2B5EF4-FFF2-40B4-BE49-F238E27FC236}">
                <a16:creationId xmlns:a16="http://schemas.microsoft.com/office/drawing/2014/main" id="{430CBFE9-1464-F5C3-DCA1-96BE1F0F8BC0}"/>
              </a:ext>
            </a:extLst>
          </p:cNvPr>
          <p:cNvSpPr>
            <a:spLocks noGrp="1"/>
          </p:cNvSpPr>
          <p:nvPr>
            <p:ph type="body" idx="1"/>
          </p:nvPr>
        </p:nvSpPr>
        <p:spPr/>
        <p:txBody>
          <a:bodyPr>
            <a:noAutofit/>
          </a:bodyPr>
          <a:lstStyle/>
          <a:p>
            <a:r>
              <a:rPr lang="en-GB" sz="2800" dirty="0"/>
              <a:t>LR - assumptions</a:t>
            </a:r>
          </a:p>
        </p:txBody>
      </p:sp>
      <p:sp>
        <p:nvSpPr>
          <p:cNvPr id="4" name="Slide Number Placeholder 3">
            <a:extLst>
              <a:ext uri="{FF2B5EF4-FFF2-40B4-BE49-F238E27FC236}">
                <a16:creationId xmlns:a16="http://schemas.microsoft.com/office/drawing/2014/main" id="{7CF97331-3A5B-E900-A15B-11ECBC22DD87}"/>
              </a:ext>
            </a:extLst>
          </p:cNvPr>
          <p:cNvSpPr>
            <a:spLocks noGrp="1"/>
          </p:cNvSpPr>
          <p:nvPr>
            <p:ph type="sldNum" sz="quarter" idx="12"/>
          </p:nvPr>
        </p:nvSpPr>
        <p:spPr/>
        <p:txBody>
          <a:bodyPr/>
          <a:lstStyle/>
          <a:p>
            <a:fld id="{F74D7E6C-9B20-4593-B18C-8D2C7BEEFCA2}" type="slidenum">
              <a:rPr lang="en-GB" smtClean="0"/>
              <a:t>47</a:t>
            </a:fld>
            <a:endParaRPr lang="en-GB"/>
          </a:p>
        </p:txBody>
      </p:sp>
    </p:spTree>
    <p:extLst>
      <p:ext uri="{BB962C8B-B14F-4D97-AF65-F5344CB8AC3E}">
        <p14:creationId xmlns:p14="http://schemas.microsoft.com/office/powerpoint/2010/main" val="2207059535"/>
      </p:ext>
    </p:extLst>
  </p:cSld>
  <p:clrMapOvr>
    <a:masterClrMapping/>
  </p:clrMapOvr>
</p:sld>
</file>

<file path=ppt/theme/theme1.xml><?xml version="1.0" encoding="utf-8"?>
<a:theme xmlns:a="http://schemas.openxmlformats.org/drawingml/2006/main" name="LT01-Orange_on_White">
  <a:themeElements>
    <a:clrScheme name="LT-01">
      <a:dk1>
        <a:sysClr val="windowText" lastClr="000000"/>
      </a:dk1>
      <a:lt1>
        <a:sysClr val="window" lastClr="FFFFFF"/>
      </a:lt1>
      <a:dk2>
        <a:srgbClr val="262626"/>
      </a:dk2>
      <a:lt2>
        <a:srgbClr val="F2F2F2"/>
      </a:lt2>
      <a:accent1>
        <a:srgbClr val="F9951E"/>
      </a:accent1>
      <a:accent2>
        <a:srgbClr val="E03A45"/>
      </a:accent2>
      <a:accent3>
        <a:srgbClr val="C43408"/>
      </a:accent3>
      <a:accent4>
        <a:srgbClr val="EDEDED"/>
      </a:accent4>
      <a:accent5>
        <a:srgbClr val="F6F6F6"/>
      </a:accent5>
      <a:accent6>
        <a:srgbClr val="5587C6"/>
      </a:accent6>
      <a:hlink>
        <a:srgbClr val="A3C730"/>
      </a:hlink>
      <a:folHlink>
        <a:srgbClr val="19803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T01-Orange_on_White" id="{739AC39E-3B25-4EE4-AD61-CF0BB1C8AB26}" vid="{2BE66A92-CAA1-49A5-8869-0048AA60F4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7CDBDE7CAED942A2F703AEE831EDC5" ma:contentTypeVersion="7" ma:contentTypeDescription="Create a new document." ma:contentTypeScope="" ma:versionID="0e12d04cba7bb251e69f82b9ebdf8274">
  <xsd:schema xmlns:xsd="http://www.w3.org/2001/XMLSchema" xmlns:xs="http://www.w3.org/2001/XMLSchema" xmlns:p="http://schemas.microsoft.com/office/2006/metadata/properties" xmlns:ns2="1c3b38b4-e909-4311-a6ff-2b7e57d505da" targetNamespace="http://schemas.microsoft.com/office/2006/metadata/properties" ma:root="true" ma:fieldsID="2e189daeb25f9a78fa63fdb64c917f04" ns2:_="">
    <xsd:import namespace="1c3b38b4-e909-4311-a6ff-2b7e57d505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3b38b4-e909-4311-a6ff-2b7e57d505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BD071EE-B55E-4C6D-AE91-3EA184498B78}"/>
</file>

<file path=customXml/itemProps2.xml><?xml version="1.0" encoding="utf-8"?>
<ds:datastoreItem xmlns:ds="http://schemas.openxmlformats.org/officeDocument/2006/customXml" ds:itemID="{E4AECF29-0F03-49C2-99D2-111CBE3FB1ED}">
  <ds:schemaRefs>
    <ds:schemaRef ds:uri="http://schemas.microsoft.com/sharepoint/v3/contenttype/forms"/>
  </ds:schemaRefs>
</ds:datastoreItem>
</file>

<file path=customXml/itemProps3.xml><?xml version="1.0" encoding="utf-8"?>
<ds:datastoreItem xmlns:ds="http://schemas.openxmlformats.org/officeDocument/2006/customXml" ds:itemID="{6EF326AB-6216-4CA3-88FD-B7B6A4FCA6DE}">
  <ds:schemaRefs>
    <ds:schemaRef ds:uri="http://purl.org/dc/terms/"/>
    <ds:schemaRef ds:uri="http://purl.org/dc/dcmitype/"/>
    <ds:schemaRef ds:uri="9350d5f9-8fc6-4558-b239-55d3978af598"/>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LT01-Orange_on_White</Template>
  <TotalTime>122</TotalTime>
  <Words>3009</Words>
  <Application>Microsoft Office PowerPoint</Application>
  <PresentationFormat>Widescreen</PresentationFormat>
  <Paragraphs>367</Paragraphs>
  <Slides>47</Slides>
  <Notes>12</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Calibri</vt:lpstr>
      <vt:lpstr>Calibri Light</vt:lpstr>
      <vt:lpstr>Cambria Math</vt:lpstr>
      <vt:lpstr>Helvetica Neue</vt:lpstr>
      <vt:lpstr>LT01-Orange_on_White</vt:lpstr>
      <vt:lpstr>Recap</vt:lpstr>
      <vt:lpstr>What is a model?</vt:lpstr>
      <vt:lpstr>What is a model?</vt:lpstr>
      <vt:lpstr>Types of learning</vt:lpstr>
      <vt:lpstr>Types of problems</vt:lpstr>
      <vt:lpstr>Standard Deviation</vt:lpstr>
      <vt:lpstr>Covariance and Correlation</vt:lpstr>
      <vt:lpstr>Covariance and Correlation</vt:lpstr>
      <vt:lpstr>Covariance and Correlation</vt:lpstr>
      <vt:lpstr>Covariance and Correlation</vt:lpstr>
      <vt:lpstr>Session 03.01</vt:lpstr>
      <vt:lpstr>KSBs</vt:lpstr>
      <vt:lpstr>P17</vt:lpstr>
      <vt:lpstr>P19</vt:lpstr>
      <vt:lpstr>D09</vt:lpstr>
      <vt:lpstr>Today’s Objectives</vt:lpstr>
      <vt:lpstr>ML model design workflow</vt:lpstr>
      <vt:lpstr>ML model design workflow for supervised learning</vt:lpstr>
      <vt:lpstr>Introduction to Linear Regression</vt:lpstr>
      <vt:lpstr>Introduction to Linear Regression</vt:lpstr>
      <vt:lpstr>Introduction to Linear Regression</vt:lpstr>
      <vt:lpstr>Variables and constants</vt:lpstr>
      <vt:lpstr>Simple Linear Regression vs Multiple Linear Regression</vt:lpstr>
      <vt:lpstr>Simple vs Multiple LR</vt:lpstr>
      <vt:lpstr>Multiple LR</vt:lpstr>
      <vt:lpstr>Simple vs Multiple LR</vt:lpstr>
      <vt:lpstr>Train-test split</vt:lpstr>
      <vt:lpstr>Train-test split</vt:lpstr>
      <vt:lpstr>Train-test split</vt:lpstr>
      <vt:lpstr>Model creation</vt:lpstr>
      <vt:lpstr>Model creation</vt:lpstr>
      <vt:lpstr>Model creation</vt:lpstr>
      <vt:lpstr>Model evaluation</vt:lpstr>
      <vt:lpstr>Model evaluation</vt:lpstr>
      <vt:lpstr>R squared</vt:lpstr>
      <vt:lpstr>Negative R squared</vt:lpstr>
      <vt:lpstr>Model evaluation</vt:lpstr>
      <vt:lpstr>Model evaluation</vt:lpstr>
      <vt:lpstr>Model evaluation</vt:lpstr>
      <vt:lpstr>Underfitting vs overfitting</vt:lpstr>
      <vt:lpstr>Model validation</vt:lpstr>
      <vt:lpstr>Model validation</vt:lpstr>
      <vt:lpstr>Model validation</vt:lpstr>
      <vt:lpstr>Recap and OTJ activities</vt:lpstr>
      <vt:lpstr>Recap of today’s objectives</vt:lpstr>
      <vt:lpstr>OTJ Activities</vt:lpstr>
      <vt:lpstr>Next week…</vt:lpstr>
    </vt:vector>
  </TitlesOfParts>
  <Company>The ATP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 Yates</dc:creator>
  <cp:lastModifiedBy>Georgina Thomas</cp:lastModifiedBy>
  <cp:revision>43</cp:revision>
  <dcterms:created xsi:type="dcterms:W3CDTF">2023-01-10T20:06:08Z</dcterms:created>
  <dcterms:modified xsi:type="dcterms:W3CDTF">2026-01-15T12:23:26Z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0x010100707CDBDE7CAED942A2F703AEE831EDC5</vt:lpwstr>
  </property>
</Properties>
</file>